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5"/>
    <p:sldMasterId id="214748367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y="10287000" cx="18288000"/>
  <p:notesSz cx="6858000" cy="9144000"/>
  <p:embeddedFontLst>
    <p:embeddedFont>
      <p:font typeface="Lato"/>
      <p:regular r:id="rId27"/>
      <p:bold r:id="rId28"/>
      <p:italic r:id="rId29"/>
      <p:boldItalic r:id="rId30"/>
    </p:embeddedFont>
    <p:embeddedFont>
      <p:font typeface="Poppins"/>
      <p:regular r:id="rId31"/>
      <p:bold r:id="rId32"/>
      <p:italic r:id="rId33"/>
      <p:boldItalic r:id="rId34"/>
    </p:embeddedFont>
    <p:embeddedFont>
      <p:font typeface="Lato Black"/>
      <p:bold r:id="rId35"/>
      <p:boldItalic r:id="rId36"/>
    </p:embeddedFont>
    <p:embeddedFont>
      <p:font typeface="Poppins Medium"/>
      <p:regular r:id="rId37"/>
      <p:bold r:id="rId38"/>
      <p:italic r:id="rId39"/>
      <p:boldItalic r:id="rId40"/>
    </p:embeddedFont>
    <p:embeddedFont>
      <p:font typeface="Exo 2"/>
      <p:regular r:id="rId41"/>
      <p:bold r:id="rId42"/>
      <p:italic r:id="rId43"/>
      <p:boldItalic r:id="rId44"/>
    </p:embeddedFont>
    <p:embeddedFont>
      <p:font typeface="Poppins SemiBold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40">
          <p15:clr>
            <a:srgbClr val="747775"/>
          </p15:clr>
        </p15:guide>
        <p15:guide id="2" pos="576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140436C-0A80-415A-A230-E58032394CD3}">
  <a:tblStyle styleId="{E140436C-0A80-415A-A230-E58032394CD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F2615E1-BFC9-46CB-AD60-8D5C7FC21417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40" orient="horz"/>
        <p:guide pos="57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Medium-boldItalic.fntdata"/><Relationship Id="rId20" Type="http://schemas.openxmlformats.org/officeDocument/2006/relationships/slide" Target="slides/slide13.xml"/><Relationship Id="rId42" Type="http://schemas.openxmlformats.org/officeDocument/2006/relationships/font" Target="fonts/Exo2-bold.fntdata"/><Relationship Id="rId41" Type="http://schemas.openxmlformats.org/officeDocument/2006/relationships/font" Target="fonts/Exo2-regular.fntdata"/><Relationship Id="rId22" Type="http://schemas.openxmlformats.org/officeDocument/2006/relationships/slide" Target="slides/slide15.xml"/><Relationship Id="rId44" Type="http://schemas.openxmlformats.org/officeDocument/2006/relationships/font" Target="fonts/Exo2-boldItalic.fntdata"/><Relationship Id="rId21" Type="http://schemas.openxmlformats.org/officeDocument/2006/relationships/slide" Target="slides/slide14.xml"/><Relationship Id="rId43" Type="http://schemas.openxmlformats.org/officeDocument/2006/relationships/font" Target="fonts/Exo2-italic.fntdata"/><Relationship Id="rId24" Type="http://schemas.openxmlformats.org/officeDocument/2006/relationships/slide" Target="slides/slide17.xml"/><Relationship Id="rId46" Type="http://schemas.openxmlformats.org/officeDocument/2006/relationships/font" Target="fonts/PoppinsSemiBold-bold.fntdata"/><Relationship Id="rId23" Type="http://schemas.openxmlformats.org/officeDocument/2006/relationships/slide" Target="slides/slide16.xml"/><Relationship Id="rId45" Type="http://schemas.openxmlformats.org/officeDocument/2006/relationships/font" Target="fonts/Poppins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48" Type="http://schemas.openxmlformats.org/officeDocument/2006/relationships/font" Target="fonts/PoppinsSemiBold-boldItalic.fntdata"/><Relationship Id="rId25" Type="http://schemas.openxmlformats.org/officeDocument/2006/relationships/slide" Target="slides/slide18.xml"/><Relationship Id="rId47" Type="http://schemas.openxmlformats.org/officeDocument/2006/relationships/font" Target="fonts/PoppinsSemiBold-italic.fntdata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Lato-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Poppins-regular.fntdata"/><Relationship Id="rId30" Type="http://schemas.openxmlformats.org/officeDocument/2006/relationships/font" Target="fonts/Lato-boldItalic.fntdata"/><Relationship Id="rId11" Type="http://schemas.openxmlformats.org/officeDocument/2006/relationships/slide" Target="slides/slide4.xml"/><Relationship Id="rId33" Type="http://schemas.openxmlformats.org/officeDocument/2006/relationships/font" Target="fonts/Poppins-italic.fntdata"/><Relationship Id="rId10" Type="http://schemas.openxmlformats.org/officeDocument/2006/relationships/slide" Target="slides/slide3.xml"/><Relationship Id="rId32" Type="http://schemas.openxmlformats.org/officeDocument/2006/relationships/font" Target="fonts/Poppins-bold.fntdata"/><Relationship Id="rId13" Type="http://schemas.openxmlformats.org/officeDocument/2006/relationships/slide" Target="slides/slide6.xml"/><Relationship Id="rId35" Type="http://schemas.openxmlformats.org/officeDocument/2006/relationships/font" Target="fonts/LatoBlack-bold.fntdata"/><Relationship Id="rId12" Type="http://schemas.openxmlformats.org/officeDocument/2006/relationships/slide" Target="slides/slide5.xml"/><Relationship Id="rId34" Type="http://schemas.openxmlformats.org/officeDocument/2006/relationships/font" Target="fonts/Poppins-boldItalic.fntdata"/><Relationship Id="rId15" Type="http://schemas.openxmlformats.org/officeDocument/2006/relationships/slide" Target="slides/slide8.xml"/><Relationship Id="rId37" Type="http://schemas.openxmlformats.org/officeDocument/2006/relationships/font" Target="fonts/PoppinsMedium-regular.fntdata"/><Relationship Id="rId14" Type="http://schemas.openxmlformats.org/officeDocument/2006/relationships/slide" Target="slides/slide7.xml"/><Relationship Id="rId36" Type="http://schemas.openxmlformats.org/officeDocument/2006/relationships/font" Target="fonts/LatoBlack-boldItalic.fntdata"/><Relationship Id="rId17" Type="http://schemas.openxmlformats.org/officeDocument/2006/relationships/slide" Target="slides/slide10.xml"/><Relationship Id="rId39" Type="http://schemas.openxmlformats.org/officeDocument/2006/relationships/font" Target="fonts/PoppinsMedium-italic.fntdata"/><Relationship Id="rId16" Type="http://schemas.openxmlformats.org/officeDocument/2006/relationships/slide" Target="slides/slide9.xml"/><Relationship Id="rId38" Type="http://schemas.openxmlformats.org/officeDocument/2006/relationships/font" Target="fonts/PoppinsMedium-bold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427afecf36_0_1415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427afecf36_0_1415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g3427afecf36_0_1415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427afecf36_0_14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427afecf36_0_1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hf3f7ef1bc4da1b8_4_354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hf3f7ef1bc4da1b8_4_354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8450" lIns="56900" spcFirstLastPara="1" rIns="56900" wrap="square" tIns="28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hf3f7ef1bc4da1b8_4_354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8450" lIns="56900" spcFirstLastPara="1" rIns="56900" wrap="square" tIns="284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hf3f7ef1bc4da1b8_4_4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hf3f7ef1bc4da1b8_4_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SLIDES_API997703796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SLIDES_API99770379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Mensagem: a velocidade de vendas no início do ciclo define o caixa da Direcional, e o preço é a principal alavanca dessa velocidade. Hoje essa alavanca é calibrada pela experiência regional, sem medir o efeito de cada decisão.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Pontos a confirmar com o cliente: duração média do ciclo (cerca de 5 anos, citado pelo Marcos) e a hipótese de margem decrescente ao longo do ciclo (não expor percentuais; o exemplo citado pelo cliente fica só na conversa).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[Sources] Reunião de alinhamento Direcional × A3Data, 21/10/2026 (ata Gemini e transcrição).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hf3f7ef1bc4da1b8_6_4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hf3f7ef1bc4da1b8_6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Mensagem: a Direcional já fez o movimento certo ao centralizar os sistemas no Data Lake. O que faltou nas tentativas anteriores foi explorar e entender as bases antes de modelar, e é por aí que a proposta começa.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Pontos a confirmar: lista de sistemas já ingeridos no Data Lake; profundidade do histórico de preço por unidade; status dos modelos internos de inadimplência e distrato.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[Sources] Reunião de alinhamento Direcional × A3Data, 21/10/2026.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hf3f7ef1bc4da1b8_6_8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hf3f7ef1bc4da1b8_6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/>
              <a:t>Mensagem: as seis perguntas são as do material enviado pela Direcional. O Assessment diz se o dado responde cada uma; a POC prova o valor nas que o histórico sustenta; previsão de 12 meses e otimização completa vão para o roadmap.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/>
              <a:t>Temas levantados na reunião de 21/10 para explorar no Assessment: efeito da Selic e do crédito no MCMV versus médio e alto padrão (correlação x causalidade) e atribuição de vendas (localização, estande ou campanha).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/>
              <a:t>Pontos a confirmar: disponibilidade de dados de concorrência para a pergunta 03.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/>
              <a:t>[Sources] Apresentacao_POC_AWS_Precificacao_Direcional v02 (slide O que a POC precisa responder); reunião Direcional x A3Data, 21/10/2026.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hf3f7ef1bc4da1b8_6_9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hf3f7ef1bc4da1b8_6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Mensagem: são duas frentes independentes, cada uma com entregáveis e aceite próprios. Elas se conectam pelo time: o mesmo Engenheiro de Machine Learning começa no Assessment levantando dados e modelos e segue na POC, que começa na semana 3 já sabendo onde está o valor.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Pontos a confirmar: enquadramento de funding AWS para cada frente (alinhado pelo Fantini).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hf3f7ef1bc4da1b8_6_13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hf3f7ef1bc4da1b8_6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Mensagem: o Assessment entrega um diagnóstico franco, inclusive para dizer quando uma base não sustenta um modelo. Ele usa a lógica de Hero KPI e baseline para que a POC seja medida por valor de negócio, e não por acurácia isolada.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Pontos a confirmar: fontes que entram no inventário; quem da Direcional atesta o baseline; acesso de leitura ao Data Lake já na S1.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hf3f7ef1bc4da1b8_6_17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hf3f7ef1bc4da1b8_6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Mensagem: a POC olha para trás. Usa empreendimentos já lançados para medir o que o preço fez com a velocidade de vendas e simular o que teria acontecido com uma margem planejada. Isso responde à pergunta do Marcos sem depender de um lançamento real, que fica para 2027.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Pontos a confirmar: recorte (regional e empreendimentos já lançados com histórico suficiente); critério de valor acordado no fim do Assessment.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hf3f7ef1bc4da1b8_6_2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hf3f7ef1bc4da1b8_6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Mensagem: a A3Data já construiu um simulador de elasticidade que mostra como variações no próprio preço e no preço dos concorrentes afetam demanda e receita. A lógica se aplica à Direcional, com a complexidade extra de unidades heterogêneas.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Não citar cliente nem marcas. Mostrar o simulador ao vivo se houver ambiente de demonstração liberado.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hf3f7ef1bc4da1b8_6_24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hf3f7ef1bc4da1b8_6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Mensagem: nada de plataforma nova. A POC roda sobre o Data Lake AWS que a Direcional já está construindo, com serviços gerenciados e governança desde o início. O consumo dos resultados é feito pelo painel que a própria Direcional está entregando.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Pontos a confirmar: conta e região AWS; serviços já usados no Data Lake (Glue, Athena, Lake Formation); ferramenta do painel; se a POC roda em conta sandbox ou na conta do Data Lake.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s18n_slide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s18n_slide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8450" lIns="56900" spcFirstLastPara="1" rIns="56900" wrap="square" tIns="28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4" name="Google Shape;414;s18n_slide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8450" lIns="56900" spcFirstLastPara="1" rIns="56900" wrap="square" tIns="284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h2d63c985eba48a8c_0_0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5" name="Google Shape;455;h2d63c985eba48a8c_0_0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6" name="Google Shape;456;h2d63c985eba48a8c_0_0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hf3f7ef1bc4da1b8_6_44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2" name="Google Shape;502;hf3f7ef1bc4da1b8_6_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Mensagem: a última coluna é a mais importante para esta reunião. Ela lista o que a Direcional precisa garantir para as 8 semanas acontecerem no prazo. Há um único aprovador por etapa.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Pontos a confirmar: quem representa a superintendência; se o aprovador do Assessment é o Marcos ou a superintendência.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h2d63c985eba48a8c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2" name="Google Shape;512;h2d63c985eba48a8c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/>
              <a:t>Mensagem: as premissas protegem o prazo de 8 semanas e o valor da POC. As mais críticas são o acesso aos dados na S1, a disponibilidade do negócio em cocriação e o entendimento de que a qualidade e o histórico das bases são da Direcional.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/>
              <a:t>Se o Assessment mostrar que uma pergunta não é respondida pelo histórico, ela sai da POC em comum acordo. Atrasos de acesso, dados ou validação deslocam o cronograma na mesma proporção.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/>
              <a:t>Pontos a confirmar: conta AWS onde a POC roda; quem representa a superintendência; disponibilidade semanal do negócio.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h689d08333ca18320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1" name="Google Shape;521;h689d08333ca18320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Mensagem: deixar claro o que não entra evita a armadilha das POCs anteriores, de prometer muito e entregar pouco. Quase tudo aqui já está no roadmap, na ordem certa.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Pontos a confirmar: se a Direcional espera alguma visualização além das tabelas publicadas para o painel.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h689d08333ca18320_0_14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1" name="Google Shape;531;h689d08333ca18320_0_14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2" name="Google Shape;532;h689d08333ca18320_0_14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h689d08333ca18320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2" name="Google Shape;562;h689d08333ca18320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6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58" name="Google Shape;58;p16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59" name="Google Shape;59;p1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62" name="Google Shape;62;p1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8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65" name="Google Shape;65;p18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9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69" name="Google Shape;69;p19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70" name="Google Shape;70;p19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71" name="Google Shape;71;p1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1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7" name="Google Shape;77;p21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78" name="Google Shape;78;p2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2"/>
          <p:cNvSpPr txBox="1"/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81" name="Google Shape;81;p2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3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3"/>
          <p:cNvSpPr txBox="1"/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85" name="Google Shape;85;p23"/>
          <p:cNvSpPr txBox="1"/>
          <p:nvPr>
            <p:ph idx="1" type="subTitle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6" name="Google Shape;86;p23"/>
          <p:cNvSpPr txBox="1"/>
          <p:nvPr>
            <p:ph idx="2" type="body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87" name="Google Shape;87;p2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4"/>
          <p:cNvSpPr txBox="1"/>
          <p:nvPr>
            <p:ph idx="1" type="body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/>
        </p:txBody>
      </p:sp>
      <p:sp>
        <p:nvSpPr>
          <p:cNvPr id="90" name="Google Shape;90;p2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5"/>
          <p:cNvSpPr txBox="1"/>
          <p:nvPr>
            <p:ph hasCustomPrompt="1" type="title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93" name="Google Shape;93;p25"/>
          <p:cNvSpPr txBox="1"/>
          <p:nvPr>
            <p:ph idx="1" type="body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94" name="Google Shape;94;p2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●"/>
              <a:defRPr sz="3600">
                <a:solidFill>
                  <a:schemeClr val="dk2"/>
                </a:solidFill>
              </a:defRPr>
            </a:lvl1pPr>
            <a:lvl2pPr indent="-406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2pPr>
            <a:lvl3pPr indent="-406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3pPr>
            <a:lvl4pPr indent="-406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4pPr>
            <a:lvl5pPr indent="-406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5pPr>
            <a:lvl6pPr indent="-406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6pPr>
            <a:lvl7pPr indent="-406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7pPr>
            <a:lvl8pPr indent="-406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8pPr>
            <a:lvl9pPr indent="-406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r">
              <a:buNone/>
              <a:defRPr sz="2000">
                <a:solidFill>
                  <a:schemeClr val="dk2"/>
                </a:solidFill>
              </a:defRPr>
            </a:lvl1pPr>
            <a:lvl2pPr lvl="1" algn="r">
              <a:buNone/>
              <a:defRPr sz="2000">
                <a:solidFill>
                  <a:schemeClr val="dk2"/>
                </a:solidFill>
              </a:defRPr>
            </a:lvl2pPr>
            <a:lvl3pPr lvl="2" algn="r">
              <a:buNone/>
              <a:defRPr sz="2000">
                <a:solidFill>
                  <a:schemeClr val="dk2"/>
                </a:solidFill>
              </a:defRPr>
            </a:lvl3pPr>
            <a:lvl4pPr lvl="3" algn="r">
              <a:buNone/>
              <a:defRPr sz="2000">
                <a:solidFill>
                  <a:schemeClr val="dk2"/>
                </a:solidFill>
              </a:defRPr>
            </a:lvl4pPr>
            <a:lvl5pPr lvl="4" algn="r">
              <a:buNone/>
              <a:defRPr sz="2000">
                <a:solidFill>
                  <a:schemeClr val="dk2"/>
                </a:solidFill>
              </a:defRPr>
            </a:lvl5pPr>
            <a:lvl6pPr lvl="5" algn="r">
              <a:buNone/>
              <a:defRPr sz="2000">
                <a:solidFill>
                  <a:schemeClr val="dk2"/>
                </a:solidFill>
              </a:defRPr>
            </a:lvl6pPr>
            <a:lvl7pPr lvl="6" algn="r">
              <a:buNone/>
              <a:defRPr sz="2000">
                <a:solidFill>
                  <a:schemeClr val="dk2"/>
                </a:solidFill>
              </a:defRPr>
            </a:lvl7pPr>
            <a:lvl8pPr lvl="7" algn="r">
              <a:buNone/>
              <a:defRPr sz="2000">
                <a:solidFill>
                  <a:schemeClr val="dk2"/>
                </a:solidFill>
              </a:defRPr>
            </a:lvl8pPr>
            <a:lvl9pPr lvl="8" algn="r">
              <a:buNone/>
              <a:defRPr sz="2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4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●"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064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064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064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064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064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064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064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Relationship Id="rId4" Type="http://schemas.openxmlformats.org/officeDocument/2006/relationships/image" Target="../media/image30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20.png"/><Relationship Id="rId8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jpg"/><Relationship Id="rId4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3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1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9" Type="http://schemas.openxmlformats.org/officeDocument/2006/relationships/image" Target="../media/image28.jpg"/><Relationship Id="rId5" Type="http://schemas.openxmlformats.org/officeDocument/2006/relationships/image" Target="../media/image20.png"/><Relationship Id="rId6" Type="http://schemas.openxmlformats.org/officeDocument/2006/relationships/image" Target="../media/image29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7"/>
          <p:cNvPicPr preferRelativeResize="0"/>
          <p:nvPr/>
        </p:nvPicPr>
        <p:blipFill rotWithShape="1">
          <a:blip r:embed="rId3">
            <a:alphaModFix/>
          </a:blip>
          <a:srcRect b="23398" l="0" r="27557" t="20639"/>
          <a:stretch/>
        </p:blipFill>
        <p:spPr>
          <a:xfrm>
            <a:off x="-4100" y="0"/>
            <a:ext cx="18288005" cy="7920000"/>
          </a:xfrm>
          <a:prstGeom prst="rect">
            <a:avLst/>
          </a:prstGeom>
          <a:solidFill>
            <a:srgbClr val="7ED98B"/>
          </a:solidFill>
          <a:ln>
            <a:noFill/>
          </a:ln>
        </p:spPr>
      </p:pic>
      <p:pic>
        <p:nvPicPr>
          <p:cNvPr descr="preencoded.png" id="103" name="Google Shape;103;p27"/>
          <p:cNvPicPr preferRelativeResize="0"/>
          <p:nvPr/>
        </p:nvPicPr>
        <p:blipFill rotWithShape="1">
          <a:blip r:embed="rId4">
            <a:alphaModFix/>
          </a:blip>
          <a:srcRect b="17954" l="0" r="0" t="5058"/>
          <a:stretch/>
        </p:blipFill>
        <p:spPr>
          <a:xfrm>
            <a:off x="0" y="-375"/>
            <a:ext cx="12110399" cy="79200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" name="Google Shape;104;p27"/>
          <p:cNvGrpSpPr/>
          <p:nvPr/>
        </p:nvGrpSpPr>
        <p:grpSpPr>
          <a:xfrm>
            <a:off x="1440271" y="8750385"/>
            <a:ext cx="1535590" cy="287997"/>
            <a:chOff x="2716728" y="4386757"/>
            <a:chExt cx="2400109" cy="450558"/>
          </a:xfrm>
        </p:grpSpPr>
        <p:sp>
          <p:nvSpPr>
            <p:cNvPr id="105" name="Google Shape;105;p27"/>
            <p:cNvSpPr/>
            <p:nvPr/>
          </p:nvSpPr>
          <p:spPr>
            <a:xfrm>
              <a:off x="4494569" y="4561350"/>
              <a:ext cx="232791" cy="268795"/>
            </a:xfrm>
            <a:custGeom>
              <a:rect b="b" l="l" r="r" t="t"/>
              <a:pathLst>
                <a:path extrusionOk="0" h="268795" w="232791">
                  <a:moveTo>
                    <a:pt x="232791" y="268796"/>
                  </a:moveTo>
                  <a:lnTo>
                    <a:pt x="77629" y="268796"/>
                  </a:lnTo>
                  <a:lnTo>
                    <a:pt x="0" y="134398"/>
                  </a:lnTo>
                  <a:lnTo>
                    <a:pt x="77629" y="0"/>
                  </a:lnTo>
                  <a:lnTo>
                    <a:pt x="232791" y="268796"/>
                  </a:lnTo>
                  <a:close/>
                </a:path>
              </a:pathLst>
            </a:custGeom>
            <a:solidFill>
              <a:srgbClr val="001863"/>
            </a:solidFill>
            <a:ln>
              <a:noFill/>
            </a:ln>
          </p:spPr>
          <p:txBody>
            <a:bodyPr anchorCtr="0" anchor="ctr" bIns="45700" lIns="91450" spcFirstLastPara="1" rIns="91450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7"/>
            <p:cNvSpPr/>
            <p:nvPr/>
          </p:nvSpPr>
          <p:spPr>
            <a:xfrm>
              <a:off x="4690022" y="4561826"/>
              <a:ext cx="232791" cy="268795"/>
            </a:xfrm>
            <a:custGeom>
              <a:rect b="b" l="l" r="r" t="t"/>
              <a:pathLst>
                <a:path extrusionOk="0" h="268795" w="232791">
                  <a:moveTo>
                    <a:pt x="232791" y="268796"/>
                  </a:moveTo>
                  <a:lnTo>
                    <a:pt x="77629" y="268796"/>
                  </a:lnTo>
                  <a:lnTo>
                    <a:pt x="0" y="134398"/>
                  </a:lnTo>
                  <a:lnTo>
                    <a:pt x="77629" y="0"/>
                  </a:lnTo>
                  <a:lnTo>
                    <a:pt x="232791" y="268796"/>
                  </a:lnTo>
                  <a:close/>
                </a:path>
              </a:pathLst>
            </a:custGeom>
            <a:solidFill>
              <a:srgbClr val="0033FF"/>
            </a:solidFill>
            <a:ln>
              <a:noFill/>
            </a:ln>
          </p:spPr>
          <p:txBody>
            <a:bodyPr anchorCtr="0" anchor="ctr" bIns="45700" lIns="91450" spcFirstLastPara="1" rIns="91450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7"/>
            <p:cNvSpPr/>
            <p:nvPr/>
          </p:nvSpPr>
          <p:spPr>
            <a:xfrm>
              <a:off x="4884046" y="4561826"/>
              <a:ext cx="232791" cy="268795"/>
            </a:xfrm>
            <a:custGeom>
              <a:rect b="b" l="l" r="r" t="t"/>
              <a:pathLst>
                <a:path extrusionOk="0" h="268795" w="232791">
                  <a:moveTo>
                    <a:pt x="232791" y="268796"/>
                  </a:moveTo>
                  <a:lnTo>
                    <a:pt x="77533" y="268796"/>
                  </a:lnTo>
                  <a:lnTo>
                    <a:pt x="0" y="134398"/>
                  </a:lnTo>
                  <a:lnTo>
                    <a:pt x="77533" y="0"/>
                  </a:lnTo>
                  <a:lnTo>
                    <a:pt x="232791" y="268796"/>
                  </a:lnTo>
                  <a:close/>
                </a:path>
              </a:pathLst>
            </a:custGeom>
            <a:solidFill>
              <a:srgbClr val="EC2890"/>
            </a:solidFill>
            <a:ln>
              <a:noFill/>
            </a:ln>
          </p:spPr>
          <p:txBody>
            <a:bodyPr anchorCtr="0" anchor="ctr" bIns="45700" lIns="91450" spcFirstLastPara="1" rIns="91450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7"/>
            <p:cNvSpPr/>
            <p:nvPr/>
          </p:nvSpPr>
          <p:spPr>
            <a:xfrm>
              <a:off x="3298038" y="4392567"/>
              <a:ext cx="324135" cy="437959"/>
            </a:xfrm>
            <a:custGeom>
              <a:rect b="b" l="l" r="r" t="t"/>
              <a:pathLst>
                <a:path extrusionOk="0" h="437959" w="324135">
                  <a:moveTo>
                    <a:pt x="263747" y="63151"/>
                  </a:moveTo>
                  <a:cubicBezTo>
                    <a:pt x="223552" y="21050"/>
                    <a:pt x="173355" y="0"/>
                    <a:pt x="113348" y="0"/>
                  </a:cubicBezTo>
                  <a:lnTo>
                    <a:pt x="51721" y="0"/>
                  </a:lnTo>
                  <a:cubicBezTo>
                    <a:pt x="51721" y="0"/>
                    <a:pt x="51149" y="286"/>
                    <a:pt x="51149" y="572"/>
                  </a:cubicBezTo>
                  <a:lnTo>
                    <a:pt x="51149" y="81344"/>
                  </a:lnTo>
                  <a:cubicBezTo>
                    <a:pt x="51149" y="82105"/>
                    <a:pt x="51721" y="82677"/>
                    <a:pt x="52483" y="82677"/>
                  </a:cubicBezTo>
                  <a:lnTo>
                    <a:pt x="113443" y="82677"/>
                  </a:lnTo>
                  <a:cubicBezTo>
                    <a:pt x="151352" y="82677"/>
                    <a:pt x="182213" y="95250"/>
                    <a:pt x="206026" y="120491"/>
                  </a:cubicBezTo>
                  <a:cubicBezTo>
                    <a:pt x="229743" y="145733"/>
                    <a:pt x="241649" y="178594"/>
                    <a:pt x="241649" y="218980"/>
                  </a:cubicBezTo>
                  <a:cubicBezTo>
                    <a:pt x="241649" y="259366"/>
                    <a:pt x="229743" y="292322"/>
                    <a:pt x="206026" y="317468"/>
                  </a:cubicBezTo>
                  <a:cubicBezTo>
                    <a:pt x="182309" y="342710"/>
                    <a:pt x="151352" y="355283"/>
                    <a:pt x="113443" y="355283"/>
                  </a:cubicBezTo>
                  <a:lnTo>
                    <a:pt x="56198" y="355283"/>
                  </a:lnTo>
                  <a:cubicBezTo>
                    <a:pt x="34576" y="422910"/>
                    <a:pt x="0" y="437960"/>
                    <a:pt x="0" y="437960"/>
                  </a:cubicBezTo>
                  <a:lnTo>
                    <a:pt x="113348" y="437960"/>
                  </a:lnTo>
                  <a:cubicBezTo>
                    <a:pt x="173355" y="437960"/>
                    <a:pt x="223552" y="416909"/>
                    <a:pt x="263747" y="374714"/>
                  </a:cubicBezTo>
                  <a:cubicBezTo>
                    <a:pt x="303943" y="332613"/>
                    <a:pt x="324136" y="280702"/>
                    <a:pt x="324136" y="218980"/>
                  </a:cubicBezTo>
                  <a:cubicBezTo>
                    <a:pt x="324136" y="157258"/>
                    <a:pt x="303943" y="105347"/>
                    <a:pt x="263747" y="631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50" spcFirstLastPara="1" rIns="91450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7"/>
            <p:cNvSpPr/>
            <p:nvPr/>
          </p:nvSpPr>
          <p:spPr>
            <a:xfrm>
              <a:off x="3635604" y="4488484"/>
              <a:ext cx="284416" cy="348519"/>
            </a:xfrm>
            <a:custGeom>
              <a:rect b="b" l="l" r="r" t="t"/>
              <a:pathLst>
                <a:path extrusionOk="0" h="348519" w="284416">
                  <a:moveTo>
                    <a:pt x="278416" y="118015"/>
                  </a:moveTo>
                  <a:cubicBezTo>
                    <a:pt x="278416" y="38576"/>
                    <a:pt x="236887" y="0"/>
                    <a:pt x="151543" y="0"/>
                  </a:cubicBezTo>
                  <a:cubicBezTo>
                    <a:pt x="87154" y="0"/>
                    <a:pt x="42481" y="22384"/>
                    <a:pt x="14954" y="68485"/>
                  </a:cubicBezTo>
                  <a:lnTo>
                    <a:pt x="13430" y="71152"/>
                  </a:lnTo>
                  <a:lnTo>
                    <a:pt x="73628" y="108490"/>
                  </a:lnTo>
                  <a:lnTo>
                    <a:pt x="75248" y="105823"/>
                  </a:lnTo>
                  <a:cubicBezTo>
                    <a:pt x="93536" y="76771"/>
                    <a:pt x="114871" y="64294"/>
                    <a:pt x="146494" y="64294"/>
                  </a:cubicBezTo>
                  <a:cubicBezTo>
                    <a:pt x="166497" y="64294"/>
                    <a:pt x="179546" y="68390"/>
                    <a:pt x="187547" y="77057"/>
                  </a:cubicBezTo>
                  <a:cubicBezTo>
                    <a:pt x="195739" y="85916"/>
                    <a:pt x="198787" y="100013"/>
                    <a:pt x="197263" y="121063"/>
                  </a:cubicBezTo>
                  <a:cubicBezTo>
                    <a:pt x="144018" y="131350"/>
                    <a:pt x="90297" y="143542"/>
                    <a:pt x="55912" y="162687"/>
                  </a:cubicBezTo>
                  <a:cubicBezTo>
                    <a:pt x="17812" y="184118"/>
                    <a:pt x="0" y="213836"/>
                    <a:pt x="0" y="256318"/>
                  </a:cubicBezTo>
                  <a:cubicBezTo>
                    <a:pt x="0" y="313182"/>
                    <a:pt x="35338" y="348520"/>
                    <a:pt x="92202" y="348520"/>
                  </a:cubicBezTo>
                  <a:cubicBezTo>
                    <a:pt x="129159" y="348520"/>
                    <a:pt x="164687" y="334994"/>
                    <a:pt x="197929" y="308324"/>
                  </a:cubicBezTo>
                  <a:lnTo>
                    <a:pt x="203168" y="342233"/>
                  </a:lnTo>
                  <a:lnTo>
                    <a:pt x="284417" y="342233"/>
                  </a:lnTo>
                  <a:lnTo>
                    <a:pt x="278416" y="279749"/>
                  </a:lnTo>
                  <a:lnTo>
                    <a:pt x="278416" y="118015"/>
                  </a:lnTo>
                  <a:close/>
                  <a:moveTo>
                    <a:pt x="194500" y="176117"/>
                  </a:moveTo>
                  <a:lnTo>
                    <a:pt x="194500" y="250031"/>
                  </a:lnTo>
                  <a:cubicBezTo>
                    <a:pt x="175546" y="270986"/>
                    <a:pt x="148685" y="283464"/>
                    <a:pt x="122492" y="283464"/>
                  </a:cubicBezTo>
                  <a:cubicBezTo>
                    <a:pt x="98774" y="283464"/>
                    <a:pt x="84582" y="269272"/>
                    <a:pt x="84582" y="245554"/>
                  </a:cubicBezTo>
                  <a:cubicBezTo>
                    <a:pt x="84582" y="225838"/>
                    <a:pt x="92583" y="210884"/>
                    <a:pt x="107632" y="202216"/>
                  </a:cubicBezTo>
                  <a:cubicBezTo>
                    <a:pt x="127540" y="191357"/>
                    <a:pt x="151829" y="184976"/>
                    <a:pt x="194596" y="1761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50" spcFirstLastPara="1" rIns="91450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7"/>
            <p:cNvSpPr/>
            <p:nvPr/>
          </p:nvSpPr>
          <p:spPr>
            <a:xfrm>
              <a:off x="3937261" y="4386757"/>
              <a:ext cx="198882" cy="448913"/>
            </a:xfrm>
            <a:custGeom>
              <a:rect b="b" l="l" r="r" t="t"/>
              <a:pathLst>
                <a:path extrusionOk="0" h="448913" w="198882">
                  <a:moveTo>
                    <a:pt x="131254" y="0"/>
                  </a:moveTo>
                  <a:lnTo>
                    <a:pt x="48006" y="0"/>
                  </a:lnTo>
                  <a:lnTo>
                    <a:pt x="48006" y="109252"/>
                  </a:lnTo>
                  <a:lnTo>
                    <a:pt x="0" y="109252"/>
                  </a:lnTo>
                  <a:lnTo>
                    <a:pt x="0" y="174879"/>
                  </a:lnTo>
                  <a:lnTo>
                    <a:pt x="48006" y="174879"/>
                  </a:lnTo>
                  <a:lnTo>
                    <a:pt x="48006" y="349853"/>
                  </a:lnTo>
                  <a:cubicBezTo>
                    <a:pt x="48006" y="423005"/>
                    <a:pt x="71438" y="448913"/>
                    <a:pt x="137636" y="448913"/>
                  </a:cubicBezTo>
                  <a:cubicBezTo>
                    <a:pt x="160115" y="448913"/>
                    <a:pt x="179832" y="446056"/>
                    <a:pt x="196310" y="443198"/>
                  </a:cubicBezTo>
                  <a:lnTo>
                    <a:pt x="198882" y="442722"/>
                  </a:lnTo>
                  <a:lnTo>
                    <a:pt x="198882" y="373571"/>
                  </a:lnTo>
                  <a:lnTo>
                    <a:pt x="194977" y="374523"/>
                  </a:lnTo>
                  <a:cubicBezTo>
                    <a:pt x="183166" y="377476"/>
                    <a:pt x="172117" y="378809"/>
                    <a:pt x="160401" y="378809"/>
                  </a:cubicBezTo>
                  <a:cubicBezTo>
                    <a:pt x="139446" y="378809"/>
                    <a:pt x="131350" y="369094"/>
                    <a:pt x="131350" y="344043"/>
                  </a:cubicBezTo>
                  <a:lnTo>
                    <a:pt x="131350" y="174879"/>
                  </a:lnTo>
                  <a:lnTo>
                    <a:pt x="198882" y="174879"/>
                  </a:lnTo>
                  <a:lnTo>
                    <a:pt x="198882" y="109252"/>
                  </a:lnTo>
                  <a:lnTo>
                    <a:pt x="131350" y="109252"/>
                  </a:lnTo>
                  <a:lnTo>
                    <a:pt x="1313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50" spcFirstLastPara="1" rIns="91450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7"/>
            <p:cNvSpPr/>
            <p:nvPr/>
          </p:nvSpPr>
          <p:spPr>
            <a:xfrm>
              <a:off x="4165670" y="4488484"/>
              <a:ext cx="284416" cy="348519"/>
            </a:xfrm>
            <a:custGeom>
              <a:rect b="b" l="l" r="r" t="t"/>
              <a:pathLst>
                <a:path extrusionOk="0" h="348519" w="284416">
                  <a:moveTo>
                    <a:pt x="278416" y="279654"/>
                  </a:moveTo>
                  <a:lnTo>
                    <a:pt x="278416" y="118015"/>
                  </a:lnTo>
                  <a:cubicBezTo>
                    <a:pt x="278416" y="38576"/>
                    <a:pt x="236887" y="0"/>
                    <a:pt x="151543" y="0"/>
                  </a:cubicBezTo>
                  <a:cubicBezTo>
                    <a:pt x="87154" y="0"/>
                    <a:pt x="42482" y="22384"/>
                    <a:pt x="14954" y="68485"/>
                  </a:cubicBezTo>
                  <a:lnTo>
                    <a:pt x="13430" y="71152"/>
                  </a:lnTo>
                  <a:lnTo>
                    <a:pt x="73628" y="108490"/>
                  </a:lnTo>
                  <a:lnTo>
                    <a:pt x="75248" y="105823"/>
                  </a:lnTo>
                  <a:cubicBezTo>
                    <a:pt x="93536" y="76771"/>
                    <a:pt x="114871" y="64294"/>
                    <a:pt x="146495" y="64294"/>
                  </a:cubicBezTo>
                  <a:cubicBezTo>
                    <a:pt x="166497" y="64294"/>
                    <a:pt x="179546" y="68390"/>
                    <a:pt x="187547" y="77057"/>
                  </a:cubicBezTo>
                  <a:cubicBezTo>
                    <a:pt x="195739" y="85916"/>
                    <a:pt x="198787" y="100013"/>
                    <a:pt x="197263" y="121063"/>
                  </a:cubicBezTo>
                  <a:cubicBezTo>
                    <a:pt x="144018" y="131350"/>
                    <a:pt x="90297" y="143542"/>
                    <a:pt x="55912" y="162687"/>
                  </a:cubicBezTo>
                  <a:cubicBezTo>
                    <a:pt x="17812" y="184118"/>
                    <a:pt x="0" y="213836"/>
                    <a:pt x="0" y="256318"/>
                  </a:cubicBezTo>
                  <a:cubicBezTo>
                    <a:pt x="0" y="313182"/>
                    <a:pt x="35338" y="348520"/>
                    <a:pt x="92202" y="348520"/>
                  </a:cubicBezTo>
                  <a:cubicBezTo>
                    <a:pt x="129159" y="348520"/>
                    <a:pt x="164687" y="334994"/>
                    <a:pt x="197929" y="308324"/>
                  </a:cubicBezTo>
                  <a:lnTo>
                    <a:pt x="203168" y="342233"/>
                  </a:lnTo>
                  <a:lnTo>
                    <a:pt x="284417" y="342233"/>
                  </a:lnTo>
                  <a:lnTo>
                    <a:pt x="278416" y="279749"/>
                  </a:lnTo>
                  <a:close/>
                  <a:moveTo>
                    <a:pt x="194500" y="176117"/>
                  </a:moveTo>
                  <a:lnTo>
                    <a:pt x="194500" y="250031"/>
                  </a:lnTo>
                  <a:cubicBezTo>
                    <a:pt x="175546" y="270986"/>
                    <a:pt x="148685" y="283464"/>
                    <a:pt x="122492" y="283464"/>
                  </a:cubicBezTo>
                  <a:cubicBezTo>
                    <a:pt x="98774" y="283464"/>
                    <a:pt x="84582" y="269272"/>
                    <a:pt x="84582" y="245554"/>
                  </a:cubicBezTo>
                  <a:cubicBezTo>
                    <a:pt x="84582" y="225838"/>
                    <a:pt x="92583" y="210884"/>
                    <a:pt x="107633" y="202216"/>
                  </a:cubicBezTo>
                  <a:cubicBezTo>
                    <a:pt x="127540" y="191357"/>
                    <a:pt x="151829" y="184976"/>
                    <a:pt x="194596" y="1761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50" spcFirstLastPara="1" rIns="91450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2" name="Google Shape;112;p27"/>
            <p:cNvGrpSpPr/>
            <p:nvPr/>
          </p:nvGrpSpPr>
          <p:grpSpPr>
            <a:xfrm>
              <a:off x="2716728" y="4391709"/>
              <a:ext cx="602932" cy="445606"/>
              <a:chOff x="2716728" y="4391709"/>
              <a:chExt cx="602932" cy="445606"/>
            </a:xfrm>
          </p:grpSpPr>
          <p:sp>
            <p:nvSpPr>
              <p:cNvPr id="113" name="Google Shape;113;p27"/>
              <p:cNvSpPr/>
              <p:nvPr/>
            </p:nvSpPr>
            <p:spPr>
              <a:xfrm>
                <a:off x="2716728" y="4391709"/>
                <a:ext cx="415480" cy="438816"/>
              </a:xfrm>
              <a:custGeom>
                <a:rect b="b" l="l" r="r" t="t"/>
                <a:pathLst>
                  <a:path extrusionOk="0" h="438816" w="415480">
                    <a:moveTo>
                      <a:pt x="415481" y="438817"/>
                    </a:moveTo>
                    <a:lnTo>
                      <a:pt x="254318" y="2286"/>
                    </a:lnTo>
                    <a:cubicBezTo>
                      <a:pt x="253841" y="953"/>
                      <a:pt x="252508" y="0"/>
                      <a:pt x="251079" y="0"/>
                    </a:cubicBezTo>
                    <a:lnTo>
                      <a:pt x="161735" y="0"/>
                    </a:lnTo>
                    <a:lnTo>
                      <a:pt x="161735" y="10001"/>
                    </a:lnTo>
                    <a:lnTo>
                      <a:pt x="0" y="438817"/>
                    </a:lnTo>
                    <a:lnTo>
                      <a:pt x="93440" y="438817"/>
                    </a:lnTo>
                    <a:lnTo>
                      <a:pt x="123158" y="348139"/>
                    </a:lnTo>
                    <a:lnTo>
                      <a:pt x="293561" y="348139"/>
                    </a:lnTo>
                    <a:lnTo>
                      <a:pt x="327850" y="438817"/>
                    </a:lnTo>
                    <a:lnTo>
                      <a:pt x="415481" y="438817"/>
                    </a:lnTo>
                    <a:close/>
                    <a:moveTo>
                      <a:pt x="271367" y="278892"/>
                    </a:moveTo>
                    <a:lnTo>
                      <a:pt x="145352" y="278892"/>
                    </a:lnTo>
                    <a:lnTo>
                      <a:pt x="204406" y="95726"/>
                    </a:lnTo>
                    <a:lnTo>
                      <a:pt x="204406" y="92393"/>
                    </a:lnTo>
                    <a:lnTo>
                      <a:pt x="211836" y="92393"/>
                    </a:lnTo>
                    <a:lnTo>
                      <a:pt x="211836" y="95726"/>
                    </a:lnTo>
                    <a:lnTo>
                      <a:pt x="271463" y="27898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50" spcFirstLastPara="1" rIns="91450" wrap="square" tIns="4570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" name="Google Shape;114;p27"/>
              <p:cNvSpPr/>
              <p:nvPr/>
            </p:nvSpPr>
            <p:spPr>
              <a:xfrm>
                <a:off x="3015327" y="4391805"/>
                <a:ext cx="304333" cy="445510"/>
              </a:xfrm>
              <a:custGeom>
                <a:rect b="b" l="l" r="r" t="t"/>
                <a:pathLst>
                  <a:path extrusionOk="0" h="445510" w="304333">
                    <a:moveTo>
                      <a:pt x="218227" y="174593"/>
                    </a:moveTo>
                    <a:lnTo>
                      <a:pt x="288331" y="84201"/>
                    </a:lnTo>
                    <a:cubicBezTo>
                      <a:pt x="288903" y="83534"/>
                      <a:pt x="289188" y="82582"/>
                      <a:pt x="289188" y="81725"/>
                    </a:cubicBezTo>
                    <a:lnTo>
                      <a:pt x="289188" y="762"/>
                    </a:lnTo>
                    <a:cubicBezTo>
                      <a:pt x="289188" y="762"/>
                      <a:pt x="288807" y="0"/>
                      <a:pt x="288426" y="0"/>
                    </a:cubicBezTo>
                    <a:lnTo>
                      <a:pt x="581" y="381"/>
                    </a:lnTo>
                    <a:cubicBezTo>
                      <a:pt x="581" y="381"/>
                      <a:pt x="-86" y="762"/>
                      <a:pt x="9" y="1238"/>
                    </a:cubicBezTo>
                    <a:lnTo>
                      <a:pt x="24870" y="70199"/>
                    </a:lnTo>
                    <a:lnTo>
                      <a:pt x="210607" y="70199"/>
                    </a:lnTo>
                    <a:lnTo>
                      <a:pt x="195081" y="81915"/>
                    </a:lnTo>
                    <a:lnTo>
                      <a:pt x="192986" y="84392"/>
                    </a:lnTo>
                    <a:lnTo>
                      <a:pt x="104022" y="200501"/>
                    </a:lnTo>
                    <a:cubicBezTo>
                      <a:pt x="103260" y="201454"/>
                      <a:pt x="103070" y="202692"/>
                      <a:pt x="103546" y="203835"/>
                    </a:cubicBezTo>
                    <a:lnTo>
                      <a:pt x="119643" y="248888"/>
                    </a:lnTo>
                    <a:cubicBezTo>
                      <a:pt x="120977" y="252603"/>
                      <a:pt x="124977" y="254222"/>
                      <a:pt x="128406" y="252222"/>
                    </a:cubicBezTo>
                    <a:cubicBezTo>
                      <a:pt x="140979" y="245174"/>
                      <a:pt x="156124" y="242126"/>
                      <a:pt x="172221" y="245269"/>
                    </a:cubicBezTo>
                    <a:cubicBezTo>
                      <a:pt x="197748" y="250222"/>
                      <a:pt x="217179" y="269272"/>
                      <a:pt x="222323" y="294799"/>
                    </a:cubicBezTo>
                    <a:cubicBezTo>
                      <a:pt x="230324" y="334518"/>
                      <a:pt x="201463" y="369475"/>
                      <a:pt x="163744" y="371856"/>
                    </a:cubicBezTo>
                    <a:cubicBezTo>
                      <a:pt x="162411" y="371856"/>
                      <a:pt x="161077" y="372047"/>
                      <a:pt x="159744" y="372047"/>
                    </a:cubicBezTo>
                    <a:cubicBezTo>
                      <a:pt x="148599" y="372047"/>
                      <a:pt x="138027" y="369189"/>
                      <a:pt x="128883" y="364141"/>
                    </a:cubicBezTo>
                    <a:cubicBezTo>
                      <a:pt x="128883" y="364141"/>
                      <a:pt x="158029" y="445294"/>
                      <a:pt x="158124" y="445389"/>
                    </a:cubicBezTo>
                    <a:cubicBezTo>
                      <a:pt x="168792" y="445865"/>
                      <a:pt x="179175" y="444913"/>
                      <a:pt x="189176" y="443008"/>
                    </a:cubicBezTo>
                    <a:cubicBezTo>
                      <a:pt x="254708" y="430816"/>
                      <a:pt x="304333" y="373475"/>
                      <a:pt x="304333" y="304419"/>
                    </a:cubicBezTo>
                    <a:cubicBezTo>
                      <a:pt x="304333" y="246126"/>
                      <a:pt x="268995" y="196120"/>
                      <a:pt x="218513" y="1745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50" spcFirstLastPara="1" rIns="91450" wrap="square" tIns="4570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15" name="Google Shape;115;p27"/>
          <p:cNvSpPr txBox="1"/>
          <p:nvPr/>
        </p:nvSpPr>
        <p:spPr>
          <a:xfrm>
            <a:off x="1441650" y="288025"/>
            <a:ext cx="2711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2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F5F5F5"/>
                </a:solidFill>
                <a:latin typeface="Lato"/>
                <a:ea typeface="Lato"/>
                <a:cs typeface="Lato"/>
                <a:sym typeface="Lato"/>
              </a:rPr>
              <a:t>PROPOSTA TÉCNICA E COMERCIAL ·</a:t>
            </a:r>
            <a:r>
              <a:rPr lang="pt-BR" sz="800">
                <a:solidFill>
                  <a:srgbClr val="F5F5F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pt-BR" sz="800">
                <a:solidFill>
                  <a:srgbClr val="F5F5F5"/>
                </a:solidFill>
                <a:latin typeface="Lato"/>
                <a:ea typeface="Lato"/>
                <a:cs typeface="Lato"/>
                <a:sym typeface="Lato"/>
              </a:rPr>
              <a:t>DIRECIONAL</a:t>
            </a:r>
            <a:r>
              <a:rPr lang="pt-BR" sz="800">
                <a:solidFill>
                  <a:srgbClr val="F5F5F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800">
              <a:solidFill>
                <a:srgbClr val="F5F5F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2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800">
              <a:solidFill>
                <a:srgbClr val="F5F5F5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preencoded.png" id="116" name="Google Shape;116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40475" y="8424000"/>
            <a:ext cx="683520" cy="115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580223" y="8424000"/>
            <a:ext cx="1152000" cy="115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160347" y="8424000"/>
            <a:ext cx="1152000" cy="115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7"/>
          <p:cNvSpPr txBox="1"/>
          <p:nvPr/>
        </p:nvSpPr>
        <p:spPr>
          <a:xfrm>
            <a:off x="1440000" y="2016000"/>
            <a:ext cx="10965000" cy="23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5B6FF"/>
              </a:buClr>
              <a:buSzPts val="6000"/>
              <a:buFont typeface="Lato Black"/>
              <a:buNone/>
            </a:pPr>
            <a:r>
              <a:rPr lang="pt-BR" sz="9600">
                <a:solidFill>
                  <a:srgbClr val="F4F4F4"/>
                </a:solidFill>
                <a:latin typeface="Lato Black"/>
                <a:ea typeface="Lato Black"/>
                <a:cs typeface="Lato Black"/>
                <a:sym typeface="Lato Black"/>
              </a:rPr>
              <a:t>Proposta</a:t>
            </a:r>
            <a:endParaRPr b="0" i="0" sz="9600" u="none" cap="none" strike="noStrike">
              <a:solidFill>
                <a:srgbClr val="F4F4F4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5B6FF"/>
              </a:buClr>
              <a:buSzPts val="6000"/>
              <a:buFont typeface="Lato Black"/>
              <a:buNone/>
            </a:pPr>
            <a:r>
              <a:rPr lang="pt-BR" sz="9600">
                <a:solidFill>
                  <a:srgbClr val="F4F4F4"/>
                </a:solidFill>
                <a:latin typeface="Lato Black"/>
                <a:ea typeface="Lato Black"/>
                <a:cs typeface="Lato Black"/>
                <a:sym typeface="Lato Black"/>
              </a:rPr>
              <a:t>Técnica </a:t>
            </a:r>
            <a:endParaRPr b="0" i="0" sz="9600" u="none" cap="none" strike="noStrike">
              <a:solidFill>
                <a:srgbClr val="F4F4F4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20" name="Google Shape;120;p27"/>
          <p:cNvSpPr txBox="1"/>
          <p:nvPr/>
        </p:nvSpPr>
        <p:spPr>
          <a:xfrm>
            <a:off x="1441647" y="9875975"/>
            <a:ext cx="1890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© </a:t>
            </a:r>
            <a:r>
              <a:rPr lang="pt-BR" sz="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2026</a:t>
            </a:r>
            <a:r>
              <a:rPr b="0" i="0" lang="pt-BR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· A3DATA CONSULTORIA S/A.</a:t>
            </a:r>
            <a:endParaRPr b="0" i="0" sz="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" name="Google Shape;121;p27"/>
          <p:cNvSpPr txBox="1"/>
          <p:nvPr/>
        </p:nvSpPr>
        <p:spPr>
          <a:xfrm>
            <a:off x="3585947" y="9876000"/>
            <a:ext cx="2466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LOUCOS POR DADOS APAIXONADOS POR GENTE</a:t>
            </a:r>
            <a:endParaRPr b="0" i="0" sz="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2" name="Google Shape;122;p27"/>
          <p:cNvSpPr txBox="1"/>
          <p:nvPr/>
        </p:nvSpPr>
        <p:spPr>
          <a:xfrm>
            <a:off x="1567950" y="4739363"/>
            <a:ext cx="10257600" cy="20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200">
                <a:solidFill>
                  <a:srgbClr val="F4F4F4"/>
                </a:solidFill>
                <a:latin typeface="Lato Black"/>
                <a:ea typeface="Lato Black"/>
                <a:cs typeface="Lato Black"/>
                <a:sym typeface="Lato Black"/>
              </a:rPr>
              <a:t>Inteligência de Precificação</a:t>
            </a:r>
            <a:br>
              <a:rPr lang="pt-BR" sz="5200">
                <a:solidFill>
                  <a:srgbClr val="F4F4F4"/>
                </a:solidFill>
                <a:latin typeface="Lato Black"/>
                <a:ea typeface="Lato Black"/>
                <a:cs typeface="Lato Black"/>
                <a:sym typeface="Lato Black"/>
              </a:rPr>
            </a:br>
            <a:r>
              <a:rPr lang="pt-BR" sz="5200">
                <a:solidFill>
                  <a:srgbClr val="F4F4F4"/>
                </a:solidFill>
                <a:latin typeface="Lato Black"/>
                <a:ea typeface="Lato Black"/>
                <a:cs typeface="Lato Black"/>
                <a:sym typeface="Lato Black"/>
              </a:rPr>
              <a:t>Assessment de Dados + POC</a:t>
            </a:r>
            <a:endParaRPr sz="5200">
              <a:solidFill>
                <a:srgbClr val="F4F4F4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2"/>
              </a:solidFill>
            </a:endParaRPr>
          </a:p>
        </p:txBody>
      </p:sp>
      <p:pic>
        <p:nvPicPr>
          <p:cNvPr id="123" name="Google Shape;123;p2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32250" y="8705550"/>
            <a:ext cx="2987559" cy="38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8"/>
          <p:cNvPicPr preferRelativeResize="0"/>
          <p:nvPr/>
        </p:nvPicPr>
        <p:blipFill rotWithShape="1">
          <a:blip r:embed="rId3">
            <a:alphaModFix/>
          </a:blip>
          <a:srcRect b="0" l="26117" r="9508" t="0"/>
          <a:stretch/>
        </p:blipFill>
        <p:spPr>
          <a:xfrm>
            <a:off x="8352000" y="0"/>
            <a:ext cx="9936000" cy="10287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pic>
        <p:nvPicPr>
          <p:cNvPr descr="preencoded.png" id="129" name="Google Shape;12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2000" y="9869738"/>
            <a:ext cx="610560" cy="11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8"/>
          <p:cNvSpPr txBox="1"/>
          <p:nvPr/>
        </p:nvSpPr>
        <p:spPr>
          <a:xfrm>
            <a:off x="1441647" y="9875975"/>
            <a:ext cx="1890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© </a:t>
            </a:r>
            <a:r>
              <a:rPr lang="pt-BR" sz="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2026</a:t>
            </a:r>
            <a:r>
              <a:rPr b="0" i="0" lang="pt-BR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· A3DATA CONSULTORIA S/A.</a:t>
            </a:r>
            <a:endParaRPr b="0" i="0" sz="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1" name="Google Shape;131;p28"/>
          <p:cNvSpPr txBox="1"/>
          <p:nvPr/>
        </p:nvSpPr>
        <p:spPr>
          <a:xfrm>
            <a:off x="3585947" y="9876000"/>
            <a:ext cx="2466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LOUCOS POR DADOS APAIXONADOS POR GENTE</a:t>
            </a:r>
            <a:endParaRPr b="0" i="0" sz="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2" name="Google Shape;132;p28"/>
          <p:cNvSpPr txBox="1"/>
          <p:nvPr/>
        </p:nvSpPr>
        <p:spPr>
          <a:xfrm>
            <a:off x="1441650" y="6411950"/>
            <a:ext cx="6046800" cy="9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Reiteramos nosso agradecimento pela nossa participação nesta oportunidade e asseguramos que o time A3Data está profundamente motivado, comprometido com o êxito  e confiante de ofertar </a:t>
            </a:r>
            <a:r>
              <a:rPr lang="pt-BR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à </a:t>
            </a:r>
            <a:r>
              <a:rPr lang="pt-BR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DIRECIONAL</a:t>
            </a:r>
            <a:r>
              <a:rPr lang="pt-BR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pt-BR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uma abordagem que assegura os elementos para o sucesso deste projeto.</a:t>
            </a:r>
            <a:endParaRPr b="0" i="0" sz="1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3" name="Google Shape;133;p28"/>
          <p:cNvSpPr txBox="1"/>
          <p:nvPr/>
        </p:nvSpPr>
        <p:spPr>
          <a:xfrm>
            <a:off x="1441650" y="1008000"/>
            <a:ext cx="60468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5B6FF"/>
              </a:buClr>
              <a:buSzPts val="6000"/>
              <a:buFont typeface="Lato Black"/>
              <a:buNone/>
            </a:pPr>
            <a:r>
              <a:rPr b="0" i="0" lang="pt-BR" sz="40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Proposta</a:t>
            </a:r>
            <a:endParaRPr b="0" i="0" sz="4000" u="none" cap="none" strike="noStrike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5B6FF"/>
              </a:buClr>
              <a:buSzPts val="6000"/>
              <a:buFont typeface="Lato Black"/>
              <a:buNone/>
            </a:pPr>
            <a:r>
              <a:rPr b="0" i="0" lang="pt-BR" sz="40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Comercial</a:t>
            </a:r>
            <a:endParaRPr b="0" i="0" sz="4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" name="Google Shape;134;p28"/>
          <p:cNvSpPr txBox="1"/>
          <p:nvPr/>
        </p:nvSpPr>
        <p:spPr>
          <a:xfrm>
            <a:off x="1441650" y="3863100"/>
            <a:ext cx="6046800" cy="9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Em primeiro lugar, gostaríamos de agradecer a confiança d</a:t>
            </a:r>
            <a:r>
              <a:rPr lang="pt-BR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 </a:t>
            </a:r>
            <a:r>
              <a:rPr lang="pt-BR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DIRECIONAL</a:t>
            </a:r>
            <a:r>
              <a:rPr lang="pt-BR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</a:t>
            </a:r>
            <a:r>
              <a:rPr b="0" i="0" lang="pt-BR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de seus executivos e corpo técnico, depositadas na A3Data, com o objetivo principal de estabelecer </a:t>
            </a:r>
            <a:r>
              <a:rPr lang="pt-BR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uma base de dados confiável e uma primeira prova de valor para a estratégia de preços dos empreendimentos, substituindo o feeling por evidência histórica nas decisões de preço, velocidade de vendas e margem.</a:t>
            </a:r>
            <a:endParaRPr b="0" i="0" sz="1400" u="none" cap="none" strike="noStrike">
              <a:solidFill>
                <a:schemeClr val="dk1"/>
              </a:solidFill>
              <a:highlight>
                <a:srgbClr val="D9D9D9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5" name="Google Shape;135;p28"/>
          <p:cNvSpPr txBox="1"/>
          <p:nvPr/>
        </p:nvSpPr>
        <p:spPr>
          <a:xfrm>
            <a:off x="1441650" y="5358900"/>
            <a:ext cx="60468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Nesse contexto, </a:t>
            </a:r>
            <a:r>
              <a:rPr lang="pt-BR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propomos duas frentes orquestradas em 8 semanas: um Assessment de Dados com análise exploratória das bases e uma POC que mede, em empreendimentos já lançados, o efeito do preço sobre a velocidade de vendas e a margem.</a:t>
            </a:r>
            <a:endParaRPr b="0" i="0" sz="1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6" name="Google Shape;136;p28"/>
          <p:cNvSpPr txBox="1"/>
          <p:nvPr/>
        </p:nvSpPr>
        <p:spPr>
          <a:xfrm>
            <a:off x="1441650" y="2592000"/>
            <a:ext cx="604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São Paulo</a:t>
            </a:r>
            <a:r>
              <a:rPr b="0" i="0" lang="pt-BR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pt-BR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27 de Outubro de 2026</a:t>
            </a:r>
            <a:r>
              <a:rPr b="0" i="0" lang="pt-BR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b="0" i="0" sz="1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7" name="Google Shape;137;p28"/>
          <p:cNvSpPr txBox="1"/>
          <p:nvPr/>
        </p:nvSpPr>
        <p:spPr>
          <a:xfrm>
            <a:off x="1441650" y="3161325"/>
            <a:ext cx="6153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DIRECIONAL</a:t>
            </a:r>
            <a:endParaRPr>
              <a:solidFill>
                <a:schemeClr val="dk1"/>
              </a:solidFill>
              <a:highlight>
                <a:srgbClr val="D8D8D8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Aos cuidados de  </a:t>
            </a:r>
            <a:r>
              <a:rPr lang="pt-BR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Marcos Paulo Rodrigues</a:t>
            </a:r>
            <a:endParaRPr>
              <a:solidFill>
                <a:schemeClr val="dk1"/>
              </a:solidFill>
              <a:highlight>
                <a:schemeClr val="dk1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8" name="Google Shape;138;p28"/>
          <p:cNvSpPr txBox="1"/>
          <p:nvPr/>
        </p:nvSpPr>
        <p:spPr>
          <a:xfrm>
            <a:off x="1441647" y="8571863"/>
            <a:ext cx="2686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Atenciosamente,</a:t>
            </a:r>
            <a:endParaRPr b="0" i="0" sz="1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39" name="Google Shape;139;p28"/>
          <p:cNvCxnSpPr/>
          <p:nvPr/>
        </p:nvCxnSpPr>
        <p:spPr>
          <a:xfrm>
            <a:off x="3149600" y="8737588"/>
            <a:ext cx="4356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p28"/>
          <p:cNvSpPr txBox="1"/>
          <p:nvPr/>
        </p:nvSpPr>
        <p:spPr>
          <a:xfrm>
            <a:off x="3149600" y="8856425"/>
            <a:ext cx="43560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Marcelo Fantini</a:t>
            </a:r>
            <a:endParaRPr b="0" i="0" sz="1400" u="none" cap="none" strike="noStrike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Chief Commercial Officer</a:t>
            </a:r>
            <a:endParaRPr b="0" i="0" sz="1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1" name="Google Shape;141;p28"/>
          <p:cNvSpPr txBox="1"/>
          <p:nvPr/>
        </p:nvSpPr>
        <p:spPr>
          <a:xfrm>
            <a:off x="3149600" y="8186275"/>
            <a:ext cx="4338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highlight>
                <a:srgbClr val="D8D8D8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2" name="Google Shape;142;p28"/>
          <p:cNvSpPr txBox="1"/>
          <p:nvPr/>
        </p:nvSpPr>
        <p:spPr>
          <a:xfrm>
            <a:off x="1441649" y="288025"/>
            <a:ext cx="6910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12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pt-BR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PROPOSTA TÉCNICA E COMERCIAL · DIRECIONAL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5B6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0"/>
            <a:ext cx="18288010" cy="102870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9" name="Google Shape;149;p29"/>
          <p:cNvPicPr preferRelativeResize="0"/>
          <p:nvPr/>
        </p:nvPicPr>
        <p:blipFill rotWithShape="1">
          <a:blip r:embed="rId4">
            <a:alphaModFix/>
          </a:blip>
          <a:srcRect b="787" l="787" r="787" t="787"/>
          <a:stretch/>
        </p:blipFill>
        <p:spPr>
          <a:xfrm>
            <a:off x="1" y="-350"/>
            <a:ext cx="10237032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9"/>
          <p:cNvSpPr txBox="1"/>
          <p:nvPr/>
        </p:nvSpPr>
        <p:spPr>
          <a:xfrm>
            <a:off x="1441647" y="9875975"/>
            <a:ext cx="1890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© </a:t>
            </a:r>
            <a:r>
              <a:rPr lang="pt-BR" sz="8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2026</a:t>
            </a:r>
            <a:r>
              <a:rPr b="0" i="0" lang="pt-BR" sz="800" u="none" cap="none" strike="noStrik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 · A3DATA CONSULTORIA S/A.</a:t>
            </a:r>
            <a:endParaRPr b="0" i="0" sz="800" u="none" cap="none" strike="noStrike">
              <a:solidFill>
                <a:srgbClr val="F5F5F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1" name="Google Shape;151;p29"/>
          <p:cNvSpPr txBox="1"/>
          <p:nvPr/>
        </p:nvSpPr>
        <p:spPr>
          <a:xfrm>
            <a:off x="3585947" y="9876000"/>
            <a:ext cx="2466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LOUCOS POR DADOS APAIXONADOS POR GENTE</a:t>
            </a:r>
            <a:endParaRPr b="0" i="0" sz="800" u="none" cap="none" strike="noStrike">
              <a:solidFill>
                <a:srgbClr val="F5F5F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52" name="Google Shape;152;p29"/>
          <p:cNvGrpSpPr/>
          <p:nvPr/>
        </p:nvGrpSpPr>
        <p:grpSpPr>
          <a:xfrm>
            <a:off x="432272" y="9864433"/>
            <a:ext cx="614668" cy="115253"/>
            <a:chOff x="2716728" y="4386757"/>
            <a:chExt cx="2400109" cy="450558"/>
          </a:xfrm>
        </p:grpSpPr>
        <p:sp>
          <p:nvSpPr>
            <p:cNvPr id="153" name="Google Shape;153;p29"/>
            <p:cNvSpPr/>
            <p:nvPr/>
          </p:nvSpPr>
          <p:spPr>
            <a:xfrm>
              <a:off x="4494569" y="4561350"/>
              <a:ext cx="232791" cy="268795"/>
            </a:xfrm>
            <a:custGeom>
              <a:rect b="b" l="l" r="r" t="t"/>
              <a:pathLst>
                <a:path extrusionOk="0" h="268795" w="232791">
                  <a:moveTo>
                    <a:pt x="232791" y="268796"/>
                  </a:moveTo>
                  <a:lnTo>
                    <a:pt x="77629" y="268796"/>
                  </a:lnTo>
                  <a:lnTo>
                    <a:pt x="0" y="134398"/>
                  </a:lnTo>
                  <a:lnTo>
                    <a:pt x="77629" y="0"/>
                  </a:lnTo>
                  <a:lnTo>
                    <a:pt x="232791" y="268796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45725" lIns="91475" spcFirstLastPara="1" rIns="91475" wrap="square" tIns="4572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29"/>
            <p:cNvSpPr/>
            <p:nvPr/>
          </p:nvSpPr>
          <p:spPr>
            <a:xfrm>
              <a:off x="4690022" y="4561826"/>
              <a:ext cx="232791" cy="268795"/>
            </a:xfrm>
            <a:custGeom>
              <a:rect b="b" l="l" r="r" t="t"/>
              <a:pathLst>
                <a:path extrusionOk="0" h="268795" w="232791">
                  <a:moveTo>
                    <a:pt x="232791" y="268796"/>
                  </a:moveTo>
                  <a:lnTo>
                    <a:pt x="77629" y="268796"/>
                  </a:lnTo>
                  <a:lnTo>
                    <a:pt x="0" y="134398"/>
                  </a:lnTo>
                  <a:lnTo>
                    <a:pt x="77629" y="0"/>
                  </a:lnTo>
                  <a:lnTo>
                    <a:pt x="232791" y="268796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45725" lIns="91475" spcFirstLastPara="1" rIns="91475" wrap="square" tIns="4572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29"/>
            <p:cNvSpPr/>
            <p:nvPr/>
          </p:nvSpPr>
          <p:spPr>
            <a:xfrm>
              <a:off x="4884046" y="4561826"/>
              <a:ext cx="232791" cy="268795"/>
            </a:xfrm>
            <a:custGeom>
              <a:rect b="b" l="l" r="r" t="t"/>
              <a:pathLst>
                <a:path extrusionOk="0" h="268795" w="232791">
                  <a:moveTo>
                    <a:pt x="232791" y="268796"/>
                  </a:moveTo>
                  <a:lnTo>
                    <a:pt x="77533" y="268796"/>
                  </a:lnTo>
                  <a:lnTo>
                    <a:pt x="0" y="134398"/>
                  </a:lnTo>
                  <a:lnTo>
                    <a:pt x="77533" y="0"/>
                  </a:lnTo>
                  <a:lnTo>
                    <a:pt x="232791" y="268796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45725" lIns="91475" spcFirstLastPara="1" rIns="91475" wrap="square" tIns="4572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29"/>
            <p:cNvSpPr/>
            <p:nvPr/>
          </p:nvSpPr>
          <p:spPr>
            <a:xfrm>
              <a:off x="3298038" y="4392567"/>
              <a:ext cx="324135" cy="437959"/>
            </a:xfrm>
            <a:custGeom>
              <a:rect b="b" l="l" r="r" t="t"/>
              <a:pathLst>
                <a:path extrusionOk="0" h="437959" w="324135">
                  <a:moveTo>
                    <a:pt x="263747" y="63151"/>
                  </a:moveTo>
                  <a:cubicBezTo>
                    <a:pt x="223552" y="21050"/>
                    <a:pt x="173355" y="0"/>
                    <a:pt x="113348" y="0"/>
                  </a:cubicBezTo>
                  <a:lnTo>
                    <a:pt x="51721" y="0"/>
                  </a:lnTo>
                  <a:cubicBezTo>
                    <a:pt x="51721" y="0"/>
                    <a:pt x="51149" y="286"/>
                    <a:pt x="51149" y="572"/>
                  </a:cubicBezTo>
                  <a:lnTo>
                    <a:pt x="51149" y="81344"/>
                  </a:lnTo>
                  <a:cubicBezTo>
                    <a:pt x="51149" y="82105"/>
                    <a:pt x="51721" y="82677"/>
                    <a:pt x="52483" y="82677"/>
                  </a:cubicBezTo>
                  <a:lnTo>
                    <a:pt x="113443" y="82677"/>
                  </a:lnTo>
                  <a:cubicBezTo>
                    <a:pt x="151352" y="82677"/>
                    <a:pt x="182213" y="95250"/>
                    <a:pt x="206026" y="120491"/>
                  </a:cubicBezTo>
                  <a:cubicBezTo>
                    <a:pt x="229743" y="145733"/>
                    <a:pt x="241649" y="178594"/>
                    <a:pt x="241649" y="218980"/>
                  </a:cubicBezTo>
                  <a:cubicBezTo>
                    <a:pt x="241649" y="259366"/>
                    <a:pt x="229743" y="292322"/>
                    <a:pt x="206026" y="317468"/>
                  </a:cubicBezTo>
                  <a:cubicBezTo>
                    <a:pt x="182309" y="342710"/>
                    <a:pt x="151352" y="355283"/>
                    <a:pt x="113443" y="355283"/>
                  </a:cubicBezTo>
                  <a:lnTo>
                    <a:pt x="56198" y="355283"/>
                  </a:lnTo>
                  <a:cubicBezTo>
                    <a:pt x="34576" y="422910"/>
                    <a:pt x="0" y="437960"/>
                    <a:pt x="0" y="437960"/>
                  </a:cubicBezTo>
                  <a:lnTo>
                    <a:pt x="113348" y="437960"/>
                  </a:lnTo>
                  <a:cubicBezTo>
                    <a:pt x="173355" y="437960"/>
                    <a:pt x="223552" y="416909"/>
                    <a:pt x="263747" y="374714"/>
                  </a:cubicBezTo>
                  <a:cubicBezTo>
                    <a:pt x="303943" y="332613"/>
                    <a:pt x="324136" y="280702"/>
                    <a:pt x="324136" y="218980"/>
                  </a:cubicBezTo>
                  <a:cubicBezTo>
                    <a:pt x="324136" y="157258"/>
                    <a:pt x="303943" y="105347"/>
                    <a:pt x="263747" y="6315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45725" lIns="91475" spcFirstLastPara="1" rIns="91475" wrap="square" tIns="4572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29"/>
            <p:cNvSpPr/>
            <p:nvPr/>
          </p:nvSpPr>
          <p:spPr>
            <a:xfrm>
              <a:off x="3635604" y="4488484"/>
              <a:ext cx="284416" cy="348519"/>
            </a:xfrm>
            <a:custGeom>
              <a:rect b="b" l="l" r="r" t="t"/>
              <a:pathLst>
                <a:path extrusionOk="0" h="348519" w="284416">
                  <a:moveTo>
                    <a:pt x="278416" y="118015"/>
                  </a:moveTo>
                  <a:cubicBezTo>
                    <a:pt x="278416" y="38576"/>
                    <a:pt x="236887" y="0"/>
                    <a:pt x="151543" y="0"/>
                  </a:cubicBezTo>
                  <a:cubicBezTo>
                    <a:pt x="87154" y="0"/>
                    <a:pt x="42481" y="22384"/>
                    <a:pt x="14954" y="68485"/>
                  </a:cubicBezTo>
                  <a:lnTo>
                    <a:pt x="13430" y="71152"/>
                  </a:lnTo>
                  <a:lnTo>
                    <a:pt x="73628" y="108490"/>
                  </a:lnTo>
                  <a:lnTo>
                    <a:pt x="75248" y="105823"/>
                  </a:lnTo>
                  <a:cubicBezTo>
                    <a:pt x="93536" y="76771"/>
                    <a:pt x="114871" y="64294"/>
                    <a:pt x="146494" y="64294"/>
                  </a:cubicBezTo>
                  <a:cubicBezTo>
                    <a:pt x="166497" y="64294"/>
                    <a:pt x="179546" y="68390"/>
                    <a:pt x="187547" y="77057"/>
                  </a:cubicBezTo>
                  <a:cubicBezTo>
                    <a:pt x="195739" y="85916"/>
                    <a:pt x="198787" y="100013"/>
                    <a:pt x="197263" y="121063"/>
                  </a:cubicBezTo>
                  <a:cubicBezTo>
                    <a:pt x="144018" y="131350"/>
                    <a:pt x="90297" y="143542"/>
                    <a:pt x="55912" y="162687"/>
                  </a:cubicBezTo>
                  <a:cubicBezTo>
                    <a:pt x="17812" y="184118"/>
                    <a:pt x="0" y="213836"/>
                    <a:pt x="0" y="256318"/>
                  </a:cubicBezTo>
                  <a:cubicBezTo>
                    <a:pt x="0" y="313182"/>
                    <a:pt x="35338" y="348520"/>
                    <a:pt x="92202" y="348520"/>
                  </a:cubicBezTo>
                  <a:cubicBezTo>
                    <a:pt x="129159" y="348520"/>
                    <a:pt x="164687" y="334994"/>
                    <a:pt x="197929" y="308324"/>
                  </a:cubicBezTo>
                  <a:lnTo>
                    <a:pt x="203168" y="342233"/>
                  </a:lnTo>
                  <a:lnTo>
                    <a:pt x="284417" y="342233"/>
                  </a:lnTo>
                  <a:lnTo>
                    <a:pt x="278416" y="279749"/>
                  </a:lnTo>
                  <a:lnTo>
                    <a:pt x="278416" y="118015"/>
                  </a:lnTo>
                  <a:close/>
                  <a:moveTo>
                    <a:pt x="194500" y="176117"/>
                  </a:moveTo>
                  <a:lnTo>
                    <a:pt x="194500" y="250031"/>
                  </a:lnTo>
                  <a:cubicBezTo>
                    <a:pt x="175546" y="270986"/>
                    <a:pt x="148685" y="283464"/>
                    <a:pt x="122492" y="283464"/>
                  </a:cubicBezTo>
                  <a:cubicBezTo>
                    <a:pt x="98774" y="283464"/>
                    <a:pt x="84582" y="269272"/>
                    <a:pt x="84582" y="245554"/>
                  </a:cubicBezTo>
                  <a:cubicBezTo>
                    <a:pt x="84582" y="225838"/>
                    <a:pt x="92583" y="210884"/>
                    <a:pt x="107632" y="202216"/>
                  </a:cubicBezTo>
                  <a:cubicBezTo>
                    <a:pt x="127540" y="191357"/>
                    <a:pt x="151829" y="184976"/>
                    <a:pt x="194596" y="176117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45725" lIns="91475" spcFirstLastPara="1" rIns="91475" wrap="square" tIns="4572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29"/>
            <p:cNvSpPr/>
            <p:nvPr/>
          </p:nvSpPr>
          <p:spPr>
            <a:xfrm>
              <a:off x="3937261" y="4386757"/>
              <a:ext cx="198882" cy="448913"/>
            </a:xfrm>
            <a:custGeom>
              <a:rect b="b" l="l" r="r" t="t"/>
              <a:pathLst>
                <a:path extrusionOk="0" h="448913" w="198882">
                  <a:moveTo>
                    <a:pt x="131254" y="0"/>
                  </a:moveTo>
                  <a:lnTo>
                    <a:pt x="48006" y="0"/>
                  </a:lnTo>
                  <a:lnTo>
                    <a:pt x="48006" y="109252"/>
                  </a:lnTo>
                  <a:lnTo>
                    <a:pt x="0" y="109252"/>
                  </a:lnTo>
                  <a:lnTo>
                    <a:pt x="0" y="174879"/>
                  </a:lnTo>
                  <a:lnTo>
                    <a:pt x="48006" y="174879"/>
                  </a:lnTo>
                  <a:lnTo>
                    <a:pt x="48006" y="349853"/>
                  </a:lnTo>
                  <a:cubicBezTo>
                    <a:pt x="48006" y="423005"/>
                    <a:pt x="71438" y="448913"/>
                    <a:pt x="137636" y="448913"/>
                  </a:cubicBezTo>
                  <a:cubicBezTo>
                    <a:pt x="160115" y="448913"/>
                    <a:pt x="179832" y="446056"/>
                    <a:pt x="196310" y="443198"/>
                  </a:cubicBezTo>
                  <a:lnTo>
                    <a:pt x="198882" y="442722"/>
                  </a:lnTo>
                  <a:lnTo>
                    <a:pt x="198882" y="373571"/>
                  </a:lnTo>
                  <a:lnTo>
                    <a:pt x="194977" y="374523"/>
                  </a:lnTo>
                  <a:cubicBezTo>
                    <a:pt x="183166" y="377476"/>
                    <a:pt x="172117" y="378809"/>
                    <a:pt x="160401" y="378809"/>
                  </a:cubicBezTo>
                  <a:cubicBezTo>
                    <a:pt x="139446" y="378809"/>
                    <a:pt x="131350" y="369094"/>
                    <a:pt x="131350" y="344043"/>
                  </a:cubicBezTo>
                  <a:lnTo>
                    <a:pt x="131350" y="174879"/>
                  </a:lnTo>
                  <a:lnTo>
                    <a:pt x="198882" y="174879"/>
                  </a:lnTo>
                  <a:lnTo>
                    <a:pt x="198882" y="109252"/>
                  </a:lnTo>
                  <a:lnTo>
                    <a:pt x="131350" y="109252"/>
                  </a:lnTo>
                  <a:lnTo>
                    <a:pt x="131350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45725" lIns="91475" spcFirstLastPara="1" rIns="91475" wrap="square" tIns="4572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29"/>
            <p:cNvSpPr/>
            <p:nvPr/>
          </p:nvSpPr>
          <p:spPr>
            <a:xfrm>
              <a:off x="4165670" y="4488484"/>
              <a:ext cx="284416" cy="348519"/>
            </a:xfrm>
            <a:custGeom>
              <a:rect b="b" l="l" r="r" t="t"/>
              <a:pathLst>
                <a:path extrusionOk="0" h="348519" w="284416">
                  <a:moveTo>
                    <a:pt x="278416" y="279654"/>
                  </a:moveTo>
                  <a:lnTo>
                    <a:pt x="278416" y="118015"/>
                  </a:lnTo>
                  <a:cubicBezTo>
                    <a:pt x="278416" y="38576"/>
                    <a:pt x="236887" y="0"/>
                    <a:pt x="151543" y="0"/>
                  </a:cubicBezTo>
                  <a:cubicBezTo>
                    <a:pt x="87154" y="0"/>
                    <a:pt x="42482" y="22384"/>
                    <a:pt x="14954" y="68485"/>
                  </a:cubicBezTo>
                  <a:lnTo>
                    <a:pt x="13430" y="71152"/>
                  </a:lnTo>
                  <a:lnTo>
                    <a:pt x="73628" y="108490"/>
                  </a:lnTo>
                  <a:lnTo>
                    <a:pt x="75248" y="105823"/>
                  </a:lnTo>
                  <a:cubicBezTo>
                    <a:pt x="93536" y="76771"/>
                    <a:pt x="114871" y="64294"/>
                    <a:pt x="146495" y="64294"/>
                  </a:cubicBezTo>
                  <a:cubicBezTo>
                    <a:pt x="166497" y="64294"/>
                    <a:pt x="179546" y="68390"/>
                    <a:pt x="187547" y="77057"/>
                  </a:cubicBezTo>
                  <a:cubicBezTo>
                    <a:pt x="195739" y="85916"/>
                    <a:pt x="198787" y="100013"/>
                    <a:pt x="197263" y="121063"/>
                  </a:cubicBezTo>
                  <a:cubicBezTo>
                    <a:pt x="144018" y="131350"/>
                    <a:pt x="90297" y="143542"/>
                    <a:pt x="55912" y="162687"/>
                  </a:cubicBezTo>
                  <a:cubicBezTo>
                    <a:pt x="17812" y="184118"/>
                    <a:pt x="0" y="213836"/>
                    <a:pt x="0" y="256318"/>
                  </a:cubicBezTo>
                  <a:cubicBezTo>
                    <a:pt x="0" y="313182"/>
                    <a:pt x="35338" y="348520"/>
                    <a:pt x="92202" y="348520"/>
                  </a:cubicBezTo>
                  <a:cubicBezTo>
                    <a:pt x="129159" y="348520"/>
                    <a:pt x="164687" y="334994"/>
                    <a:pt x="197929" y="308324"/>
                  </a:cubicBezTo>
                  <a:lnTo>
                    <a:pt x="203168" y="342233"/>
                  </a:lnTo>
                  <a:lnTo>
                    <a:pt x="284417" y="342233"/>
                  </a:lnTo>
                  <a:lnTo>
                    <a:pt x="278416" y="279749"/>
                  </a:lnTo>
                  <a:close/>
                  <a:moveTo>
                    <a:pt x="194500" y="176117"/>
                  </a:moveTo>
                  <a:lnTo>
                    <a:pt x="194500" y="250031"/>
                  </a:lnTo>
                  <a:cubicBezTo>
                    <a:pt x="175546" y="270986"/>
                    <a:pt x="148685" y="283464"/>
                    <a:pt x="122492" y="283464"/>
                  </a:cubicBezTo>
                  <a:cubicBezTo>
                    <a:pt x="98774" y="283464"/>
                    <a:pt x="84582" y="269272"/>
                    <a:pt x="84582" y="245554"/>
                  </a:cubicBezTo>
                  <a:cubicBezTo>
                    <a:pt x="84582" y="225838"/>
                    <a:pt x="92583" y="210884"/>
                    <a:pt x="107633" y="202216"/>
                  </a:cubicBezTo>
                  <a:cubicBezTo>
                    <a:pt x="127540" y="191357"/>
                    <a:pt x="151829" y="184976"/>
                    <a:pt x="194596" y="176117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45725" lIns="91475" spcFirstLastPara="1" rIns="91475" wrap="square" tIns="4572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0" name="Google Shape;160;p29"/>
            <p:cNvGrpSpPr/>
            <p:nvPr/>
          </p:nvGrpSpPr>
          <p:grpSpPr>
            <a:xfrm>
              <a:off x="2716728" y="4391709"/>
              <a:ext cx="602932" cy="445606"/>
              <a:chOff x="2716728" y="4391709"/>
              <a:chExt cx="602932" cy="445606"/>
            </a:xfrm>
          </p:grpSpPr>
          <p:sp>
            <p:nvSpPr>
              <p:cNvPr id="161" name="Google Shape;161;p29"/>
              <p:cNvSpPr/>
              <p:nvPr/>
            </p:nvSpPr>
            <p:spPr>
              <a:xfrm>
                <a:off x="2716728" y="4391709"/>
                <a:ext cx="415480" cy="438816"/>
              </a:xfrm>
              <a:custGeom>
                <a:rect b="b" l="l" r="r" t="t"/>
                <a:pathLst>
                  <a:path extrusionOk="0" h="438816" w="415480">
                    <a:moveTo>
                      <a:pt x="415481" y="438817"/>
                    </a:moveTo>
                    <a:lnTo>
                      <a:pt x="254318" y="2286"/>
                    </a:lnTo>
                    <a:cubicBezTo>
                      <a:pt x="253841" y="953"/>
                      <a:pt x="252508" y="0"/>
                      <a:pt x="251079" y="0"/>
                    </a:cubicBezTo>
                    <a:lnTo>
                      <a:pt x="161735" y="0"/>
                    </a:lnTo>
                    <a:lnTo>
                      <a:pt x="161735" y="10001"/>
                    </a:lnTo>
                    <a:lnTo>
                      <a:pt x="0" y="438817"/>
                    </a:lnTo>
                    <a:lnTo>
                      <a:pt x="93440" y="438817"/>
                    </a:lnTo>
                    <a:lnTo>
                      <a:pt x="123158" y="348139"/>
                    </a:lnTo>
                    <a:lnTo>
                      <a:pt x="293561" y="348139"/>
                    </a:lnTo>
                    <a:lnTo>
                      <a:pt x="327850" y="438817"/>
                    </a:lnTo>
                    <a:lnTo>
                      <a:pt x="415481" y="438817"/>
                    </a:lnTo>
                    <a:close/>
                    <a:moveTo>
                      <a:pt x="271367" y="278892"/>
                    </a:moveTo>
                    <a:lnTo>
                      <a:pt x="145352" y="278892"/>
                    </a:lnTo>
                    <a:lnTo>
                      <a:pt x="204406" y="95726"/>
                    </a:lnTo>
                    <a:lnTo>
                      <a:pt x="204406" y="92393"/>
                    </a:lnTo>
                    <a:lnTo>
                      <a:pt x="211836" y="92393"/>
                    </a:lnTo>
                    <a:lnTo>
                      <a:pt x="211836" y="95726"/>
                    </a:lnTo>
                    <a:lnTo>
                      <a:pt x="271463" y="278987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45725" lIns="91475" spcFirstLastPara="1" rIns="91475" wrap="square" tIns="45725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62;p29"/>
              <p:cNvSpPr/>
              <p:nvPr/>
            </p:nvSpPr>
            <p:spPr>
              <a:xfrm>
                <a:off x="3015327" y="4391805"/>
                <a:ext cx="304333" cy="445510"/>
              </a:xfrm>
              <a:custGeom>
                <a:rect b="b" l="l" r="r" t="t"/>
                <a:pathLst>
                  <a:path extrusionOk="0" h="445510" w="304333">
                    <a:moveTo>
                      <a:pt x="218227" y="174593"/>
                    </a:moveTo>
                    <a:lnTo>
                      <a:pt x="288331" y="84201"/>
                    </a:lnTo>
                    <a:cubicBezTo>
                      <a:pt x="288903" y="83534"/>
                      <a:pt x="289188" y="82582"/>
                      <a:pt x="289188" y="81725"/>
                    </a:cubicBezTo>
                    <a:lnTo>
                      <a:pt x="289188" y="762"/>
                    </a:lnTo>
                    <a:cubicBezTo>
                      <a:pt x="289188" y="762"/>
                      <a:pt x="288807" y="0"/>
                      <a:pt x="288426" y="0"/>
                    </a:cubicBezTo>
                    <a:lnTo>
                      <a:pt x="581" y="381"/>
                    </a:lnTo>
                    <a:cubicBezTo>
                      <a:pt x="581" y="381"/>
                      <a:pt x="-86" y="762"/>
                      <a:pt x="9" y="1238"/>
                    </a:cubicBezTo>
                    <a:lnTo>
                      <a:pt x="24870" y="70199"/>
                    </a:lnTo>
                    <a:lnTo>
                      <a:pt x="210607" y="70199"/>
                    </a:lnTo>
                    <a:lnTo>
                      <a:pt x="195081" y="81915"/>
                    </a:lnTo>
                    <a:lnTo>
                      <a:pt x="192986" y="84392"/>
                    </a:lnTo>
                    <a:lnTo>
                      <a:pt x="104022" y="200501"/>
                    </a:lnTo>
                    <a:cubicBezTo>
                      <a:pt x="103260" y="201454"/>
                      <a:pt x="103070" y="202692"/>
                      <a:pt x="103546" y="203835"/>
                    </a:cubicBezTo>
                    <a:lnTo>
                      <a:pt x="119643" y="248888"/>
                    </a:lnTo>
                    <a:cubicBezTo>
                      <a:pt x="120977" y="252603"/>
                      <a:pt x="124977" y="254222"/>
                      <a:pt x="128406" y="252222"/>
                    </a:cubicBezTo>
                    <a:cubicBezTo>
                      <a:pt x="140979" y="245174"/>
                      <a:pt x="156124" y="242126"/>
                      <a:pt x="172221" y="245269"/>
                    </a:cubicBezTo>
                    <a:cubicBezTo>
                      <a:pt x="197748" y="250222"/>
                      <a:pt x="217179" y="269272"/>
                      <a:pt x="222323" y="294799"/>
                    </a:cubicBezTo>
                    <a:cubicBezTo>
                      <a:pt x="230324" y="334518"/>
                      <a:pt x="201463" y="369475"/>
                      <a:pt x="163744" y="371856"/>
                    </a:cubicBezTo>
                    <a:cubicBezTo>
                      <a:pt x="162411" y="371856"/>
                      <a:pt x="161077" y="372047"/>
                      <a:pt x="159744" y="372047"/>
                    </a:cubicBezTo>
                    <a:cubicBezTo>
                      <a:pt x="148599" y="372047"/>
                      <a:pt x="138027" y="369189"/>
                      <a:pt x="128883" y="364141"/>
                    </a:cubicBezTo>
                    <a:cubicBezTo>
                      <a:pt x="128883" y="364141"/>
                      <a:pt x="158029" y="445294"/>
                      <a:pt x="158124" y="445389"/>
                    </a:cubicBezTo>
                    <a:cubicBezTo>
                      <a:pt x="168792" y="445865"/>
                      <a:pt x="179175" y="444913"/>
                      <a:pt x="189176" y="443008"/>
                    </a:cubicBezTo>
                    <a:cubicBezTo>
                      <a:pt x="254708" y="430816"/>
                      <a:pt x="304333" y="373475"/>
                      <a:pt x="304333" y="304419"/>
                    </a:cubicBezTo>
                    <a:cubicBezTo>
                      <a:pt x="304333" y="246126"/>
                      <a:pt x="268995" y="196120"/>
                      <a:pt x="218513" y="174593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45725" lIns="91475" spcFirstLastPara="1" rIns="91475" wrap="square" tIns="45725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63" name="Google Shape;163;p29"/>
          <p:cNvSpPr txBox="1"/>
          <p:nvPr/>
        </p:nvSpPr>
        <p:spPr>
          <a:xfrm>
            <a:off x="1440000" y="1296000"/>
            <a:ext cx="9863700" cy="23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5B6FF"/>
              </a:buClr>
              <a:buSzPts val="6000"/>
              <a:buFont typeface="Lato Black"/>
              <a:buNone/>
            </a:pPr>
            <a:r>
              <a:rPr b="0" i="0" lang="pt-BR" sz="9600" u="none" cap="none" strike="noStrike">
                <a:solidFill>
                  <a:srgbClr val="F4F4F4"/>
                </a:solidFill>
                <a:latin typeface="Lato Black"/>
                <a:ea typeface="Lato Black"/>
                <a:cs typeface="Lato Black"/>
                <a:sym typeface="Lato Black"/>
              </a:rPr>
              <a:t>Entendimento</a:t>
            </a:r>
            <a:endParaRPr b="0" i="0" sz="9600" u="none" cap="none" strike="noStrike">
              <a:solidFill>
                <a:srgbClr val="F4F4F4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5B6FF"/>
              </a:buClr>
              <a:buSzPts val="6000"/>
              <a:buFont typeface="Lato Black"/>
              <a:buNone/>
            </a:pPr>
            <a:r>
              <a:rPr b="0" i="0" lang="pt-BR" sz="9600" u="none" cap="none" strike="noStrike">
                <a:solidFill>
                  <a:srgbClr val="F4F4F4"/>
                </a:solidFill>
                <a:latin typeface="Lato Black"/>
                <a:ea typeface="Lato Black"/>
                <a:cs typeface="Lato Black"/>
                <a:sym typeface="Lato Black"/>
              </a:rPr>
              <a:t>da necessidade:</a:t>
            </a:r>
            <a:endParaRPr b="0" i="0" sz="9600" u="none" cap="none" strike="noStrike">
              <a:solidFill>
                <a:srgbClr val="F4F4F4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64" name="Google Shape;164;p29"/>
          <p:cNvSpPr txBox="1"/>
          <p:nvPr/>
        </p:nvSpPr>
        <p:spPr>
          <a:xfrm>
            <a:off x="1728000" y="4320000"/>
            <a:ext cx="3307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400" u="none" cap="none" strike="noStrike">
                <a:solidFill>
                  <a:srgbClr val="F5F5F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SITUAÇÃO ATUAL</a:t>
            </a:r>
            <a:endParaRPr b="0" i="0" sz="1400" u="none" cap="none" strike="noStrike">
              <a:solidFill>
                <a:srgbClr val="F5F5F5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65" name="Google Shape;165;p29"/>
          <p:cNvSpPr/>
          <p:nvPr/>
        </p:nvSpPr>
        <p:spPr>
          <a:xfrm>
            <a:off x="1441651" y="4341338"/>
            <a:ext cx="173976" cy="173961"/>
          </a:xfrm>
          <a:custGeom>
            <a:rect b="b" l="l" r="r" t="t"/>
            <a:pathLst>
              <a:path extrusionOk="0" h="247632" w="247653">
                <a:moveTo>
                  <a:pt x="178216" y="117062"/>
                </a:moveTo>
                <a:cubicBezTo>
                  <a:pt x="179074" y="117919"/>
                  <a:pt x="179836" y="118967"/>
                  <a:pt x="180312" y="120110"/>
                </a:cubicBezTo>
                <a:cubicBezTo>
                  <a:pt x="180788" y="121253"/>
                  <a:pt x="181074" y="122492"/>
                  <a:pt x="181074" y="123730"/>
                </a:cubicBezTo>
                <a:cubicBezTo>
                  <a:pt x="181074" y="124968"/>
                  <a:pt x="180788" y="126206"/>
                  <a:pt x="180312" y="127349"/>
                </a:cubicBezTo>
                <a:cubicBezTo>
                  <a:pt x="179836" y="128492"/>
                  <a:pt x="179169" y="129540"/>
                  <a:pt x="178216" y="130397"/>
                </a:cubicBezTo>
                <a:lnTo>
                  <a:pt x="140116" y="168497"/>
                </a:lnTo>
                <a:cubicBezTo>
                  <a:pt x="138307" y="170307"/>
                  <a:pt x="135925" y="171259"/>
                  <a:pt x="133354" y="171259"/>
                </a:cubicBezTo>
                <a:cubicBezTo>
                  <a:pt x="130782" y="171259"/>
                  <a:pt x="128401" y="170212"/>
                  <a:pt x="126591" y="168497"/>
                </a:cubicBezTo>
                <a:cubicBezTo>
                  <a:pt x="124781" y="166688"/>
                  <a:pt x="123829" y="164306"/>
                  <a:pt x="123829" y="161734"/>
                </a:cubicBezTo>
                <a:cubicBezTo>
                  <a:pt x="123829" y="159163"/>
                  <a:pt x="124876" y="156781"/>
                  <a:pt x="126591" y="154972"/>
                </a:cubicBezTo>
                <a:lnTo>
                  <a:pt x="148403" y="133159"/>
                </a:lnTo>
                <a:lnTo>
                  <a:pt x="76108" y="133159"/>
                </a:lnTo>
                <a:cubicBezTo>
                  <a:pt x="73537" y="133159"/>
                  <a:pt x="71155" y="132112"/>
                  <a:pt x="69346" y="130397"/>
                </a:cubicBezTo>
                <a:cubicBezTo>
                  <a:pt x="67536" y="128588"/>
                  <a:pt x="66583" y="126206"/>
                  <a:pt x="66583" y="123634"/>
                </a:cubicBezTo>
                <a:cubicBezTo>
                  <a:pt x="66583" y="121063"/>
                  <a:pt x="67631" y="118681"/>
                  <a:pt x="69346" y="116872"/>
                </a:cubicBezTo>
                <a:cubicBezTo>
                  <a:pt x="71155" y="115062"/>
                  <a:pt x="73537" y="114109"/>
                  <a:pt x="76108" y="114109"/>
                </a:cubicBezTo>
                <a:lnTo>
                  <a:pt x="148403" y="114109"/>
                </a:lnTo>
                <a:lnTo>
                  <a:pt x="126591" y="92297"/>
                </a:lnTo>
                <a:cubicBezTo>
                  <a:pt x="124781" y="90488"/>
                  <a:pt x="123829" y="88106"/>
                  <a:pt x="123829" y="85534"/>
                </a:cubicBezTo>
                <a:cubicBezTo>
                  <a:pt x="123829" y="82963"/>
                  <a:pt x="124876" y="80581"/>
                  <a:pt x="126591" y="78772"/>
                </a:cubicBezTo>
                <a:cubicBezTo>
                  <a:pt x="128401" y="76962"/>
                  <a:pt x="130782" y="76009"/>
                  <a:pt x="133354" y="76009"/>
                </a:cubicBezTo>
                <a:cubicBezTo>
                  <a:pt x="135925" y="76009"/>
                  <a:pt x="138307" y="77057"/>
                  <a:pt x="140116" y="78772"/>
                </a:cubicBezTo>
                <a:lnTo>
                  <a:pt x="178216" y="116872"/>
                </a:lnTo>
                <a:close/>
                <a:moveTo>
                  <a:pt x="123829" y="228600"/>
                </a:moveTo>
                <a:cubicBezTo>
                  <a:pt x="103064" y="228600"/>
                  <a:pt x="82871" y="222409"/>
                  <a:pt x="65631" y="210979"/>
                </a:cubicBezTo>
                <a:cubicBezTo>
                  <a:pt x="48391" y="199454"/>
                  <a:pt x="34960" y="183071"/>
                  <a:pt x="27055" y="163925"/>
                </a:cubicBezTo>
                <a:cubicBezTo>
                  <a:pt x="19149" y="144780"/>
                  <a:pt x="17053" y="123730"/>
                  <a:pt x="21054" y="103346"/>
                </a:cubicBezTo>
                <a:cubicBezTo>
                  <a:pt x="25054" y="82963"/>
                  <a:pt x="35056" y="64389"/>
                  <a:pt x="49724" y="49721"/>
                </a:cubicBezTo>
                <a:cubicBezTo>
                  <a:pt x="64393" y="35052"/>
                  <a:pt x="83062" y="25051"/>
                  <a:pt x="103350" y="21050"/>
                </a:cubicBezTo>
                <a:cubicBezTo>
                  <a:pt x="123638" y="17050"/>
                  <a:pt x="144784" y="19050"/>
                  <a:pt x="163929" y="27051"/>
                </a:cubicBezTo>
                <a:cubicBezTo>
                  <a:pt x="183074" y="34957"/>
                  <a:pt x="199457" y="48387"/>
                  <a:pt x="210982" y="65627"/>
                </a:cubicBezTo>
                <a:cubicBezTo>
                  <a:pt x="222508" y="82867"/>
                  <a:pt x="228604" y="103156"/>
                  <a:pt x="228604" y="123825"/>
                </a:cubicBezTo>
                <a:cubicBezTo>
                  <a:pt x="228604" y="151638"/>
                  <a:pt x="217555" y="178213"/>
                  <a:pt x="197838" y="197834"/>
                </a:cubicBezTo>
                <a:cubicBezTo>
                  <a:pt x="178216" y="217456"/>
                  <a:pt x="151546" y="228505"/>
                  <a:pt x="123829" y="228600"/>
                </a:cubicBezTo>
                <a:close/>
                <a:moveTo>
                  <a:pt x="123829" y="0"/>
                </a:moveTo>
                <a:cubicBezTo>
                  <a:pt x="99349" y="0"/>
                  <a:pt x="75442" y="7239"/>
                  <a:pt x="55058" y="20860"/>
                </a:cubicBezTo>
                <a:cubicBezTo>
                  <a:pt x="34675" y="34480"/>
                  <a:pt x="18863" y="53816"/>
                  <a:pt x="9433" y="76391"/>
                </a:cubicBezTo>
                <a:cubicBezTo>
                  <a:pt x="4" y="98965"/>
                  <a:pt x="-2378" y="123920"/>
                  <a:pt x="2385" y="147923"/>
                </a:cubicBezTo>
                <a:cubicBezTo>
                  <a:pt x="7147" y="171926"/>
                  <a:pt x="18958" y="194024"/>
                  <a:pt x="36294" y="211360"/>
                </a:cubicBezTo>
                <a:cubicBezTo>
                  <a:pt x="53629" y="228695"/>
                  <a:pt x="75632" y="240506"/>
                  <a:pt x="99730" y="245269"/>
                </a:cubicBezTo>
                <a:cubicBezTo>
                  <a:pt x="123733" y="250031"/>
                  <a:pt x="148689" y="247555"/>
                  <a:pt x="171263" y="238220"/>
                </a:cubicBezTo>
                <a:cubicBezTo>
                  <a:pt x="193933" y="228886"/>
                  <a:pt x="213268" y="212979"/>
                  <a:pt x="226794" y="192596"/>
                </a:cubicBezTo>
                <a:cubicBezTo>
                  <a:pt x="240415" y="172212"/>
                  <a:pt x="247654" y="148304"/>
                  <a:pt x="247654" y="123825"/>
                </a:cubicBezTo>
                <a:cubicBezTo>
                  <a:pt x="247654" y="90964"/>
                  <a:pt x="234604" y="59531"/>
                  <a:pt x="211363" y="36290"/>
                </a:cubicBezTo>
                <a:cubicBezTo>
                  <a:pt x="188122" y="13049"/>
                  <a:pt x="156690" y="0"/>
                  <a:pt x="123829" y="0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ctr" bIns="45725" lIns="91475" spcFirstLastPara="1" rIns="9147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9"/>
          <p:cNvSpPr txBox="1"/>
          <p:nvPr/>
        </p:nvSpPr>
        <p:spPr>
          <a:xfrm>
            <a:off x="1728000" y="4752000"/>
            <a:ext cx="4323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400" u="none" cap="none" strike="noStrike">
                <a:solidFill>
                  <a:srgbClr val="F5F5F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OBJETIVOS PARA O NEGÓCIO</a:t>
            </a:r>
            <a:endParaRPr b="0" i="0" sz="1400" u="none" cap="none" strike="noStrike">
              <a:solidFill>
                <a:srgbClr val="F5F5F5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67" name="Google Shape;167;p29"/>
          <p:cNvSpPr/>
          <p:nvPr/>
        </p:nvSpPr>
        <p:spPr>
          <a:xfrm>
            <a:off x="1441651" y="4773338"/>
            <a:ext cx="173976" cy="173961"/>
          </a:xfrm>
          <a:custGeom>
            <a:rect b="b" l="l" r="r" t="t"/>
            <a:pathLst>
              <a:path extrusionOk="0" h="247632" w="247653">
                <a:moveTo>
                  <a:pt x="178216" y="117062"/>
                </a:moveTo>
                <a:cubicBezTo>
                  <a:pt x="179074" y="117919"/>
                  <a:pt x="179836" y="118967"/>
                  <a:pt x="180312" y="120110"/>
                </a:cubicBezTo>
                <a:cubicBezTo>
                  <a:pt x="180788" y="121253"/>
                  <a:pt x="181074" y="122492"/>
                  <a:pt x="181074" y="123730"/>
                </a:cubicBezTo>
                <a:cubicBezTo>
                  <a:pt x="181074" y="124968"/>
                  <a:pt x="180788" y="126206"/>
                  <a:pt x="180312" y="127349"/>
                </a:cubicBezTo>
                <a:cubicBezTo>
                  <a:pt x="179836" y="128492"/>
                  <a:pt x="179169" y="129540"/>
                  <a:pt x="178216" y="130397"/>
                </a:cubicBezTo>
                <a:lnTo>
                  <a:pt x="140116" y="168497"/>
                </a:lnTo>
                <a:cubicBezTo>
                  <a:pt x="138307" y="170307"/>
                  <a:pt x="135925" y="171259"/>
                  <a:pt x="133354" y="171259"/>
                </a:cubicBezTo>
                <a:cubicBezTo>
                  <a:pt x="130782" y="171259"/>
                  <a:pt x="128401" y="170212"/>
                  <a:pt x="126591" y="168497"/>
                </a:cubicBezTo>
                <a:cubicBezTo>
                  <a:pt x="124781" y="166688"/>
                  <a:pt x="123829" y="164306"/>
                  <a:pt x="123829" y="161734"/>
                </a:cubicBezTo>
                <a:cubicBezTo>
                  <a:pt x="123829" y="159163"/>
                  <a:pt x="124876" y="156781"/>
                  <a:pt x="126591" y="154972"/>
                </a:cubicBezTo>
                <a:lnTo>
                  <a:pt x="148403" y="133159"/>
                </a:lnTo>
                <a:lnTo>
                  <a:pt x="76108" y="133159"/>
                </a:lnTo>
                <a:cubicBezTo>
                  <a:pt x="73537" y="133159"/>
                  <a:pt x="71155" y="132112"/>
                  <a:pt x="69346" y="130397"/>
                </a:cubicBezTo>
                <a:cubicBezTo>
                  <a:pt x="67536" y="128588"/>
                  <a:pt x="66583" y="126206"/>
                  <a:pt x="66583" y="123634"/>
                </a:cubicBezTo>
                <a:cubicBezTo>
                  <a:pt x="66583" y="121063"/>
                  <a:pt x="67631" y="118681"/>
                  <a:pt x="69346" y="116872"/>
                </a:cubicBezTo>
                <a:cubicBezTo>
                  <a:pt x="71155" y="115062"/>
                  <a:pt x="73537" y="114109"/>
                  <a:pt x="76108" y="114109"/>
                </a:cubicBezTo>
                <a:lnTo>
                  <a:pt x="148403" y="114109"/>
                </a:lnTo>
                <a:lnTo>
                  <a:pt x="126591" y="92297"/>
                </a:lnTo>
                <a:cubicBezTo>
                  <a:pt x="124781" y="90488"/>
                  <a:pt x="123829" y="88106"/>
                  <a:pt x="123829" y="85534"/>
                </a:cubicBezTo>
                <a:cubicBezTo>
                  <a:pt x="123829" y="82963"/>
                  <a:pt x="124876" y="80581"/>
                  <a:pt x="126591" y="78772"/>
                </a:cubicBezTo>
                <a:cubicBezTo>
                  <a:pt x="128401" y="76962"/>
                  <a:pt x="130782" y="76009"/>
                  <a:pt x="133354" y="76009"/>
                </a:cubicBezTo>
                <a:cubicBezTo>
                  <a:pt x="135925" y="76009"/>
                  <a:pt x="138307" y="77057"/>
                  <a:pt x="140116" y="78772"/>
                </a:cubicBezTo>
                <a:lnTo>
                  <a:pt x="178216" y="116872"/>
                </a:lnTo>
                <a:close/>
                <a:moveTo>
                  <a:pt x="123829" y="228600"/>
                </a:moveTo>
                <a:cubicBezTo>
                  <a:pt x="103064" y="228600"/>
                  <a:pt x="82871" y="222409"/>
                  <a:pt x="65631" y="210979"/>
                </a:cubicBezTo>
                <a:cubicBezTo>
                  <a:pt x="48391" y="199454"/>
                  <a:pt x="34960" y="183071"/>
                  <a:pt x="27055" y="163925"/>
                </a:cubicBezTo>
                <a:cubicBezTo>
                  <a:pt x="19149" y="144780"/>
                  <a:pt x="17053" y="123730"/>
                  <a:pt x="21054" y="103346"/>
                </a:cubicBezTo>
                <a:cubicBezTo>
                  <a:pt x="25054" y="82963"/>
                  <a:pt x="35056" y="64389"/>
                  <a:pt x="49724" y="49721"/>
                </a:cubicBezTo>
                <a:cubicBezTo>
                  <a:pt x="64393" y="35052"/>
                  <a:pt x="83062" y="25051"/>
                  <a:pt x="103350" y="21050"/>
                </a:cubicBezTo>
                <a:cubicBezTo>
                  <a:pt x="123638" y="17050"/>
                  <a:pt x="144784" y="19050"/>
                  <a:pt x="163929" y="27051"/>
                </a:cubicBezTo>
                <a:cubicBezTo>
                  <a:pt x="183074" y="34957"/>
                  <a:pt x="199457" y="48387"/>
                  <a:pt x="210982" y="65627"/>
                </a:cubicBezTo>
                <a:cubicBezTo>
                  <a:pt x="222508" y="82867"/>
                  <a:pt x="228604" y="103156"/>
                  <a:pt x="228604" y="123825"/>
                </a:cubicBezTo>
                <a:cubicBezTo>
                  <a:pt x="228604" y="151638"/>
                  <a:pt x="217555" y="178213"/>
                  <a:pt x="197838" y="197834"/>
                </a:cubicBezTo>
                <a:cubicBezTo>
                  <a:pt x="178216" y="217456"/>
                  <a:pt x="151546" y="228505"/>
                  <a:pt x="123829" y="228600"/>
                </a:cubicBezTo>
                <a:close/>
                <a:moveTo>
                  <a:pt x="123829" y="0"/>
                </a:moveTo>
                <a:cubicBezTo>
                  <a:pt x="99349" y="0"/>
                  <a:pt x="75442" y="7239"/>
                  <a:pt x="55058" y="20860"/>
                </a:cubicBezTo>
                <a:cubicBezTo>
                  <a:pt x="34675" y="34480"/>
                  <a:pt x="18863" y="53816"/>
                  <a:pt x="9433" y="76391"/>
                </a:cubicBezTo>
                <a:cubicBezTo>
                  <a:pt x="4" y="98965"/>
                  <a:pt x="-2378" y="123920"/>
                  <a:pt x="2385" y="147923"/>
                </a:cubicBezTo>
                <a:cubicBezTo>
                  <a:pt x="7147" y="171926"/>
                  <a:pt x="18958" y="194024"/>
                  <a:pt x="36294" y="211360"/>
                </a:cubicBezTo>
                <a:cubicBezTo>
                  <a:pt x="53629" y="228695"/>
                  <a:pt x="75632" y="240506"/>
                  <a:pt x="99730" y="245269"/>
                </a:cubicBezTo>
                <a:cubicBezTo>
                  <a:pt x="123733" y="250031"/>
                  <a:pt x="148689" y="247555"/>
                  <a:pt x="171263" y="238220"/>
                </a:cubicBezTo>
                <a:cubicBezTo>
                  <a:pt x="193933" y="228886"/>
                  <a:pt x="213268" y="212979"/>
                  <a:pt x="226794" y="192596"/>
                </a:cubicBezTo>
                <a:cubicBezTo>
                  <a:pt x="240415" y="172212"/>
                  <a:pt x="247654" y="148304"/>
                  <a:pt x="247654" y="123825"/>
                </a:cubicBezTo>
                <a:cubicBezTo>
                  <a:pt x="247654" y="90964"/>
                  <a:pt x="234604" y="59531"/>
                  <a:pt x="211363" y="36290"/>
                </a:cubicBezTo>
                <a:cubicBezTo>
                  <a:pt x="188122" y="13049"/>
                  <a:pt x="156690" y="0"/>
                  <a:pt x="123829" y="0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ctr" bIns="45725" lIns="91475" spcFirstLastPara="1" rIns="9147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/>
        </p:nvSpPr>
        <p:spPr>
          <a:xfrm>
            <a:off x="876884" y="1008000"/>
            <a:ext cx="5592600" cy="9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65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6000"/>
              <a:buFont typeface="Lato Black"/>
              <a:buNone/>
            </a:pPr>
            <a:r>
              <a:rPr b="0" i="0" lang="pt-BR" sz="41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Entendimento</a:t>
            </a:r>
            <a:endParaRPr b="0" i="0" sz="4100" u="none" cap="none" strike="noStrike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marR="0" rtl="0" algn="l">
              <a:lnSpc>
                <a:spcPct val="765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6000"/>
              <a:buFont typeface="Lato Black"/>
              <a:buNone/>
            </a:pPr>
            <a:r>
              <a:rPr b="0" i="0" lang="pt-BR" sz="41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da Necessidade</a:t>
            </a:r>
            <a:endParaRPr b="0" i="0" sz="4100" u="none" cap="none" strike="noStrike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73" name="Google Shape;173;p30"/>
          <p:cNvSpPr txBox="1"/>
          <p:nvPr/>
        </p:nvSpPr>
        <p:spPr>
          <a:xfrm>
            <a:off x="855059" y="2729600"/>
            <a:ext cx="7927800" cy="6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 Direcional define preço e condições comerciais ao longo de um ciclo de cerca de cinco anos por empreendimento, em que vender rápido no início antecipa o caixa via repasse da Caixa. Hoje essa decisão depende da experiência regional e de planilhas, sem medir o efeito de cada ajuste sobre vendas e margem.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Decisão por experiência</a:t>
            </a:r>
            <a:endParaRPr b="1"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Superintendentes regionais definem preço e benefícios com base em anos de prática, sem validação sistemática contra o histórico de vendas.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Dados recentes e dispersos</a:t>
            </a:r>
            <a:endParaRPr b="1"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 Data Lake começou a receber os sistemas em 2026. O histórico é sobretudo transacional, e os benefícios de lançamento ainda estão em planilhas regionais.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Modelos sem base sólida</a:t>
            </a:r>
            <a:endParaRPr b="1"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Tentativas anteriores de modelos preditivos ficaram abaixo de 60% de acurácia por terem sido aplicadas sem exploração prévia das bases.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Objetivo para o negócio:</a:t>
            </a:r>
            <a:r>
              <a:rPr lang="pt-BR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ceder margem só onde e quando ela gera velocidade de vendas, com dados confiáveis e valor provado no histórico antes de avançar para previsão e piloto.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preencoded.png" id="174" name="Google Shape;17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2000" y="9869738"/>
            <a:ext cx="610560" cy="11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30"/>
          <p:cNvSpPr txBox="1"/>
          <p:nvPr/>
        </p:nvSpPr>
        <p:spPr>
          <a:xfrm>
            <a:off x="1441647" y="9875975"/>
            <a:ext cx="1890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© </a:t>
            </a:r>
            <a:r>
              <a:rPr lang="pt-BR" sz="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2026</a:t>
            </a:r>
            <a:r>
              <a:rPr b="0" i="0" lang="pt-BR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· A3DATA CONSULTORIA S/A.</a:t>
            </a:r>
            <a:endParaRPr b="0" i="0" sz="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6" name="Google Shape;176;p30"/>
          <p:cNvSpPr txBox="1"/>
          <p:nvPr/>
        </p:nvSpPr>
        <p:spPr>
          <a:xfrm>
            <a:off x="3585947" y="9876000"/>
            <a:ext cx="2465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LOUCOS POR DADOS APAIXONADOS POR GENTE</a:t>
            </a:r>
            <a:endParaRPr b="0" i="0" sz="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7" name="Google Shape;177;p30"/>
          <p:cNvSpPr txBox="1"/>
          <p:nvPr/>
        </p:nvSpPr>
        <p:spPr>
          <a:xfrm>
            <a:off x="876884" y="2216650"/>
            <a:ext cx="6153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700" u="none" cap="none" strike="noStrike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SITUAÇÃO ATUAL</a:t>
            </a:r>
            <a:endParaRPr b="0" i="0" sz="1700" u="none" cap="none" strike="noStrike">
              <a:solidFill>
                <a:schemeClr val="dk1"/>
              </a:solidFill>
              <a:highlight>
                <a:srgbClr val="D8D8D8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78" name="Google Shape;178;p30"/>
          <p:cNvPicPr preferRelativeResize="0"/>
          <p:nvPr/>
        </p:nvPicPr>
        <p:blipFill rotWithShape="1">
          <a:blip r:embed="rId4">
            <a:alphaModFix/>
          </a:blip>
          <a:srcRect b="5226" l="34227" r="20094" t="10628"/>
          <a:stretch/>
        </p:blipFill>
        <p:spPr>
          <a:xfrm>
            <a:off x="9275125" y="3650"/>
            <a:ext cx="9012900" cy="10287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3" name="Google Shape;18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2000" y="9869738"/>
            <a:ext cx="610560" cy="11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1"/>
          <p:cNvSpPr/>
          <p:nvPr/>
        </p:nvSpPr>
        <p:spPr>
          <a:xfrm>
            <a:off x="0" y="3810000"/>
            <a:ext cx="18288000" cy="3524400"/>
          </a:xfrm>
          <a:prstGeom prst="rect">
            <a:avLst/>
          </a:prstGeom>
          <a:solidFill>
            <a:srgbClr val="B9C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31"/>
          <p:cNvSpPr txBox="1"/>
          <p:nvPr/>
        </p:nvSpPr>
        <p:spPr>
          <a:xfrm>
            <a:off x="1571626" y="361950"/>
            <a:ext cx="8572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30">
                <a:solidFill>
                  <a:srgbClr val="34343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EMPOWERING PEOPLE THROUGH DATA</a:t>
            </a:r>
            <a:endParaRPr sz="830">
              <a:solidFill>
                <a:srgbClr val="343434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86" name="Google Shape;186;p31"/>
          <p:cNvSpPr txBox="1"/>
          <p:nvPr/>
        </p:nvSpPr>
        <p:spPr>
          <a:xfrm>
            <a:off x="1571626" y="1238250"/>
            <a:ext cx="1619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latin typeface="Lato Black"/>
                <a:ea typeface="Lato Black"/>
                <a:cs typeface="Lato Black"/>
                <a:sym typeface="Lato Black"/>
              </a:rPr>
              <a:t>Contexto: Vender Rápido no Início, Sem Abrir Mão da Margem</a:t>
            </a:r>
            <a:endParaRPr sz="3600"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87" name="Google Shape;187;p31"/>
          <p:cNvSpPr txBox="1"/>
          <p:nvPr/>
        </p:nvSpPr>
        <p:spPr>
          <a:xfrm>
            <a:off x="1533526" y="98679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90">
                <a:solidFill>
                  <a:srgbClr val="34343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LOUCOS POR DADOS APAIXONADOS POR GENTE</a:t>
            </a:r>
            <a:endParaRPr sz="790">
              <a:solidFill>
                <a:srgbClr val="343434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88" name="Google Shape;188;p31"/>
          <p:cNvSpPr txBox="1"/>
          <p:nvPr/>
        </p:nvSpPr>
        <p:spPr>
          <a:xfrm>
            <a:off x="8572500" y="9848850"/>
            <a:ext cx="9048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4D4D4D"/>
                </a:solidFill>
                <a:latin typeface="Lato"/>
                <a:ea typeface="Lato"/>
                <a:cs typeface="Lato"/>
                <a:sym typeface="Lato"/>
              </a:rPr>
              <a:t>Fonte: reunião Direcional × A3Data, 21/10/2026</a:t>
            </a:r>
            <a:endParaRPr sz="1000">
              <a:solidFill>
                <a:srgbClr val="4D4D4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9" name="Google Shape;189;p31"/>
          <p:cNvSpPr/>
          <p:nvPr/>
        </p:nvSpPr>
        <p:spPr>
          <a:xfrm>
            <a:off x="1571626" y="2762250"/>
            <a:ext cx="5095800" cy="4381500"/>
          </a:xfrm>
          <a:prstGeom prst="rect">
            <a:avLst/>
          </a:prstGeom>
          <a:solidFill>
            <a:srgbClr val="003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31"/>
          <p:cNvSpPr/>
          <p:nvPr/>
        </p:nvSpPr>
        <p:spPr>
          <a:xfrm>
            <a:off x="1571625" y="2809875"/>
            <a:ext cx="5095800" cy="529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1"/>
          <p:cNvSpPr txBox="1"/>
          <p:nvPr/>
        </p:nvSpPr>
        <p:spPr>
          <a:xfrm>
            <a:off x="1895474" y="308610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rgbClr val="0033FF"/>
                </a:solidFill>
                <a:latin typeface="Lato Black"/>
                <a:ea typeface="Lato Black"/>
                <a:cs typeface="Lato Black"/>
                <a:sym typeface="Lato Black"/>
              </a:rPr>
              <a:t>01</a:t>
            </a:r>
            <a:endParaRPr sz="2600">
              <a:solidFill>
                <a:srgbClr val="0033FF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92" name="Google Shape;192;p31"/>
          <p:cNvSpPr txBox="1"/>
          <p:nvPr/>
        </p:nvSpPr>
        <p:spPr>
          <a:xfrm>
            <a:off x="1895474" y="3619500"/>
            <a:ext cx="44481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80">
                <a:solidFill>
                  <a:srgbClr val="001863"/>
                </a:solidFill>
                <a:latin typeface="Lato"/>
                <a:ea typeface="Lato"/>
                <a:cs typeface="Lato"/>
                <a:sym typeface="Lato"/>
              </a:rPr>
              <a:t>O CICLO</a:t>
            </a:r>
            <a:endParaRPr b="1" sz="980">
              <a:solidFill>
                <a:srgbClr val="00186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3" name="Google Shape;193;p31"/>
          <p:cNvSpPr txBox="1"/>
          <p:nvPr/>
        </p:nvSpPr>
        <p:spPr>
          <a:xfrm>
            <a:off x="1895474" y="3867150"/>
            <a:ext cx="44481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rgbClr val="1A1A1A"/>
                </a:solidFill>
                <a:latin typeface="Lato Black"/>
                <a:ea typeface="Lato Black"/>
                <a:cs typeface="Lato Black"/>
                <a:sym typeface="Lato Black"/>
              </a:rPr>
              <a:t>Cinco anos para performar</a:t>
            </a:r>
            <a:endParaRPr sz="2200">
              <a:solidFill>
                <a:srgbClr val="1A1A1A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94" name="Google Shape;194;p31"/>
          <p:cNvSpPr/>
          <p:nvPr/>
        </p:nvSpPr>
        <p:spPr>
          <a:xfrm>
            <a:off x="7048500" y="2762250"/>
            <a:ext cx="5095800" cy="4381500"/>
          </a:xfrm>
          <a:prstGeom prst="rect">
            <a:avLst/>
          </a:prstGeom>
          <a:solidFill>
            <a:srgbClr val="003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31"/>
          <p:cNvSpPr/>
          <p:nvPr/>
        </p:nvSpPr>
        <p:spPr>
          <a:xfrm>
            <a:off x="7048500" y="2809875"/>
            <a:ext cx="5095800" cy="529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1"/>
          <p:cNvSpPr txBox="1"/>
          <p:nvPr/>
        </p:nvSpPr>
        <p:spPr>
          <a:xfrm>
            <a:off x="7372350" y="308610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rgbClr val="0033FF"/>
                </a:solidFill>
                <a:latin typeface="Lato Black"/>
                <a:ea typeface="Lato Black"/>
                <a:cs typeface="Lato Black"/>
                <a:sym typeface="Lato Black"/>
              </a:rPr>
              <a:t>02</a:t>
            </a:r>
            <a:endParaRPr sz="2600">
              <a:solidFill>
                <a:srgbClr val="0033FF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97" name="Google Shape;197;p31"/>
          <p:cNvSpPr txBox="1"/>
          <p:nvPr/>
        </p:nvSpPr>
        <p:spPr>
          <a:xfrm>
            <a:off x="7372350" y="3619500"/>
            <a:ext cx="44481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80">
                <a:solidFill>
                  <a:srgbClr val="001863"/>
                </a:solidFill>
                <a:latin typeface="Lato"/>
                <a:ea typeface="Lato"/>
                <a:cs typeface="Lato"/>
                <a:sym typeface="Lato"/>
              </a:rPr>
              <a:t>COMO SE DECIDE HOJE</a:t>
            </a:r>
            <a:endParaRPr b="1" sz="980">
              <a:solidFill>
                <a:srgbClr val="00186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8" name="Google Shape;198;p31"/>
          <p:cNvSpPr txBox="1"/>
          <p:nvPr/>
        </p:nvSpPr>
        <p:spPr>
          <a:xfrm>
            <a:off x="7372350" y="3867150"/>
            <a:ext cx="44481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rgbClr val="1A1A1A"/>
                </a:solidFill>
                <a:latin typeface="Lato Black"/>
                <a:ea typeface="Lato Black"/>
                <a:cs typeface="Lato Black"/>
                <a:sym typeface="Lato Black"/>
              </a:rPr>
              <a:t>Experiência regional</a:t>
            </a:r>
            <a:endParaRPr sz="2200">
              <a:solidFill>
                <a:srgbClr val="1A1A1A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99" name="Google Shape;199;p31"/>
          <p:cNvSpPr txBox="1"/>
          <p:nvPr/>
        </p:nvSpPr>
        <p:spPr>
          <a:xfrm>
            <a:off x="7372350" y="4714876"/>
            <a:ext cx="4448100" cy="23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✓  </a:t>
            </a:r>
            <a:r>
              <a:rPr lang="pt-BR" sz="16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Superintendentes regionais definem preço e benefícios pela experiência acumulada</a:t>
            </a:r>
            <a:endParaRPr sz="16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9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✓  </a:t>
            </a:r>
            <a:r>
              <a:rPr lang="pt-BR" sz="16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Benefícios e condições de lançamento ficam em planilhas regionais</a:t>
            </a:r>
            <a:endParaRPr sz="16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9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✓  </a:t>
            </a:r>
            <a:r>
              <a:rPr lang="pt-BR" sz="16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O efeito de cada decisão de preço sobre vendas e margem não é medido</a:t>
            </a:r>
            <a:endParaRPr sz="16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0" name="Google Shape;200;p31"/>
          <p:cNvSpPr/>
          <p:nvPr/>
        </p:nvSpPr>
        <p:spPr>
          <a:xfrm>
            <a:off x="12525376" y="2762250"/>
            <a:ext cx="5095800" cy="4381500"/>
          </a:xfrm>
          <a:prstGeom prst="rect">
            <a:avLst/>
          </a:prstGeom>
          <a:solidFill>
            <a:srgbClr val="003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1"/>
          <p:cNvSpPr/>
          <p:nvPr/>
        </p:nvSpPr>
        <p:spPr>
          <a:xfrm>
            <a:off x="12525375" y="2809875"/>
            <a:ext cx="5095800" cy="529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1"/>
          <p:cNvSpPr txBox="1"/>
          <p:nvPr/>
        </p:nvSpPr>
        <p:spPr>
          <a:xfrm>
            <a:off x="12849224" y="308610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rgbClr val="0033FF"/>
                </a:solidFill>
                <a:latin typeface="Lato Black"/>
                <a:ea typeface="Lato Black"/>
                <a:cs typeface="Lato Black"/>
                <a:sym typeface="Lato Black"/>
              </a:rPr>
              <a:t>03</a:t>
            </a:r>
            <a:endParaRPr sz="2600">
              <a:solidFill>
                <a:srgbClr val="0033FF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203" name="Google Shape;203;p31"/>
          <p:cNvSpPr txBox="1"/>
          <p:nvPr/>
        </p:nvSpPr>
        <p:spPr>
          <a:xfrm>
            <a:off x="12849224" y="3619500"/>
            <a:ext cx="44481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80">
                <a:solidFill>
                  <a:srgbClr val="001863"/>
                </a:solidFill>
                <a:latin typeface="Lato"/>
                <a:ea typeface="Lato"/>
                <a:cs typeface="Lato"/>
                <a:sym typeface="Lato"/>
              </a:rPr>
              <a:t>O QUE ESTÁ EM JOGO</a:t>
            </a:r>
            <a:endParaRPr b="1" sz="980">
              <a:solidFill>
                <a:srgbClr val="00186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4" name="Google Shape;204;p31"/>
          <p:cNvSpPr txBox="1"/>
          <p:nvPr/>
        </p:nvSpPr>
        <p:spPr>
          <a:xfrm>
            <a:off x="12849224" y="3867150"/>
            <a:ext cx="44481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rgbClr val="1A1A1A"/>
                </a:solidFill>
                <a:latin typeface="Lato Black"/>
                <a:ea typeface="Lato Black"/>
                <a:cs typeface="Lato Black"/>
                <a:sym typeface="Lato Black"/>
              </a:rPr>
              <a:t>Cada ponto de margem conta</a:t>
            </a:r>
            <a:endParaRPr sz="2200">
              <a:solidFill>
                <a:srgbClr val="1A1A1A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205" name="Google Shape;205;p31"/>
          <p:cNvSpPr txBox="1"/>
          <p:nvPr/>
        </p:nvSpPr>
        <p:spPr>
          <a:xfrm>
            <a:off x="12849224" y="4714876"/>
            <a:ext cx="4448100" cy="23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✓  </a:t>
            </a:r>
            <a:r>
              <a:rPr lang="pt-BR" sz="16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Todo desconto ou benefício concedido sai direto da margem do empreendimento</a:t>
            </a:r>
            <a:endParaRPr sz="16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9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✓  </a:t>
            </a:r>
            <a:r>
              <a:rPr lang="pt-BR" sz="16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Sem medir o histórico, não se sabe quanto do desconto foi necessário para vender</a:t>
            </a:r>
            <a:endParaRPr sz="16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9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✓  </a:t>
            </a:r>
            <a:r>
              <a:rPr lang="pt-BR" sz="16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O objetivo é ceder margem só onde e quando ela gera velocidade de vendas</a:t>
            </a:r>
            <a:endParaRPr sz="16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6" name="Google Shape;206;p31"/>
          <p:cNvSpPr txBox="1"/>
          <p:nvPr/>
        </p:nvSpPr>
        <p:spPr>
          <a:xfrm>
            <a:off x="1895474" y="4714876"/>
            <a:ext cx="4448100" cy="23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✓  </a:t>
            </a:r>
            <a:r>
              <a:rPr lang="pt-BR" sz="16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Cada empreendimento tem um ciclo de vida de cerca de 5 anos</a:t>
            </a:r>
            <a:endParaRPr sz="16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9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✓  </a:t>
            </a:r>
            <a:r>
              <a:rPr lang="pt-BR" sz="16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Quanto mais se vende no início, mais cedo o repasse da Caixa entra no caixa</a:t>
            </a:r>
            <a:endParaRPr sz="16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9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✓  </a:t>
            </a:r>
            <a:r>
              <a:rPr lang="pt-BR" sz="16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A velocidade de vendas é o que define o fluxo de caixa do empreendimento</a:t>
            </a:r>
            <a:endParaRPr sz="16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2"/>
          <p:cNvSpPr/>
          <p:nvPr/>
        </p:nvSpPr>
        <p:spPr>
          <a:xfrm>
            <a:off x="0" y="3810000"/>
            <a:ext cx="18288000" cy="3524250"/>
          </a:xfrm>
          <a:prstGeom prst="rect">
            <a:avLst/>
          </a:prstGeom>
          <a:solidFill>
            <a:srgbClr val="B9C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32"/>
          <p:cNvSpPr txBox="1"/>
          <p:nvPr/>
        </p:nvSpPr>
        <p:spPr>
          <a:xfrm>
            <a:off x="1571625" y="361950"/>
            <a:ext cx="857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pt-BR" sz="825" u="none" cap="none" strike="noStrike">
                <a:solidFill>
                  <a:srgbClr val="34343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EMPOWERING PEOPLE THROUGH DATA</a:t>
            </a:r>
            <a:endParaRPr b="0" i="0" sz="8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32"/>
          <p:cNvSpPr txBox="1"/>
          <p:nvPr/>
        </p:nvSpPr>
        <p:spPr>
          <a:xfrm>
            <a:off x="1571625" y="1238250"/>
            <a:ext cx="1619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6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Contexto</a:t>
            </a:r>
            <a:endParaRPr/>
          </a:p>
        </p:txBody>
      </p:sp>
      <p:pic>
        <p:nvPicPr>
          <p:cNvPr descr="/tmp/claude-0/-home-claude/13ae847d-f382-5450-9da1-84664dc5272b/scratchpad/deck/assets/logo-a3data.png" id="214" name="Google Shape;21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050" y="9877425"/>
            <a:ext cx="838200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2"/>
          <p:cNvSpPr txBox="1"/>
          <p:nvPr/>
        </p:nvSpPr>
        <p:spPr>
          <a:xfrm>
            <a:off x="1533525" y="98679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Arial"/>
              <a:buNone/>
            </a:pPr>
            <a:r>
              <a:rPr b="0" i="0" lang="pt-BR" sz="788" u="none" cap="none" strike="noStrike">
                <a:solidFill>
                  <a:srgbClr val="34343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LOUCOS POR DADOS APAIXONADOS POR GENTE</a:t>
            </a:r>
            <a:endParaRPr b="0" i="0" sz="78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32"/>
          <p:cNvSpPr txBox="1"/>
          <p:nvPr/>
        </p:nvSpPr>
        <p:spPr>
          <a:xfrm>
            <a:off x="8572500" y="9848850"/>
            <a:ext cx="9048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r>
              <a:rPr b="0" i="0" lang="pt-BR" sz="1013" u="none" cap="none" strike="noStrike">
                <a:solidFill>
                  <a:srgbClr val="4D4D4D"/>
                </a:solidFill>
                <a:latin typeface="Lato"/>
                <a:ea typeface="Lato"/>
                <a:cs typeface="Lato"/>
                <a:sym typeface="Lato"/>
              </a:rPr>
              <a:t>Fonte: reunião Direcional × A3Data, 21/10/2026</a:t>
            </a:r>
            <a:endParaRPr b="0" i="0" sz="101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32"/>
          <p:cNvSpPr/>
          <p:nvPr/>
        </p:nvSpPr>
        <p:spPr>
          <a:xfrm>
            <a:off x="1571625" y="2762250"/>
            <a:ext cx="5095875" cy="4381500"/>
          </a:xfrm>
          <a:prstGeom prst="roundRect">
            <a:avLst>
              <a:gd fmla="val 3043" name="adj"/>
            </a:avLst>
          </a:prstGeom>
          <a:solidFill>
            <a:srgbClr val="0033FF"/>
          </a:solidFill>
          <a:ln>
            <a:noFill/>
          </a:ln>
          <a:effectLst>
            <a:outerShdw blurRad="101600" rotWithShape="0" algn="bl" dir="5400000" dist="1905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32"/>
          <p:cNvSpPr/>
          <p:nvPr/>
        </p:nvSpPr>
        <p:spPr>
          <a:xfrm>
            <a:off x="1571625" y="2809875"/>
            <a:ext cx="5095875" cy="4333875"/>
          </a:xfrm>
          <a:prstGeom prst="roundRect">
            <a:avLst>
              <a:gd fmla="val 307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32"/>
          <p:cNvSpPr txBox="1"/>
          <p:nvPr/>
        </p:nvSpPr>
        <p:spPr>
          <a:xfrm>
            <a:off x="1895475" y="308610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pt-BR" sz="2550" u="none" cap="none" strike="noStrike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01</a:t>
            </a:r>
            <a:endParaRPr b="0" i="0" sz="2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32"/>
          <p:cNvSpPr txBox="1"/>
          <p:nvPr/>
        </p:nvSpPr>
        <p:spPr>
          <a:xfrm>
            <a:off x="1895475" y="3619500"/>
            <a:ext cx="44481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pt-BR" sz="975" u="none" cap="none" strike="noStrike">
                <a:solidFill>
                  <a:srgbClr val="001863"/>
                </a:solidFill>
                <a:latin typeface="Lato"/>
                <a:ea typeface="Lato"/>
                <a:cs typeface="Lato"/>
                <a:sym typeface="Lato"/>
              </a:rPr>
              <a:t>O QUE JÁ EXISTE</a:t>
            </a:r>
            <a:endParaRPr b="0" i="0" sz="9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32"/>
          <p:cNvSpPr txBox="1"/>
          <p:nvPr/>
        </p:nvSpPr>
        <p:spPr>
          <a:xfrm>
            <a:off x="1895475" y="3867150"/>
            <a:ext cx="4448175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5"/>
              <a:buFont typeface="Arial"/>
              <a:buNone/>
            </a:pPr>
            <a:r>
              <a:rPr b="1" i="0" lang="pt-BR" sz="2175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Data Lake na AWS em formação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2"/>
          <p:cNvSpPr txBox="1"/>
          <p:nvPr/>
        </p:nvSpPr>
        <p:spPr>
          <a:xfrm>
            <a:off x="1895475" y="4714875"/>
            <a:ext cx="4448175" cy="2381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1" i="0" lang="pt-BR" sz="1575" u="none" cap="none" strike="noStrike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✓  </a:t>
            </a:r>
            <a:r>
              <a:rPr b="0" i="0" lang="pt-BR" sz="1575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Ingestão dos sistemas iniciada em 2026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1" i="0" lang="pt-BR" sz="1575" u="none" cap="none" strike="noStrike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✓  </a:t>
            </a:r>
            <a:r>
              <a:rPr b="0" i="0" lang="pt-BR" sz="1575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Salesforce com leads de campanhas e estandes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1" i="0" lang="pt-BR" sz="1575" u="none" cap="none" strike="noStrike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✓  </a:t>
            </a:r>
            <a:r>
              <a:rPr b="0" i="0" lang="pt-BR" sz="1575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ERP de vendas, marcos de engenharia e </a:t>
            </a:r>
            <a:r>
              <a:rPr lang="pt-BR" sz="1575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SAP (documentação</a:t>
            </a:r>
            <a:r>
              <a:rPr b="0" i="0" lang="pt-BR" sz="1575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 e crédito)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2"/>
          <p:cNvSpPr/>
          <p:nvPr/>
        </p:nvSpPr>
        <p:spPr>
          <a:xfrm>
            <a:off x="7048500" y="2762250"/>
            <a:ext cx="5095875" cy="4381500"/>
          </a:xfrm>
          <a:prstGeom prst="roundRect">
            <a:avLst>
              <a:gd fmla="val 3043" name="adj"/>
            </a:avLst>
          </a:prstGeom>
          <a:solidFill>
            <a:srgbClr val="0033FF"/>
          </a:solidFill>
          <a:ln>
            <a:noFill/>
          </a:ln>
          <a:effectLst>
            <a:outerShdw blurRad="101600" rotWithShape="0" algn="bl" dir="5400000" dist="1905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2"/>
          <p:cNvSpPr/>
          <p:nvPr/>
        </p:nvSpPr>
        <p:spPr>
          <a:xfrm>
            <a:off x="7048500" y="2809875"/>
            <a:ext cx="5095875" cy="4333875"/>
          </a:xfrm>
          <a:prstGeom prst="roundRect">
            <a:avLst>
              <a:gd fmla="val 307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32"/>
          <p:cNvSpPr txBox="1"/>
          <p:nvPr/>
        </p:nvSpPr>
        <p:spPr>
          <a:xfrm>
            <a:off x="7372350" y="308610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pt-BR" sz="2550" u="none" cap="none" strike="noStrike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02</a:t>
            </a:r>
            <a:endParaRPr b="0" i="0" sz="2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2"/>
          <p:cNvSpPr txBox="1"/>
          <p:nvPr/>
        </p:nvSpPr>
        <p:spPr>
          <a:xfrm>
            <a:off x="7372350" y="3619500"/>
            <a:ext cx="44481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pt-BR" sz="975" u="none" cap="none" strike="noStrike">
                <a:solidFill>
                  <a:srgbClr val="001863"/>
                </a:solidFill>
                <a:latin typeface="Lato"/>
                <a:ea typeface="Lato"/>
                <a:cs typeface="Lato"/>
                <a:sym typeface="Lato"/>
              </a:rPr>
              <a:t>EM ANDAMENTO</a:t>
            </a:r>
            <a:endParaRPr b="0" i="0" sz="9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32"/>
          <p:cNvSpPr txBox="1"/>
          <p:nvPr/>
        </p:nvSpPr>
        <p:spPr>
          <a:xfrm>
            <a:off x="7372350" y="3867150"/>
            <a:ext cx="4448175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5"/>
              <a:buFont typeface="Arial"/>
              <a:buNone/>
            </a:pPr>
            <a:r>
              <a:rPr b="1" i="0" lang="pt-BR" sz="2175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Iniciativas internas da Direcional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32"/>
          <p:cNvSpPr txBox="1"/>
          <p:nvPr/>
        </p:nvSpPr>
        <p:spPr>
          <a:xfrm>
            <a:off x="7372350" y="4714875"/>
            <a:ext cx="4448175" cy="2381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1" i="0" lang="pt-BR" sz="1575" u="none" cap="none" strike="noStrike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✓  </a:t>
            </a:r>
            <a:r>
              <a:rPr b="0" i="0" lang="pt-BR" sz="1575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Painel que substitui o Excel consolidado pelas áreas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1" i="0" lang="pt-BR" sz="1575" u="none" cap="none" strike="noStrike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✓  </a:t>
            </a:r>
            <a:r>
              <a:rPr b="0" i="0" lang="pt-BR" sz="1575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Modelos internos de inadimplência e de distrato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1" i="0" lang="pt-BR" sz="1575" u="none" cap="none" strike="noStrike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✓  </a:t>
            </a:r>
            <a:r>
              <a:rPr b="0" i="0" lang="pt-BR" sz="1575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Benefícios de lançamento ainda em planilhas regionais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32"/>
          <p:cNvSpPr/>
          <p:nvPr/>
        </p:nvSpPr>
        <p:spPr>
          <a:xfrm>
            <a:off x="12525375" y="2762250"/>
            <a:ext cx="5095875" cy="4381500"/>
          </a:xfrm>
          <a:prstGeom prst="roundRect">
            <a:avLst>
              <a:gd fmla="val 3043" name="adj"/>
            </a:avLst>
          </a:prstGeom>
          <a:solidFill>
            <a:srgbClr val="8A8A8A"/>
          </a:solidFill>
          <a:ln>
            <a:noFill/>
          </a:ln>
          <a:effectLst>
            <a:outerShdw blurRad="101600" rotWithShape="0" algn="bl" dir="5400000" dist="1905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2"/>
          <p:cNvSpPr/>
          <p:nvPr/>
        </p:nvSpPr>
        <p:spPr>
          <a:xfrm>
            <a:off x="12525375" y="2809875"/>
            <a:ext cx="5095875" cy="4333875"/>
          </a:xfrm>
          <a:prstGeom prst="roundRect">
            <a:avLst>
              <a:gd fmla="val 307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32"/>
          <p:cNvSpPr txBox="1"/>
          <p:nvPr/>
        </p:nvSpPr>
        <p:spPr>
          <a:xfrm>
            <a:off x="12849225" y="308610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pt-BR" sz="2550" u="none" cap="none" strike="noStrike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03</a:t>
            </a:r>
            <a:endParaRPr b="0" i="0" sz="2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2"/>
          <p:cNvSpPr txBox="1"/>
          <p:nvPr/>
        </p:nvSpPr>
        <p:spPr>
          <a:xfrm>
            <a:off x="12849225" y="3619500"/>
            <a:ext cx="44481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pt-BR" sz="975" u="none" cap="none" strike="noStrike">
                <a:solidFill>
                  <a:srgbClr val="001863"/>
                </a:solidFill>
                <a:latin typeface="Lato"/>
                <a:ea typeface="Lato"/>
                <a:cs typeface="Lato"/>
                <a:sym typeface="Lato"/>
              </a:rPr>
              <a:t>O QUE APRENDEMOS</a:t>
            </a:r>
            <a:endParaRPr b="0" i="0" sz="9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2"/>
          <p:cNvSpPr txBox="1"/>
          <p:nvPr/>
        </p:nvSpPr>
        <p:spPr>
          <a:xfrm>
            <a:off x="12849225" y="3867150"/>
            <a:ext cx="4448175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5"/>
              <a:buFont typeface="Arial"/>
              <a:buNone/>
            </a:pPr>
            <a:r>
              <a:rPr b="1" i="0" lang="pt-BR" sz="2175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Modelar antes de explorar não funciona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2"/>
          <p:cNvSpPr txBox="1"/>
          <p:nvPr/>
        </p:nvSpPr>
        <p:spPr>
          <a:xfrm>
            <a:off x="12849225" y="4714875"/>
            <a:ext cx="4448175" cy="2381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1" i="0" lang="pt-BR" sz="1575" u="none" cap="none" strike="noStrike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✓  </a:t>
            </a:r>
            <a:r>
              <a:rPr b="0" i="0" lang="pt-BR" sz="1575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Tentativas anteriores ficaram abaixo de 60% de acurácia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1" i="0" lang="pt-BR" sz="1575" u="none" cap="none" strike="noStrike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✓  </a:t>
            </a:r>
            <a:r>
              <a:rPr b="0" i="0" lang="pt-BR" sz="1575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Causa: modelos aplicados direto nas bases, sem exploração prévia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1" i="0" lang="pt-BR" sz="1575" u="none" cap="none" strike="noStrike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✓  </a:t>
            </a:r>
            <a:r>
              <a:rPr b="0" i="0" lang="pt-BR" sz="1575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Histórico é retrato mensal, sem trilha de alteração por unidade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2"/>
          <p:cNvSpPr/>
          <p:nvPr/>
        </p:nvSpPr>
        <p:spPr>
          <a:xfrm>
            <a:off x="1571625" y="7524750"/>
            <a:ext cx="16049625" cy="1905000"/>
          </a:xfrm>
          <a:prstGeom prst="roundRect">
            <a:avLst>
              <a:gd fmla="val 7000" name="adj"/>
            </a:avLst>
          </a:prstGeom>
          <a:solidFill>
            <a:srgbClr val="1A1A1A"/>
          </a:solidFill>
          <a:ln>
            <a:noFill/>
          </a:ln>
          <a:effectLst>
            <a:outerShdw blurRad="101600" rotWithShape="0" algn="bl" dir="5400000" dist="1905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2"/>
          <p:cNvSpPr txBox="1"/>
          <p:nvPr/>
        </p:nvSpPr>
        <p:spPr>
          <a:xfrm>
            <a:off x="1895475" y="7791450"/>
            <a:ext cx="4191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pt-BR" sz="975" u="none" cap="none" strike="noStrike">
                <a:solidFill>
                  <a:srgbClr val="B9C4FF"/>
                </a:solidFill>
                <a:latin typeface="Lato"/>
                <a:ea typeface="Lato"/>
                <a:cs typeface="Lato"/>
                <a:sym typeface="Lato"/>
              </a:rPr>
              <a:t>NOSSA LEITURA</a:t>
            </a:r>
            <a:endParaRPr b="0" i="0" sz="9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32"/>
          <p:cNvSpPr txBox="1"/>
          <p:nvPr/>
        </p:nvSpPr>
        <p:spPr>
          <a:xfrm>
            <a:off x="1895475" y="8039100"/>
            <a:ext cx="41910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pt-BR" sz="1875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Por isso a proposta começa pelo dado, e não pelo modelo</a:t>
            </a:r>
            <a:endParaRPr b="0" i="0" sz="18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32"/>
          <p:cNvSpPr/>
          <p:nvPr/>
        </p:nvSpPr>
        <p:spPr>
          <a:xfrm>
            <a:off x="6334125" y="7772400"/>
            <a:ext cx="23812" cy="14097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2"/>
          <p:cNvSpPr txBox="1"/>
          <p:nvPr/>
        </p:nvSpPr>
        <p:spPr>
          <a:xfrm>
            <a:off x="6715125" y="7791450"/>
            <a:ext cx="32861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pt-BR" sz="2700" u="none" cap="none" strike="noStrike">
                <a:solidFill>
                  <a:srgbClr val="B9C4FF"/>
                </a:solidFill>
                <a:latin typeface="Lato"/>
                <a:ea typeface="Lato"/>
                <a:cs typeface="Lato"/>
                <a:sym typeface="Lato"/>
              </a:rPr>
              <a:t>Explorar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2"/>
          <p:cNvSpPr txBox="1"/>
          <p:nvPr/>
        </p:nvSpPr>
        <p:spPr>
          <a:xfrm>
            <a:off x="6715125" y="8286750"/>
            <a:ext cx="3286125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8"/>
              <a:buFont typeface="Arial"/>
              <a:buNone/>
            </a:pPr>
            <a:r>
              <a:rPr b="0" i="0" lang="pt-BR" sz="1388" u="none" cap="none" strike="noStrike">
                <a:solidFill>
                  <a:srgbClr val="D8D8D8"/>
                </a:solidFill>
                <a:latin typeface="Lato"/>
                <a:ea typeface="Lato"/>
                <a:cs typeface="Lato"/>
                <a:sym typeface="Lato"/>
              </a:rPr>
              <a:t>qualidade, cobertura e profundidade de cada base</a:t>
            </a:r>
            <a:endParaRPr b="0" i="0" sz="138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32"/>
          <p:cNvSpPr txBox="1"/>
          <p:nvPr/>
        </p:nvSpPr>
        <p:spPr>
          <a:xfrm>
            <a:off x="10287000" y="7791450"/>
            <a:ext cx="32861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pt-BR" sz="2700" u="none" cap="none" strike="noStrike">
                <a:solidFill>
                  <a:srgbClr val="B9C4FF"/>
                </a:solidFill>
                <a:latin typeface="Lato"/>
                <a:ea typeface="Lato"/>
                <a:cs typeface="Lato"/>
                <a:sym typeface="Lato"/>
              </a:rPr>
              <a:t>Validar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32"/>
          <p:cNvSpPr txBox="1"/>
          <p:nvPr/>
        </p:nvSpPr>
        <p:spPr>
          <a:xfrm>
            <a:off x="10287000" y="8286750"/>
            <a:ext cx="3286125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8"/>
              <a:buFont typeface="Arial"/>
              <a:buNone/>
            </a:pPr>
            <a:r>
              <a:rPr b="0" i="0" lang="pt-BR" sz="1388" u="none" cap="none" strike="noStrike">
                <a:solidFill>
                  <a:srgbClr val="D8D8D8"/>
                </a:solidFill>
                <a:latin typeface="Lato"/>
                <a:ea typeface="Lato"/>
                <a:cs typeface="Lato"/>
                <a:sym typeface="Lato"/>
              </a:rPr>
              <a:t>quais perguntas de negócio o histórico consegue responder</a:t>
            </a:r>
            <a:endParaRPr b="0" i="0" sz="138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32"/>
          <p:cNvSpPr txBox="1"/>
          <p:nvPr/>
        </p:nvSpPr>
        <p:spPr>
          <a:xfrm>
            <a:off x="13858875" y="7791450"/>
            <a:ext cx="32861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pt-BR" sz="2700" u="none" cap="none" strike="noStrike">
                <a:solidFill>
                  <a:srgbClr val="B9C4FF"/>
                </a:solidFill>
                <a:latin typeface="Lato"/>
                <a:ea typeface="Lato"/>
                <a:cs typeface="Lato"/>
                <a:sym typeface="Lato"/>
              </a:rPr>
              <a:t>Provar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32"/>
          <p:cNvSpPr txBox="1"/>
          <p:nvPr/>
        </p:nvSpPr>
        <p:spPr>
          <a:xfrm>
            <a:off x="13858875" y="8286750"/>
            <a:ext cx="3286125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8"/>
              <a:buFont typeface="Arial"/>
              <a:buNone/>
            </a:pPr>
            <a:r>
              <a:rPr b="0" i="0" lang="pt-BR" sz="1388" u="none" cap="none" strike="noStrike">
                <a:solidFill>
                  <a:srgbClr val="D8D8D8"/>
                </a:solidFill>
                <a:latin typeface="Lato"/>
                <a:ea typeface="Lato"/>
                <a:cs typeface="Lato"/>
                <a:sym typeface="Lato"/>
              </a:rPr>
              <a:t>valor em empreendimentos já lançados, antes do futuro</a:t>
            </a:r>
            <a:endParaRPr b="0" i="0" sz="138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3"/>
          <p:cNvSpPr txBox="1"/>
          <p:nvPr/>
        </p:nvSpPr>
        <p:spPr>
          <a:xfrm>
            <a:off x="1571625" y="361950"/>
            <a:ext cx="857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pt-BR" sz="825" u="none" cap="none" strike="noStrike">
                <a:solidFill>
                  <a:srgbClr val="34343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EMPOWERING PEOPLE THROUGH DATA</a:t>
            </a:r>
            <a:endParaRPr b="0" i="0" sz="8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33"/>
          <p:cNvSpPr txBox="1"/>
          <p:nvPr/>
        </p:nvSpPr>
        <p:spPr>
          <a:xfrm>
            <a:off x="1571625" y="1238250"/>
            <a:ext cx="1619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Perguntas de Negócio: O Que a Direcional Quer Responder com Dados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tmp/claude-0/-home-claude/13ae847d-f382-5450-9da1-84664dc5272b/scratchpad/deck/assets/logo-a3data.png" id="251" name="Google Shape;25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050" y="9877425"/>
            <a:ext cx="838200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3"/>
          <p:cNvSpPr txBox="1"/>
          <p:nvPr/>
        </p:nvSpPr>
        <p:spPr>
          <a:xfrm>
            <a:off x="1533525" y="98679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Arial"/>
              <a:buNone/>
            </a:pPr>
            <a:r>
              <a:rPr b="0" i="0" lang="pt-BR" sz="788" u="none" cap="none" strike="noStrike">
                <a:solidFill>
                  <a:srgbClr val="34343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LOUCOS POR DADOS APAIXONADOS POR GENTE</a:t>
            </a:r>
            <a:endParaRPr b="0" i="0" sz="78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3" name="Google Shape;253;p33"/>
          <p:cNvGraphicFramePr/>
          <p:nvPr/>
        </p:nvGraphicFramePr>
        <p:xfrm>
          <a:off x="1571625" y="2762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{E140436C-0A80-415A-A230-E58032394CD3}</a:tableStyleId>
              </a:tblPr>
              <a:tblGrid>
                <a:gridCol w="762000"/>
                <a:gridCol w="5715000"/>
                <a:gridCol w="5334000"/>
                <a:gridCol w="1619250"/>
                <a:gridCol w="1285875"/>
                <a:gridCol w="1333500"/>
              </a:tblGrid>
              <a:tr h="80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pt-BR" sz="1350" u="none" cap="none" strike="noStrike">
                          <a:solidFill>
                            <a:srgbClr val="00186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#</a:t>
                      </a:r>
                      <a:endParaRPr sz="135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9C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pt-BR" sz="1350" u="none" cap="none" strike="noStrike">
                          <a:solidFill>
                            <a:srgbClr val="00186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Pergunta de negócio</a:t>
                      </a:r>
                      <a:endParaRPr sz="135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9C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pt-BR" sz="1350" u="none" cap="none" strike="noStrike">
                          <a:solidFill>
                            <a:srgbClr val="00186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Por que importa</a:t>
                      </a:r>
                      <a:endParaRPr sz="135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9C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pt-BR" sz="1350" u="none" cap="none" strike="noStrike">
                          <a:solidFill>
                            <a:srgbClr val="00186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Assessment</a:t>
                      </a:r>
                      <a:endParaRPr sz="135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9C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pt-BR" sz="1350" u="none" cap="none" strike="noStrike">
                          <a:solidFill>
                            <a:srgbClr val="00186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POC</a:t>
                      </a:r>
                      <a:endParaRPr sz="135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9C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pt-BR" sz="1350" u="none" cap="none" strike="noStrike">
                          <a:solidFill>
                            <a:srgbClr val="00186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Roadmap</a:t>
                      </a:r>
                      <a:endParaRPr sz="135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9C4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1" lang="pt-BR" sz="1425" u="none" cap="none" strike="noStrike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01</a:t>
                      </a:r>
                      <a:endParaRPr sz="1425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lang="pt-BR" sz="1425">
                          <a:latin typeface="Lato"/>
                          <a:ea typeface="Lato"/>
                          <a:cs typeface="Lato"/>
                          <a:sym typeface="Lato"/>
                        </a:rPr>
                        <a:t>Qual é a expectativa de vendas mensais, em unidades, para os próximos 12 meses?</a:t>
                      </a:r>
                      <a:endParaRPr sz="1425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lang="pt-BR" sz="1425">
                          <a:latin typeface="Lato"/>
                          <a:ea typeface="Lato"/>
                          <a:cs typeface="Lato"/>
                          <a:sym typeface="Lato"/>
                        </a:rPr>
                        <a:t>Planejamento de caixa e de estoque com visão de futuro</a:t>
                      </a:r>
                      <a:endParaRPr sz="1425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1" lang="pt-BR" sz="1425" u="none" cap="none" strike="noStrike">
                          <a:solidFill>
                            <a:srgbClr val="00186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Viabilidade</a:t>
                      </a:r>
                      <a:endParaRPr sz="1425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t/>
                      </a:r>
                      <a:endParaRPr sz="1425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1" lang="pt-BR" sz="1430">
                          <a:solidFill>
                            <a:srgbClr val="00186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●</a:t>
                      </a:r>
                      <a:endParaRPr b="1" sz="1430" u="none" cap="none" strike="noStrike">
                        <a:solidFill>
                          <a:srgbClr val="001863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1" lang="pt-BR" sz="1425" u="none" cap="none" strike="noStrike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02</a:t>
                      </a:r>
                      <a:endParaRPr sz="1425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lang="pt-BR" sz="1425">
                          <a:latin typeface="Lato"/>
                          <a:ea typeface="Lato"/>
                          <a:cs typeface="Lato"/>
                          <a:sym typeface="Lato"/>
                        </a:rPr>
                        <a:t>Quais ajustes podem aumentar o volume vendido e qual o impacto esperado na margem?</a:t>
                      </a:r>
                      <a:endParaRPr sz="1425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lang="pt-BR" sz="1425">
                          <a:latin typeface="Lato"/>
                          <a:ea typeface="Lato"/>
                          <a:cs typeface="Lato"/>
                          <a:sym typeface="Lato"/>
                        </a:rPr>
                        <a:t>Mostra qual alavanca gera volume e quanto ela custa em margem</a:t>
                      </a:r>
                      <a:endParaRPr sz="1425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1" lang="pt-BR" sz="1425" u="none" cap="none" strike="noStrike">
                          <a:solidFill>
                            <a:srgbClr val="00186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Viabilidade</a:t>
                      </a:r>
                      <a:endParaRPr sz="1425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1" lang="pt-BR" sz="1425" u="none" cap="none" strike="noStrike">
                          <a:solidFill>
                            <a:srgbClr val="00186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●</a:t>
                      </a:r>
                      <a:endParaRPr sz="1425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t/>
                      </a:r>
                      <a:endParaRPr sz="1425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1" lang="pt-BR" sz="1425" u="none" cap="none" strike="noStrike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03</a:t>
                      </a:r>
                      <a:endParaRPr sz="1425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lang="pt-BR" sz="1425">
                          <a:latin typeface="Lato"/>
                          <a:ea typeface="Lato"/>
                          <a:cs typeface="Lato"/>
                          <a:sym typeface="Lato"/>
                        </a:rPr>
                        <a:t>Quais diferenciais competitivos e fatores detratores influenciam a performance frente aos concorrentes?</a:t>
                      </a:r>
                      <a:endParaRPr sz="1425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lang="pt-BR" sz="1425">
                          <a:latin typeface="Lato"/>
                          <a:ea typeface="Lato"/>
                          <a:cs typeface="Lato"/>
                          <a:sym typeface="Lato"/>
                        </a:rPr>
                        <a:t>Posiciona preço e produto frente à concorrência</a:t>
                      </a:r>
                      <a:endParaRPr sz="1425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1" lang="pt-BR" sz="1425" u="none" cap="none" strike="noStrike">
                          <a:solidFill>
                            <a:srgbClr val="00186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Viabilidade</a:t>
                      </a:r>
                      <a:endParaRPr sz="1425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1" lang="pt-BR" sz="1430">
                          <a:solidFill>
                            <a:srgbClr val="00186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◐</a:t>
                      </a:r>
                      <a:endParaRPr b="1" sz="1430" u="none" cap="none" strike="noStrike">
                        <a:solidFill>
                          <a:srgbClr val="001863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1" lang="pt-BR" sz="1430">
                          <a:solidFill>
                            <a:srgbClr val="00186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●</a:t>
                      </a:r>
                      <a:endParaRPr b="1" sz="1430" u="none" cap="none" strike="noStrike">
                        <a:solidFill>
                          <a:srgbClr val="001863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1" lang="pt-BR" sz="1425" u="none" cap="none" strike="noStrike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04</a:t>
                      </a:r>
                      <a:endParaRPr sz="1425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lang="pt-BR" sz="1425">
                          <a:latin typeface="Lato"/>
                          <a:ea typeface="Lato"/>
                          <a:cs typeface="Lato"/>
                          <a:sym typeface="Lato"/>
                        </a:rPr>
                        <a:t>Qual combinação de preços e condições comerciais otimiza VGV, margem e velocidade de vendas?</a:t>
                      </a:r>
                      <a:endParaRPr sz="1425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lang="pt-BR" sz="1425">
                          <a:latin typeface="Lato"/>
                          <a:ea typeface="Lato"/>
                          <a:cs typeface="Lato"/>
                          <a:sym typeface="Lato"/>
                        </a:rPr>
                        <a:t>Equilibra os três resultados que definem o empreendimento</a:t>
                      </a:r>
                      <a:endParaRPr sz="1425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1" lang="pt-BR" sz="1425" u="none" cap="none" strike="noStrike">
                          <a:solidFill>
                            <a:srgbClr val="00186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Viabilidade</a:t>
                      </a:r>
                      <a:endParaRPr sz="1425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1" lang="pt-BR" sz="1425" u="none" cap="none" strike="noStrike">
                          <a:solidFill>
                            <a:srgbClr val="00186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◐</a:t>
                      </a:r>
                      <a:endParaRPr sz="1425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1" lang="pt-BR" sz="1425" u="none" cap="none" strike="noStrike">
                          <a:solidFill>
                            <a:srgbClr val="00186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●</a:t>
                      </a:r>
                      <a:endParaRPr sz="1425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1" lang="pt-BR" sz="1425" u="none" cap="none" strike="noStrike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05</a:t>
                      </a:r>
                      <a:endParaRPr sz="1425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lang="pt-BR" sz="1425">
                          <a:latin typeface="Lato"/>
                          <a:ea typeface="Lato"/>
                          <a:cs typeface="Lato"/>
                          <a:sym typeface="Lato"/>
                        </a:rPr>
                        <a:t>Qual é a elasticidade da demanda a preço e condições comerciais, e o impacto esperado na conversão?</a:t>
                      </a:r>
                      <a:endParaRPr sz="1425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lang="pt-BR" sz="1425">
                          <a:latin typeface="Lato"/>
                          <a:ea typeface="Lato"/>
                          <a:cs typeface="Lato"/>
                          <a:sym typeface="Lato"/>
                        </a:rPr>
                        <a:t>Mede o efeito real de cada ponto de preço e de cada condição</a:t>
                      </a:r>
                      <a:endParaRPr sz="1425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1" lang="pt-BR" sz="1425" u="none" cap="none" strike="noStrike">
                          <a:solidFill>
                            <a:srgbClr val="00186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Viabilidade</a:t>
                      </a:r>
                      <a:endParaRPr sz="1425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1" lang="pt-BR" sz="1430">
                          <a:solidFill>
                            <a:srgbClr val="00186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●</a:t>
                      </a:r>
                      <a:endParaRPr b="1" sz="1430" u="none" cap="none" strike="noStrike">
                        <a:solidFill>
                          <a:srgbClr val="001863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t/>
                      </a:r>
                      <a:endParaRPr sz="1425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1" lang="pt-BR" sz="1425" u="none" cap="none" strike="noStrike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06</a:t>
                      </a:r>
                      <a:endParaRPr sz="1425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lang="pt-BR" sz="1425">
                          <a:latin typeface="Lato"/>
                          <a:ea typeface="Lato"/>
                          <a:cs typeface="Lato"/>
                          <a:sym typeface="Lato"/>
                        </a:rPr>
                        <a:t>Quais unidades suportam aumento de preço e qual o limite sem impacto relevante na velocidade?</a:t>
                      </a:r>
                      <a:endParaRPr sz="1425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lang="pt-BR" sz="1425">
                          <a:latin typeface="Lato"/>
                          <a:ea typeface="Lato"/>
                          <a:cs typeface="Lato"/>
                          <a:sym typeface="Lato"/>
                        </a:rPr>
                        <a:t>Identifica onde há espaço para capturar receita sem frear as vendas</a:t>
                      </a:r>
                      <a:endParaRPr sz="1425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1" lang="pt-BR" sz="1425" u="none" cap="none" strike="noStrike">
                          <a:solidFill>
                            <a:srgbClr val="00186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Viabilidade</a:t>
                      </a:r>
                      <a:endParaRPr sz="1425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1" lang="pt-BR" sz="1430">
                          <a:solidFill>
                            <a:srgbClr val="00186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●</a:t>
                      </a:r>
                      <a:endParaRPr b="1" sz="1430" u="none" cap="none" strike="noStrike">
                        <a:solidFill>
                          <a:srgbClr val="001863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t/>
                      </a:r>
                      <a:endParaRPr sz="1425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254" name="Google Shape;254;p33"/>
          <p:cNvSpPr/>
          <p:nvPr/>
        </p:nvSpPr>
        <p:spPr>
          <a:xfrm>
            <a:off x="1571625" y="8572500"/>
            <a:ext cx="16049625" cy="857250"/>
          </a:xfrm>
          <a:prstGeom prst="roundRect">
            <a:avLst>
              <a:gd fmla="val 11111" name="adj"/>
            </a:avLst>
          </a:prstGeom>
          <a:solidFill>
            <a:srgbClr val="E6EBFF"/>
          </a:solidFill>
          <a:ln cap="flat" cmpd="sng" w="9525">
            <a:solidFill>
              <a:srgbClr val="C3CD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33"/>
          <p:cNvSpPr txBox="1"/>
          <p:nvPr/>
        </p:nvSpPr>
        <p:spPr>
          <a:xfrm>
            <a:off x="1781175" y="8724900"/>
            <a:ext cx="156305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pt-BR" sz="975" u="none" cap="none" strike="noStrike">
                <a:solidFill>
                  <a:srgbClr val="001863"/>
                </a:solidFill>
                <a:latin typeface="Lato"/>
                <a:ea typeface="Lato"/>
                <a:cs typeface="Lato"/>
                <a:sym typeface="Lato"/>
              </a:rPr>
              <a:t>LEGENDA</a:t>
            </a:r>
            <a:endParaRPr b="0" i="0" sz="9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33"/>
          <p:cNvSpPr txBox="1"/>
          <p:nvPr/>
        </p:nvSpPr>
        <p:spPr>
          <a:xfrm>
            <a:off x="1781175" y="8953500"/>
            <a:ext cx="156305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8"/>
              <a:buFont typeface="Arial"/>
              <a:buNone/>
            </a:pPr>
            <a:r>
              <a:rPr b="1" i="0" lang="pt-BR" sz="1238" u="none" cap="none" strike="noStrike">
                <a:solidFill>
                  <a:srgbClr val="001863"/>
                </a:solidFill>
                <a:latin typeface="Lato"/>
                <a:ea typeface="Lato"/>
                <a:cs typeface="Lato"/>
                <a:sym typeface="Lato"/>
              </a:rPr>
              <a:t>●  tratada na frente   ◐  tratada de forma exploratória, conforme o dado permitir</a:t>
            </a:r>
            <a:endParaRPr b="0" i="0" sz="12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4"/>
          <p:cNvSpPr/>
          <p:nvPr/>
        </p:nvSpPr>
        <p:spPr>
          <a:xfrm>
            <a:off x="0" y="3810000"/>
            <a:ext cx="18288000" cy="3524250"/>
          </a:xfrm>
          <a:prstGeom prst="rect">
            <a:avLst/>
          </a:prstGeom>
          <a:solidFill>
            <a:srgbClr val="B9C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34"/>
          <p:cNvSpPr txBox="1"/>
          <p:nvPr/>
        </p:nvSpPr>
        <p:spPr>
          <a:xfrm>
            <a:off x="1571625" y="361950"/>
            <a:ext cx="857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pt-BR" sz="825" u="none" cap="none" strike="noStrike">
                <a:solidFill>
                  <a:srgbClr val="34343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EMPOWERING PEOPLE THROUGH DATA</a:t>
            </a:r>
            <a:endParaRPr b="0" i="0" sz="8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34"/>
          <p:cNvSpPr txBox="1"/>
          <p:nvPr/>
        </p:nvSpPr>
        <p:spPr>
          <a:xfrm>
            <a:off x="1571625" y="1238250"/>
            <a:ext cx="1619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Abordagem: Duas Frentes Independentes, Orquestradas em 8 Semanas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tmp/claude-0/-home-claude/13ae847d-f382-5450-9da1-84664dc5272b/scratchpad/deck/assets/logo-a3data.png" id="264" name="Google Shape;26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050" y="9877425"/>
            <a:ext cx="838200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4"/>
          <p:cNvSpPr txBox="1"/>
          <p:nvPr/>
        </p:nvSpPr>
        <p:spPr>
          <a:xfrm>
            <a:off x="1533525" y="98679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Arial"/>
              <a:buNone/>
            </a:pPr>
            <a:r>
              <a:rPr b="0" i="0" lang="pt-BR" sz="788" u="none" cap="none" strike="noStrike">
                <a:solidFill>
                  <a:srgbClr val="34343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LOUCOS POR DADOS APAIXONADOS POR GENTE</a:t>
            </a:r>
            <a:endParaRPr b="0" i="0" sz="78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4"/>
          <p:cNvSpPr/>
          <p:nvPr/>
        </p:nvSpPr>
        <p:spPr>
          <a:xfrm>
            <a:off x="1571625" y="2762250"/>
            <a:ext cx="7239000" cy="5715000"/>
          </a:xfrm>
          <a:prstGeom prst="roundRect">
            <a:avLst>
              <a:gd fmla="val 2333" name="adj"/>
            </a:avLst>
          </a:prstGeom>
          <a:solidFill>
            <a:srgbClr val="0033FF"/>
          </a:solidFill>
          <a:ln>
            <a:noFill/>
          </a:ln>
          <a:effectLst>
            <a:outerShdw blurRad="101600" rotWithShape="0" algn="bl" dir="5400000" dist="1905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34"/>
          <p:cNvSpPr/>
          <p:nvPr/>
        </p:nvSpPr>
        <p:spPr>
          <a:xfrm>
            <a:off x="1571625" y="2809875"/>
            <a:ext cx="7239000" cy="5667375"/>
          </a:xfrm>
          <a:prstGeom prst="roundRect">
            <a:avLst>
              <a:gd fmla="val 23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34"/>
          <p:cNvSpPr txBox="1"/>
          <p:nvPr/>
        </p:nvSpPr>
        <p:spPr>
          <a:xfrm>
            <a:off x="1914525" y="3086100"/>
            <a:ext cx="762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pt-BR" sz="2850" u="none" cap="none" strike="noStrike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01</a:t>
            </a:r>
            <a:endParaRPr b="0" i="0" sz="2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34"/>
          <p:cNvSpPr txBox="1"/>
          <p:nvPr/>
        </p:nvSpPr>
        <p:spPr>
          <a:xfrm>
            <a:off x="2809875" y="3124200"/>
            <a:ext cx="4000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pt-BR" sz="225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Assessment de Dados</a:t>
            </a:r>
            <a:endParaRPr b="0" i="0" sz="2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34"/>
          <p:cNvSpPr/>
          <p:nvPr/>
        </p:nvSpPr>
        <p:spPr>
          <a:xfrm>
            <a:off x="6238875" y="3181350"/>
            <a:ext cx="2228850" cy="304800"/>
          </a:xfrm>
          <a:prstGeom prst="roundRect">
            <a:avLst>
              <a:gd fmla="val 50000" name="adj"/>
            </a:avLst>
          </a:prstGeom>
          <a:solidFill>
            <a:srgbClr val="003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34"/>
          <p:cNvSpPr txBox="1"/>
          <p:nvPr/>
        </p:nvSpPr>
        <p:spPr>
          <a:xfrm>
            <a:off x="6238875" y="3181350"/>
            <a:ext cx="2228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pt-BR" sz="975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S1 A S4  ·  4 SEMANAS</a:t>
            </a:r>
            <a:endParaRPr b="0" i="0" sz="9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34"/>
          <p:cNvSpPr txBox="1"/>
          <p:nvPr/>
        </p:nvSpPr>
        <p:spPr>
          <a:xfrm>
            <a:off x="1914525" y="381000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pt-BR" sz="975" u="none" cap="none" strike="noStrike">
                <a:solidFill>
                  <a:srgbClr val="001863"/>
                </a:solidFill>
                <a:latin typeface="Lato"/>
                <a:ea typeface="Lato"/>
                <a:cs typeface="Lato"/>
                <a:sym typeface="Lato"/>
              </a:rPr>
              <a:t>OBJETIVO</a:t>
            </a:r>
            <a:endParaRPr b="0" i="0" sz="9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34"/>
          <p:cNvSpPr txBox="1"/>
          <p:nvPr/>
        </p:nvSpPr>
        <p:spPr>
          <a:xfrm>
            <a:off x="1914525" y="4057650"/>
            <a:ext cx="6553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pt-BR" sz="1425" u="none" cap="none" strike="noStrike">
                <a:solidFill>
                  <a:srgbClr val="4D4D4D"/>
                </a:solidFill>
                <a:latin typeface="Lato"/>
                <a:ea typeface="Lato"/>
                <a:cs typeface="Lato"/>
                <a:sym typeface="Lato"/>
              </a:rPr>
              <a:t>Entender as bases, medir a qualidade e o histórico e priorizar as oportunidades pelo retorno.</a:t>
            </a:r>
            <a:endParaRPr b="0" i="0" sz="14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34"/>
          <p:cNvSpPr txBox="1"/>
          <p:nvPr/>
        </p:nvSpPr>
        <p:spPr>
          <a:xfrm>
            <a:off x="1914525" y="487680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pt-BR" sz="975" u="none" cap="none" strike="noStrike">
                <a:solidFill>
                  <a:srgbClr val="001863"/>
                </a:solidFill>
                <a:latin typeface="Lato"/>
                <a:ea typeface="Lato"/>
                <a:cs typeface="Lato"/>
                <a:sym typeface="Lato"/>
              </a:rPr>
              <a:t>O QUE ENTREGA</a:t>
            </a:r>
            <a:endParaRPr b="0" i="0" sz="9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34"/>
          <p:cNvSpPr txBox="1"/>
          <p:nvPr/>
        </p:nvSpPr>
        <p:spPr>
          <a:xfrm>
            <a:off x="1914525" y="5143500"/>
            <a:ext cx="6553200" cy="3143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pt-BR" sz="1500" u="none" cap="none" strike="noStrike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✓  </a:t>
            </a:r>
            <a:r>
              <a:rPr b="0" i="0" lang="pt-BR" sz="150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Inventário e qualidade das fontes de preço, vendas, funil e engenharia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pt-BR" sz="75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pt-BR" sz="1500" u="none" cap="none" strike="noStrike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✓  </a:t>
            </a:r>
            <a:r>
              <a:rPr b="0" i="0" lang="pt-BR" sz="150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Análise exploratória com foco em preço, velocidade e margem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pt-BR" sz="75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pt-BR" sz="1500" u="none" cap="none" strike="noStrike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✓  </a:t>
            </a:r>
            <a:r>
              <a:rPr b="0" i="0" lang="pt-BR" sz="150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Veredito de viabilidade para cada pergunta de negócio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pt-BR" sz="75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pt-BR" sz="1500" u="none" cap="none" strike="noStrike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✓  </a:t>
            </a:r>
            <a:r>
              <a:rPr b="0" i="0" lang="pt-BR" sz="150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Mapa de oportunidades priorizado por retorno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4"/>
          <p:cNvSpPr/>
          <p:nvPr/>
        </p:nvSpPr>
        <p:spPr>
          <a:xfrm>
            <a:off x="10382250" y="2762250"/>
            <a:ext cx="7239000" cy="5715000"/>
          </a:xfrm>
          <a:prstGeom prst="roundRect">
            <a:avLst>
              <a:gd fmla="val 2333" name="adj"/>
            </a:avLst>
          </a:prstGeom>
          <a:solidFill>
            <a:srgbClr val="0033FF"/>
          </a:solidFill>
          <a:ln>
            <a:noFill/>
          </a:ln>
          <a:effectLst>
            <a:outerShdw blurRad="101600" rotWithShape="0" algn="bl" dir="5400000" dist="1905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4"/>
          <p:cNvSpPr/>
          <p:nvPr/>
        </p:nvSpPr>
        <p:spPr>
          <a:xfrm>
            <a:off x="10382250" y="2809875"/>
            <a:ext cx="7239000" cy="5667375"/>
          </a:xfrm>
          <a:prstGeom prst="roundRect">
            <a:avLst>
              <a:gd fmla="val 23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34"/>
          <p:cNvSpPr txBox="1"/>
          <p:nvPr/>
        </p:nvSpPr>
        <p:spPr>
          <a:xfrm>
            <a:off x="10725150" y="3086100"/>
            <a:ext cx="762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pt-BR" sz="2850" u="none" cap="none" strike="noStrike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02</a:t>
            </a:r>
            <a:endParaRPr b="0" i="0" sz="2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34"/>
          <p:cNvSpPr txBox="1"/>
          <p:nvPr/>
        </p:nvSpPr>
        <p:spPr>
          <a:xfrm>
            <a:off x="11620500" y="3124200"/>
            <a:ext cx="4000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pt-BR" sz="225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POC de Prova de Valor</a:t>
            </a:r>
            <a:endParaRPr b="0" i="0" sz="2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34"/>
          <p:cNvSpPr/>
          <p:nvPr/>
        </p:nvSpPr>
        <p:spPr>
          <a:xfrm>
            <a:off x="15049500" y="3181350"/>
            <a:ext cx="2228850" cy="304800"/>
          </a:xfrm>
          <a:prstGeom prst="roundRect">
            <a:avLst>
              <a:gd fmla="val 50000" name="adj"/>
            </a:avLst>
          </a:prstGeom>
          <a:solidFill>
            <a:srgbClr val="003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4"/>
          <p:cNvSpPr txBox="1"/>
          <p:nvPr/>
        </p:nvSpPr>
        <p:spPr>
          <a:xfrm>
            <a:off x="15049500" y="3181350"/>
            <a:ext cx="2228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pt-BR" sz="975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S3 A S8  ·  6 SEMANAS</a:t>
            </a:r>
            <a:endParaRPr b="0" i="0" sz="9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34"/>
          <p:cNvSpPr txBox="1"/>
          <p:nvPr/>
        </p:nvSpPr>
        <p:spPr>
          <a:xfrm>
            <a:off x="10725150" y="381000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pt-BR" sz="975" u="none" cap="none" strike="noStrike">
                <a:solidFill>
                  <a:srgbClr val="001863"/>
                </a:solidFill>
                <a:latin typeface="Lato"/>
                <a:ea typeface="Lato"/>
                <a:cs typeface="Lato"/>
                <a:sym typeface="Lato"/>
              </a:rPr>
              <a:t>OBJETIVO</a:t>
            </a:r>
            <a:endParaRPr b="0" i="0" sz="9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34"/>
          <p:cNvSpPr txBox="1"/>
          <p:nvPr/>
        </p:nvSpPr>
        <p:spPr>
          <a:xfrm>
            <a:off x="10725150" y="4057650"/>
            <a:ext cx="6553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pt-BR" sz="1425" u="none" cap="none" strike="noStrike">
                <a:solidFill>
                  <a:srgbClr val="4D4D4D"/>
                </a:solidFill>
                <a:latin typeface="Lato"/>
                <a:ea typeface="Lato"/>
                <a:cs typeface="Lato"/>
                <a:sym typeface="Lato"/>
              </a:rPr>
              <a:t>Provar, em empreendimentos já lançados, o efeito do preço sobre a velocidade de vendas e a margem.</a:t>
            </a:r>
            <a:endParaRPr b="0" i="0" sz="14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34"/>
          <p:cNvSpPr txBox="1"/>
          <p:nvPr/>
        </p:nvSpPr>
        <p:spPr>
          <a:xfrm>
            <a:off x="10725150" y="487680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pt-BR" sz="975" u="none" cap="none" strike="noStrike">
                <a:solidFill>
                  <a:srgbClr val="001863"/>
                </a:solidFill>
                <a:latin typeface="Lato"/>
                <a:ea typeface="Lato"/>
                <a:cs typeface="Lato"/>
                <a:sym typeface="Lato"/>
              </a:rPr>
              <a:t>O QUE ENTREGA</a:t>
            </a:r>
            <a:endParaRPr b="0" i="0" sz="9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34"/>
          <p:cNvSpPr txBox="1"/>
          <p:nvPr/>
        </p:nvSpPr>
        <p:spPr>
          <a:xfrm>
            <a:off x="10725150" y="5143500"/>
            <a:ext cx="6553200" cy="3143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pt-BR" sz="1500" u="none" cap="none" strike="noStrike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✓  </a:t>
            </a:r>
            <a:r>
              <a:rPr b="0" i="0" lang="pt-BR" sz="150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Leitura histórica de preço, velocidade e margem por atributo de unidade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pt-BR" sz="75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pt-BR" sz="1500" u="none" cap="none" strike="noStrike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✓  </a:t>
            </a:r>
            <a:r>
              <a:rPr b="0" i="0" lang="pt-BR" sz="150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Elasticidade retrospectiva, onde o histórico tiver variação de preço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pt-BR" sz="75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pt-BR" sz="1500" u="none" cap="none" strike="noStrike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✓  </a:t>
            </a:r>
            <a:r>
              <a:rPr b="0" i="0" lang="pt-BR" sz="150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Simulação "e se" de margem planejada em empreendimentos já lançados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pt-BR" sz="75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pt-BR" sz="1500" u="none" cap="none" strike="noStrike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✓  </a:t>
            </a:r>
            <a:r>
              <a:rPr b="0" i="0" lang="pt-BR" sz="150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Resultado medido contra o critério de valor acordado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34"/>
          <p:cNvSpPr/>
          <p:nvPr/>
        </p:nvSpPr>
        <p:spPr>
          <a:xfrm>
            <a:off x="8953500" y="4476750"/>
            <a:ext cx="1285875" cy="2286000"/>
          </a:xfrm>
          <a:prstGeom prst="roundRect">
            <a:avLst>
              <a:gd fmla="val 7407" name="adj"/>
            </a:avLst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34"/>
          <p:cNvSpPr txBox="1"/>
          <p:nvPr/>
        </p:nvSpPr>
        <p:spPr>
          <a:xfrm>
            <a:off x="8953500" y="4857750"/>
            <a:ext cx="1285875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pt-BR" sz="10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MESMO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pt-BR" sz="10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ENG. DE ML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34"/>
          <p:cNvSpPr/>
          <p:nvPr/>
        </p:nvSpPr>
        <p:spPr>
          <a:xfrm>
            <a:off x="9163050" y="5715000"/>
            <a:ext cx="857250" cy="32385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9C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4"/>
          <p:cNvSpPr txBox="1"/>
          <p:nvPr/>
        </p:nvSpPr>
        <p:spPr>
          <a:xfrm>
            <a:off x="9029700" y="6143625"/>
            <a:ext cx="114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r>
              <a:rPr b="0" i="0" lang="pt-BR" sz="1013" u="none" cap="none" strike="noStrike">
                <a:solidFill>
                  <a:srgbClr val="D8D8D8"/>
                </a:solidFill>
                <a:latin typeface="Lato"/>
                <a:ea typeface="Lato"/>
                <a:cs typeface="Lato"/>
                <a:sym typeface="Lato"/>
              </a:rPr>
              <a:t>dados e modelos já mapeados</a:t>
            </a:r>
            <a:endParaRPr b="0" i="0" sz="101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34"/>
          <p:cNvSpPr/>
          <p:nvPr/>
        </p:nvSpPr>
        <p:spPr>
          <a:xfrm>
            <a:off x="1571625" y="8667750"/>
            <a:ext cx="16049625" cy="838200"/>
          </a:xfrm>
          <a:prstGeom prst="roundRect">
            <a:avLst>
              <a:gd fmla="val 11364" name="adj"/>
            </a:avLst>
          </a:prstGeom>
          <a:solidFill>
            <a:srgbClr val="E6EBFF"/>
          </a:solidFill>
          <a:ln cap="flat" cmpd="sng" w="9525">
            <a:solidFill>
              <a:srgbClr val="C3CD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4"/>
          <p:cNvSpPr txBox="1"/>
          <p:nvPr/>
        </p:nvSpPr>
        <p:spPr>
          <a:xfrm>
            <a:off x="1781175" y="8820150"/>
            <a:ext cx="156305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pt-BR" sz="975" u="none" cap="none" strike="noStrike">
                <a:solidFill>
                  <a:srgbClr val="001863"/>
                </a:solidFill>
                <a:latin typeface="Lato"/>
                <a:ea typeface="Lato"/>
                <a:cs typeface="Lato"/>
                <a:sym typeface="Lato"/>
              </a:rPr>
              <a:t>POR QUÊ</a:t>
            </a:r>
            <a:endParaRPr b="0" i="0" sz="9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34"/>
          <p:cNvSpPr txBox="1"/>
          <p:nvPr/>
        </p:nvSpPr>
        <p:spPr>
          <a:xfrm>
            <a:off x="1781175" y="9048750"/>
            <a:ext cx="156305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8"/>
              <a:buFont typeface="Arial"/>
              <a:buNone/>
            </a:pPr>
            <a:r>
              <a:rPr b="1" i="0" lang="pt-BR" sz="1238" u="none" cap="none" strike="noStrike">
                <a:solidFill>
                  <a:srgbClr val="001863"/>
                </a:solidFill>
                <a:latin typeface="Lato"/>
                <a:ea typeface="Lato"/>
                <a:cs typeface="Lato"/>
                <a:sym typeface="Lato"/>
              </a:rPr>
              <a:t>A POC começa na semana 3 apoiada no que o Assessment já levantou, sem reaprender o dado e sem retrabalho.</a:t>
            </a:r>
            <a:endParaRPr b="0" i="0" sz="12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5"/>
          <p:cNvSpPr/>
          <p:nvPr/>
        </p:nvSpPr>
        <p:spPr>
          <a:xfrm>
            <a:off x="0" y="3810000"/>
            <a:ext cx="18288000" cy="3524250"/>
          </a:xfrm>
          <a:prstGeom prst="rect">
            <a:avLst/>
          </a:prstGeom>
          <a:solidFill>
            <a:srgbClr val="B9C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35"/>
          <p:cNvSpPr txBox="1"/>
          <p:nvPr/>
        </p:nvSpPr>
        <p:spPr>
          <a:xfrm>
            <a:off x="1571625" y="361950"/>
            <a:ext cx="857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pt-BR" sz="825" u="none" cap="none" strike="noStrike">
                <a:solidFill>
                  <a:srgbClr val="34343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EMPOWERING PEOPLE THROUGH DATA</a:t>
            </a:r>
            <a:endParaRPr b="0" i="0" sz="8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35"/>
          <p:cNvSpPr txBox="1"/>
          <p:nvPr/>
        </p:nvSpPr>
        <p:spPr>
          <a:xfrm>
            <a:off x="1571625" y="1238250"/>
            <a:ext cx="1619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Assessment de Dados: 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tmp/claude-0/-home-claude/13ae847d-f382-5450-9da1-84664dc5272b/scratchpad/deck/assets/logo-a3data.png" id="300" name="Google Shape;30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050" y="9877425"/>
            <a:ext cx="838200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35"/>
          <p:cNvSpPr txBox="1"/>
          <p:nvPr/>
        </p:nvSpPr>
        <p:spPr>
          <a:xfrm>
            <a:off x="1533525" y="98679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Arial"/>
              <a:buNone/>
            </a:pPr>
            <a:r>
              <a:rPr b="0" i="0" lang="pt-BR" sz="788" u="none" cap="none" strike="noStrike">
                <a:solidFill>
                  <a:srgbClr val="34343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LOUCOS POR DADOS APAIXONADOS POR GENTE</a:t>
            </a:r>
            <a:endParaRPr b="0" i="0" sz="78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5"/>
          <p:cNvSpPr/>
          <p:nvPr/>
        </p:nvSpPr>
        <p:spPr>
          <a:xfrm>
            <a:off x="1571625" y="2762250"/>
            <a:ext cx="5095875" cy="4476750"/>
          </a:xfrm>
          <a:prstGeom prst="roundRect">
            <a:avLst>
              <a:gd fmla="val 2979" name="adj"/>
            </a:avLst>
          </a:prstGeom>
          <a:solidFill>
            <a:srgbClr val="0033FF"/>
          </a:solidFill>
          <a:ln>
            <a:noFill/>
          </a:ln>
          <a:effectLst>
            <a:outerShdw blurRad="101600" rotWithShape="0" algn="bl" dir="5400000" dist="1905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5"/>
          <p:cNvSpPr/>
          <p:nvPr/>
        </p:nvSpPr>
        <p:spPr>
          <a:xfrm>
            <a:off x="1571625" y="2809875"/>
            <a:ext cx="5095875" cy="4429125"/>
          </a:xfrm>
          <a:prstGeom prst="roundRect">
            <a:avLst>
              <a:gd fmla="val 301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35"/>
          <p:cNvSpPr txBox="1"/>
          <p:nvPr/>
        </p:nvSpPr>
        <p:spPr>
          <a:xfrm>
            <a:off x="1895475" y="3105150"/>
            <a:ext cx="44481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pt-BR" sz="975" u="none" cap="none" strike="noStrike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S1 · ENTENDER</a:t>
            </a:r>
            <a:endParaRPr b="0" i="0" sz="9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35"/>
          <p:cNvSpPr txBox="1"/>
          <p:nvPr/>
        </p:nvSpPr>
        <p:spPr>
          <a:xfrm>
            <a:off x="1895475" y="3352800"/>
            <a:ext cx="444817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5"/>
              <a:buFont typeface="Arial"/>
              <a:buNone/>
            </a:pPr>
            <a:r>
              <a:rPr b="1" i="0" lang="pt-BR" sz="2175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Processo e fontes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35"/>
          <p:cNvSpPr txBox="1"/>
          <p:nvPr/>
        </p:nvSpPr>
        <p:spPr>
          <a:xfrm>
            <a:off x="1895475" y="4000500"/>
            <a:ext cx="4448175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pt-BR" sz="1500" u="none" cap="none" strike="noStrike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✓  </a:t>
            </a:r>
            <a:r>
              <a:rPr b="0" i="0" lang="pt-BR" sz="150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Entrevistas com Comercial, Planejamento e superintendência regional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pt-BR" sz="1500" u="none" cap="none" strike="noStrike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✓  </a:t>
            </a:r>
            <a:r>
              <a:rPr b="0" i="0" lang="pt-BR" sz="150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Como o preço e os benefícios são definidos hoje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pt-BR" sz="1500" u="none" cap="none" strike="noStrike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✓  </a:t>
            </a:r>
            <a:r>
              <a:rPr b="0" i="0" lang="pt-BR" sz="150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Inventário das fontes no Data Lake e fora dele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35"/>
          <p:cNvSpPr/>
          <p:nvPr/>
        </p:nvSpPr>
        <p:spPr>
          <a:xfrm>
            <a:off x="7048500" y="2762250"/>
            <a:ext cx="5095875" cy="4476750"/>
          </a:xfrm>
          <a:prstGeom prst="roundRect">
            <a:avLst>
              <a:gd fmla="val 2979" name="adj"/>
            </a:avLst>
          </a:prstGeom>
          <a:solidFill>
            <a:srgbClr val="0033FF"/>
          </a:solidFill>
          <a:ln>
            <a:noFill/>
          </a:ln>
          <a:effectLst>
            <a:outerShdw blurRad="101600" rotWithShape="0" algn="bl" dir="5400000" dist="1905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35"/>
          <p:cNvSpPr/>
          <p:nvPr/>
        </p:nvSpPr>
        <p:spPr>
          <a:xfrm>
            <a:off x="7048500" y="2809875"/>
            <a:ext cx="5095875" cy="4429125"/>
          </a:xfrm>
          <a:prstGeom prst="roundRect">
            <a:avLst>
              <a:gd fmla="val 301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5"/>
          <p:cNvSpPr txBox="1"/>
          <p:nvPr/>
        </p:nvSpPr>
        <p:spPr>
          <a:xfrm>
            <a:off x="7372350" y="3105150"/>
            <a:ext cx="44481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pt-BR" sz="975" u="none" cap="none" strike="noStrike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S2–S3 · EXPLORAR</a:t>
            </a:r>
            <a:endParaRPr b="0" i="0" sz="9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35"/>
          <p:cNvSpPr txBox="1"/>
          <p:nvPr/>
        </p:nvSpPr>
        <p:spPr>
          <a:xfrm>
            <a:off x="7372350" y="3352800"/>
            <a:ext cx="444817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5"/>
              <a:buFont typeface="Arial"/>
              <a:buNone/>
            </a:pPr>
            <a:r>
              <a:rPr b="1" i="0" lang="pt-BR" sz="2175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Qualidade e histórico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35"/>
          <p:cNvSpPr txBox="1"/>
          <p:nvPr/>
        </p:nvSpPr>
        <p:spPr>
          <a:xfrm>
            <a:off x="7372350" y="4000500"/>
            <a:ext cx="4448175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pt-BR" sz="1500" u="none" cap="none" strike="noStrike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✓  </a:t>
            </a:r>
            <a:r>
              <a:rPr b="0" i="0" lang="pt-BR" sz="150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Qualidade, cobertura e profundidade de cada base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pt-BR" sz="1500" u="none" cap="none" strike="noStrike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✓  </a:t>
            </a:r>
            <a:r>
              <a:rPr b="0" i="0" lang="pt-BR" sz="150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Variação de preço disponível por unidade e período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pt-BR" sz="1500" u="none" cap="none" strike="noStrike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✓  </a:t>
            </a:r>
            <a:r>
              <a:rPr b="0" i="0" lang="pt-BR" sz="150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Revisão dos modelos internos de inadimplência e distrato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35"/>
          <p:cNvSpPr/>
          <p:nvPr/>
        </p:nvSpPr>
        <p:spPr>
          <a:xfrm>
            <a:off x="12525375" y="2762250"/>
            <a:ext cx="5095875" cy="4476750"/>
          </a:xfrm>
          <a:prstGeom prst="roundRect">
            <a:avLst>
              <a:gd fmla="val 2979" name="adj"/>
            </a:avLst>
          </a:prstGeom>
          <a:solidFill>
            <a:srgbClr val="0033FF"/>
          </a:solidFill>
          <a:ln>
            <a:noFill/>
          </a:ln>
          <a:effectLst>
            <a:outerShdw blurRad="101600" rotWithShape="0" algn="bl" dir="5400000" dist="1905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5"/>
          <p:cNvSpPr/>
          <p:nvPr/>
        </p:nvSpPr>
        <p:spPr>
          <a:xfrm>
            <a:off x="12525375" y="2809875"/>
            <a:ext cx="5095875" cy="4429125"/>
          </a:xfrm>
          <a:prstGeom prst="roundRect">
            <a:avLst>
              <a:gd fmla="val 301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5"/>
          <p:cNvSpPr txBox="1"/>
          <p:nvPr/>
        </p:nvSpPr>
        <p:spPr>
          <a:xfrm>
            <a:off x="12849225" y="3105150"/>
            <a:ext cx="44481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pt-BR" sz="975" u="none" cap="none" strike="noStrike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S3–S4 · PRIORIZAR</a:t>
            </a:r>
            <a:endParaRPr b="0" i="0" sz="9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35"/>
          <p:cNvSpPr txBox="1"/>
          <p:nvPr/>
        </p:nvSpPr>
        <p:spPr>
          <a:xfrm>
            <a:off x="12849225" y="3352800"/>
            <a:ext cx="444817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5"/>
              <a:buFont typeface="Arial"/>
              <a:buNone/>
            </a:pPr>
            <a:r>
              <a:rPr b="1" i="0" lang="pt-BR" sz="2175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Valor e viabilidade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35"/>
          <p:cNvSpPr txBox="1"/>
          <p:nvPr/>
        </p:nvSpPr>
        <p:spPr>
          <a:xfrm>
            <a:off x="12849225" y="4000500"/>
            <a:ext cx="4448175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pt-BR" sz="1500" u="none" cap="none" strike="noStrike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✓  </a:t>
            </a:r>
            <a:r>
              <a:rPr b="0" i="0" lang="pt-BR" sz="150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Veredito de viabilidade por pergunta de negócio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pt-BR" sz="1500" u="none" cap="none" strike="noStrike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✓  </a:t>
            </a:r>
            <a:r>
              <a:rPr b="0" i="0" lang="pt-BR" sz="150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Hero KPI e baseline para medir a POC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pt-BR" sz="1500" u="none" cap="none" strike="noStrike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✓  </a:t>
            </a:r>
            <a:r>
              <a:rPr b="0" i="0" lang="pt-BR" sz="150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Mapa de oportunidades priorizado por retorno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35"/>
          <p:cNvSpPr/>
          <p:nvPr/>
        </p:nvSpPr>
        <p:spPr>
          <a:xfrm>
            <a:off x="6705600" y="4848225"/>
            <a:ext cx="304800" cy="304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3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5"/>
          <p:cNvSpPr/>
          <p:nvPr/>
        </p:nvSpPr>
        <p:spPr>
          <a:xfrm>
            <a:off x="12182475" y="4848225"/>
            <a:ext cx="304800" cy="304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3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35"/>
          <p:cNvSpPr/>
          <p:nvPr/>
        </p:nvSpPr>
        <p:spPr>
          <a:xfrm>
            <a:off x="1571625" y="7524750"/>
            <a:ext cx="16049625" cy="1905000"/>
          </a:xfrm>
          <a:prstGeom prst="roundRect">
            <a:avLst>
              <a:gd fmla="val 7000" name="adj"/>
            </a:avLst>
          </a:prstGeom>
          <a:solidFill>
            <a:srgbClr val="1A1A1A"/>
          </a:solidFill>
          <a:ln>
            <a:noFill/>
          </a:ln>
          <a:effectLst>
            <a:outerShdw blurRad="101600" rotWithShape="0" algn="bl" dir="5400000" dist="1905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35"/>
          <p:cNvSpPr txBox="1"/>
          <p:nvPr/>
        </p:nvSpPr>
        <p:spPr>
          <a:xfrm>
            <a:off x="1895475" y="7791450"/>
            <a:ext cx="4191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pt-BR" sz="975" u="none" cap="none" strike="noStrike">
                <a:solidFill>
                  <a:srgbClr val="B9C4FF"/>
                </a:solidFill>
                <a:latin typeface="Lato"/>
                <a:ea typeface="Lato"/>
                <a:cs typeface="Lato"/>
                <a:sym typeface="Lato"/>
              </a:rPr>
              <a:t>ENTREGÁVEIS</a:t>
            </a:r>
            <a:endParaRPr b="0" i="0" sz="9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35"/>
          <p:cNvSpPr txBox="1"/>
          <p:nvPr/>
        </p:nvSpPr>
        <p:spPr>
          <a:xfrm>
            <a:off x="1895475" y="8039100"/>
            <a:ext cx="41910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pt-BR" sz="1875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 que a Direcional recebe ao fim da semana 4</a:t>
            </a:r>
            <a:endParaRPr b="0" i="0" sz="18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35"/>
          <p:cNvSpPr/>
          <p:nvPr/>
        </p:nvSpPr>
        <p:spPr>
          <a:xfrm>
            <a:off x="6334125" y="7772400"/>
            <a:ext cx="23812" cy="14097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35"/>
          <p:cNvSpPr txBox="1"/>
          <p:nvPr/>
        </p:nvSpPr>
        <p:spPr>
          <a:xfrm>
            <a:off x="6715125" y="7791450"/>
            <a:ext cx="32861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pt-BR" sz="2700" u="none" cap="none" strike="noStrike">
                <a:solidFill>
                  <a:srgbClr val="B9C4FF"/>
                </a:solidFill>
                <a:latin typeface="Lato"/>
                <a:ea typeface="Lato"/>
                <a:cs typeface="Lato"/>
                <a:sym typeface="Lato"/>
              </a:rPr>
              <a:t>Relatório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5"/>
          <p:cNvSpPr txBox="1"/>
          <p:nvPr/>
        </p:nvSpPr>
        <p:spPr>
          <a:xfrm>
            <a:off x="6715125" y="8286750"/>
            <a:ext cx="3286125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8"/>
              <a:buFont typeface="Arial"/>
              <a:buNone/>
            </a:pPr>
            <a:r>
              <a:rPr b="0" i="0" lang="pt-BR" sz="1388" u="none" cap="none" strike="noStrike">
                <a:solidFill>
                  <a:srgbClr val="D8D8D8"/>
                </a:solidFill>
                <a:latin typeface="Lato"/>
                <a:ea typeface="Lato"/>
                <a:cs typeface="Lato"/>
                <a:sym typeface="Lato"/>
              </a:rPr>
              <a:t>diagnóstico de qualidade e histórico de cada base</a:t>
            </a:r>
            <a:endParaRPr b="0" i="0" sz="138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35"/>
          <p:cNvSpPr txBox="1"/>
          <p:nvPr/>
        </p:nvSpPr>
        <p:spPr>
          <a:xfrm>
            <a:off x="10287000" y="7791450"/>
            <a:ext cx="32861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pt-BR" sz="2700" u="none" cap="none" strike="noStrike">
                <a:solidFill>
                  <a:srgbClr val="B9C4FF"/>
                </a:solidFill>
                <a:latin typeface="Lato"/>
                <a:ea typeface="Lato"/>
                <a:cs typeface="Lato"/>
                <a:sym typeface="Lato"/>
              </a:rPr>
              <a:t>Veredito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35"/>
          <p:cNvSpPr txBox="1"/>
          <p:nvPr/>
        </p:nvSpPr>
        <p:spPr>
          <a:xfrm>
            <a:off x="10287000" y="8286750"/>
            <a:ext cx="3286125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8"/>
              <a:buFont typeface="Arial"/>
              <a:buNone/>
            </a:pPr>
            <a:r>
              <a:rPr b="0" i="0" lang="pt-BR" sz="1388" u="none" cap="none" strike="noStrike">
                <a:solidFill>
                  <a:srgbClr val="D8D8D8"/>
                </a:solidFill>
                <a:latin typeface="Lato"/>
                <a:ea typeface="Lato"/>
                <a:cs typeface="Lato"/>
                <a:sym typeface="Lato"/>
              </a:rPr>
              <a:t>quais perguntas o dado responde hoje, e com qual confiança</a:t>
            </a:r>
            <a:endParaRPr b="0" i="0" sz="138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35"/>
          <p:cNvSpPr txBox="1"/>
          <p:nvPr/>
        </p:nvSpPr>
        <p:spPr>
          <a:xfrm>
            <a:off x="13858875" y="7791450"/>
            <a:ext cx="32861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pt-BR" sz="2700" u="none" cap="none" strike="noStrike">
                <a:solidFill>
                  <a:srgbClr val="B9C4FF"/>
                </a:solidFill>
                <a:latin typeface="Lato"/>
                <a:ea typeface="Lato"/>
                <a:cs typeface="Lato"/>
                <a:sym typeface="Lato"/>
              </a:rPr>
              <a:t>Roadmap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35"/>
          <p:cNvSpPr txBox="1"/>
          <p:nvPr/>
        </p:nvSpPr>
        <p:spPr>
          <a:xfrm>
            <a:off x="13858875" y="8286750"/>
            <a:ext cx="3286125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8"/>
              <a:buFont typeface="Arial"/>
              <a:buNone/>
            </a:pPr>
            <a:r>
              <a:rPr b="0" i="0" lang="pt-BR" sz="1388" u="none" cap="none" strike="noStrike">
                <a:solidFill>
                  <a:srgbClr val="D8D8D8"/>
                </a:solidFill>
                <a:latin typeface="Lato"/>
                <a:ea typeface="Lato"/>
                <a:cs typeface="Lato"/>
                <a:sym typeface="Lato"/>
              </a:rPr>
              <a:t>oportunidades priorizadas por retorno, com Hero KPI e baseline</a:t>
            </a:r>
            <a:endParaRPr b="0" i="0" sz="138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6"/>
          <p:cNvSpPr/>
          <p:nvPr/>
        </p:nvSpPr>
        <p:spPr>
          <a:xfrm>
            <a:off x="0" y="3810000"/>
            <a:ext cx="18288000" cy="3524250"/>
          </a:xfrm>
          <a:prstGeom prst="rect">
            <a:avLst/>
          </a:prstGeom>
          <a:solidFill>
            <a:srgbClr val="B9C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6"/>
          <p:cNvSpPr txBox="1"/>
          <p:nvPr/>
        </p:nvSpPr>
        <p:spPr>
          <a:xfrm>
            <a:off x="1571625" y="361950"/>
            <a:ext cx="857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pt-BR" sz="825" u="none" cap="none" strike="noStrike">
                <a:solidFill>
                  <a:srgbClr val="34343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EMPOWERING PEOPLE THROUGH DATA</a:t>
            </a:r>
            <a:endParaRPr b="0" i="0" sz="8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36"/>
          <p:cNvSpPr txBox="1"/>
          <p:nvPr/>
        </p:nvSpPr>
        <p:spPr>
          <a:xfrm>
            <a:off x="1571625" y="1238250"/>
            <a:ext cx="1619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POC de Prova de Valor: O Histórico Respondendo à Pergunta da Margem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tmp/claude-0/-home-claude/13ae847d-f382-5450-9da1-84664dc5272b/scratchpad/deck/assets/logo-a3data.png" id="336" name="Google Shape;33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050" y="9877425"/>
            <a:ext cx="838200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6"/>
          <p:cNvSpPr txBox="1"/>
          <p:nvPr/>
        </p:nvSpPr>
        <p:spPr>
          <a:xfrm>
            <a:off x="1533525" y="98679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Arial"/>
              <a:buNone/>
            </a:pPr>
            <a:r>
              <a:rPr b="0" i="0" lang="pt-BR" sz="788" u="none" cap="none" strike="noStrike">
                <a:solidFill>
                  <a:srgbClr val="34343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LOUCOS POR DADOS APAIXONADOS POR GENTE</a:t>
            </a:r>
            <a:endParaRPr b="0" i="0" sz="78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36"/>
          <p:cNvSpPr/>
          <p:nvPr/>
        </p:nvSpPr>
        <p:spPr>
          <a:xfrm>
            <a:off x="1571625" y="2762250"/>
            <a:ext cx="5095875" cy="5143500"/>
          </a:xfrm>
          <a:prstGeom prst="roundRect">
            <a:avLst>
              <a:gd fmla="val 2617" name="adj"/>
            </a:avLst>
          </a:prstGeom>
          <a:solidFill>
            <a:srgbClr val="0033FF"/>
          </a:solidFill>
          <a:ln>
            <a:noFill/>
          </a:ln>
          <a:effectLst>
            <a:outerShdw blurRad="101600" rotWithShape="0" algn="bl" dir="5400000" dist="1905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36"/>
          <p:cNvSpPr/>
          <p:nvPr/>
        </p:nvSpPr>
        <p:spPr>
          <a:xfrm>
            <a:off x="1571625" y="2809875"/>
            <a:ext cx="5095875" cy="5095875"/>
          </a:xfrm>
          <a:prstGeom prst="roundRect">
            <a:avLst>
              <a:gd fmla="val 261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36"/>
          <p:cNvSpPr txBox="1"/>
          <p:nvPr/>
        </p:nvSpPr>
        <p:spPr>
          <a:xfrm>
            <a:off x="1895475" y="306705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pt-BR" sz="2550" u="none" cap="none" strike="noStrike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01</a:t>
            </a:r>
            <a:endParaRPr b="0" i="0" sz="2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6"/>
          <p:cNvSpPr txBox="1"/>
          <p:nvPr/>
        </p:nvSpPr>
        <p:spPr>
          <a:xfrm>
            <a:off x="2714625" y="3105150"/>
            <a:ext cx="366712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pt-BR" sz="2025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Leitura do histórico</a:t>
            </a:r>
            <a:endParaRPr b="0" i="0" sz="20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36"/>
          <p:cNvSpPr/>
          <p:nvPr/>
        </p:nvSpPr>
        <p:spPr>
          <a:xfrm>
            <a:off x="1895475" y="3714750"/>
            <a:ext cx="4448175" cy="914400"/>
          </a:xfrm>
          <a:prstGeom prst="roundRect">
            <a:avLst>
              <a:gd fmla="val 8333" name="adj"/>
            </a:avLst>
          </a:prstGeom>
          <a:solidFill>
            <a:srgbClr val="F7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36"/>
          <p:cNvSpPr txBox="1"/>
          <p:nvPr/>
        </p:nvSpPr>
        <p:spPr>
          <a:xfrm>
            <a:off x="2066925" y="3829050"/>
            <a:ext cx="1905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pt-BR" sz="975" u="none" cap="none" strike="noStrike">
                <a:solidFill>
                  <a:srgbClr val="4D4D4D"/>
                </a:solidFill>
                <a:latin typeface="Lato"/>
                <a:ea typeface="Lato"/>
                <a:cs typeface="Lato"/>
                <a:sym typeface="Lato"/>
              </a:rPr>
              <a:t>HOJE</a:t>
            </a:r>
            <a:endParaRPr b="0" i="0" sz="9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36"/>
          <p:cNvSpPr txBox="1"/>
          <p:nvPr/>
        </p:nvSpPr>
        <p:spPr>
          <a:xfrm>
            <a:off x="2066925" y="4038600"/>
            <a:ext cx="41052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pt-BR" sz="1275" u="none" cap="none" strike="noStrike">
                <a:solidFill>
                  <a:srgbClr val="4D4D4D"/>
                </a:solidFill>
                <a:latin typeface="Lato"/>
                <a:ea typeface="Lato"/>
                <a:cs typeface="Lato"/>
                <a:sym typeface="Lato"/>
              </a:rPr>
              <a:t>Preço e benefício definidos por experiência, sem medir o efeito.</a:t>
            </a:r>
            <a:endParaRPr b="0" i="0" sz="12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36"/>
          <p:cNvSpPr txBox="1"/>
          <p:nvPr/>
        </p:nvSpPr>
        <p:spPr>
          <a:xfrm>
            <a:off x="1895475" y="487680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pt-BR" sz="975" u="none" cap="none" strike="noStrike">
                <a:solidFill>
                  <a:srgbClr val="001863"/>
                </a:solidFill>
                <a:latin typeface="Lato"/>
                <a:ea typeface="Lato"/>
                <a:cs typeface="Lato"/>
                <a:sym typeface="Lato"/>
              </a:rPr>
              <a:t>O QUE ENTREGAMOS</a:t>
            </a:r>
            <a:endParaRPr b="0" i="0" sz="9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36"/>
          <p:cNvSpPr txBox="1"/>
          <p:nvPr/>
        </p:nvSpPr>
        <p:spPr>
          <a:xfrm>
            <a:off x="1895475" y="5143500"/>
            <a:ext cx="4448175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3"/>
              <a:buFont typeface="Arial"/>
              <a:buNone/>
            </a:pPr>
            <a:r>
              <a:rPr b="1" i="0" lang="pt-BR" sz="1463" u="none" cap="none" strike="noStrike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✓  </a:t>
            </a:r>
            <a:r>
              <a:rPr b="0" i="0" lang="pt-BR" sz="1463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Preço, velocidade e margem por tipologia e atributo de unidade</a:t>
            </a:r>
            <a:endParaRPr b="0" i="0" sz="146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pt-BR" sz="75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0" i="0" sz="146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3"/>
              <a:buFont typeface="Arial"/>
              <a:buNone/>
            </a:pPr>
            <a:r>
              <a:rPr b="1" i="0" lang="pt-BR" sz="1463" u="none" cap="none" strike="noStrike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✓  </a:t>
            </a:r>
            <a:r>
              <a:rPr b="0" i="0" lang="pt-BR" sz="1463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Efeito de benefícios e condições de lançamento</a:t>
            </a:r>
            <a:endParaRPr b="0" i="0" sz="146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pt-BR" sz="75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0" i="0" sz="146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3"/>
              <a:buFont typeface="Arial"/>
              <a:buNone/>
            </a:pPr>
            <a:r>
              <a:rPr b="1" i="0" lang="pt-BR" sz="1463" u="none" cap="none" strike="noStrike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✓  </a:t>
            </a:r>
            <a:r>
              <a:rPr b="0" i="0" lang="pt-BR" sz="1463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Padrões entre empreendimentos comparáveis</a:t>
            </a:r>
            <a:endParaRPr b="0" i="0" sz="146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36"/>
          <p:cNvSpPr/>
          <p:nvPr/>
        </p:nvSpPr>
        <p:spPr>
          <a:xfrm>
            <a:off x="7048500" y="2762250"/>
            <a:ext cx="5095875" cy="5143500"/>
          </a:xfrm>
          <a:prstGeom prst="roundRect">
            <a:avLst>
              <a:gd fmla="val 2617" name="adj"/>
            </a:avLst>
          </a:prstGeom>
          <a:solidFill>
            <a:srgbClr val="0033FF"/>
          </a:solidFill>
          <a:ln>
            <a:noFill/>
          </a:ln>
          <a:effectLst>
            <a:outerShdw blurRad="101600" rotWithShape="0" algn="bl" dir="5400000" dist="1905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36"/>
          <p:cNvSpPr/>
          <p:nvPr/>
        </p:nvSpPr>
        <p:spPr>
          <a:xfrm>
            <a:off x="7048500" y="2809875"/>
            <a:ext cx="5095875" cy="5095875"/>
          </a:xfrm>
          <a:prstGeom prst="roundRect">
            <a:avLst>
              <a:gd fmla="val 261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6"/>
          <p:cNvSpPr txBox="1"/>
          <p:nvPr/>
        </p:nvSpPr>
        <p:spPr>
          <a:xfrm>
            <a:off x="7372350" y="306705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pt-BR" sz="2550" u="none" cap="none" strike="noStrike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02</a:t>
            </a:r>
            <a:endParaRPr b="0" i="0" sz="2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36"/>
          <p:cNvSpPr txBox="1"/>
          <p:nvPr/>
        </p:nvSpPr>
        <p:spPr>
          <a:xfrm>
            <a:off x="8191500" y="3105150"/>
            <a:ext cx="366712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pt-BR" sz="2025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Elasticidade retrospectiva</a:t>
            </a:r>
            <a:endParaRPr b="0" i="0" sz="20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36"/>
          <p:cNvSpPr/>
          <p:nvPr/>
        </p:nvSpPr>
        <p:spPr>
          <a:xfrm>
            <a:off x="7372350" y="3714750"/>
            <a:ext cx="4448175" cy="914400"/>
          </a:xfrm>
          <a:prstGeom prst="roundRect">
            <a:avLst>
              <a:gd fmla="val 8333" name="adj"/>
            </a:avLst>
          </a:prstGeom>
          <a:solidFill>
            <a:srgbClr val="F7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36"/>
          <p:cNvSpPr txBox="1"/>
          <p:nvPr/>
        </p:nvSpPr>
        <p:spPr>
          <a:xfrm>
            <a:off x="7543800" y="3829050"/>
            <a:ext cx="1905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pt-BR" sz="975" u="none" cap="none" strike="noStrike">
                <a:solidFill>
                  <a:srgbClr val="4D4D4D"/>
                </a:solidFill>
                <a:latin typeface="Lato"/>
                <a:ea typeface="Lato"/>
                <a:cs typeface="Lato"/>
                <a:sym typeface="Lato"/>
              </a:rPr>
              <a:t>HOJE</a:t>
            </a:r>
            <a:endParaRPr b="0" i="0" sz="9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36"/>
          <p:cNvSpPr txBox="1"/>
          <p:nvPr/>
        </p:nvSpPr>
        <p:spPr>
          <a:xfrm>
            <a:off x="7543800" y="4038600"/>
            <a:ext cx="41052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pt-BR" sz="1275" u="none" cap="none" strike="noStrike">
                <a:solidFill>
                  <a:srgbClr val="4D4D4D"/>
                </a:solidFill>
                <a:latin typeface="Lato"/>
                <a:ea typeface="Lato"/>
                <a:cs typeface="Lato"/>
                <a:sym typeface="Lato"/>
              </a:rPr>
              <a:t>Não se sabe quanto a venda reage a cada ponto de preço.</a:t>
            </a:r>
            <a:endParaRPr b="0" i="0" sz="12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6"/>
          <p:cNvSpPr txBox="1"/>
          <p:nvPr/>
        </p:nvSpPr>
        <p:spPr>
          <a:xfrm>
            <a:off x="7372350" y="487680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pt-BR" sz="975" u="none" cap="none" strike="noStrike">
                <a:solidFill>
                  <a:srgbClr val="001863"/>
                </a:solidFill>
                <a:latin typeface="Lato"/>
                <a:ea typeface="Lato"/>
                <a:cs typeface="Lato"/>
                <a:sym typeface="Lato"/>
              </a:rPr>
              <a:t>O QUE ENTREGAMOS</a:t>
            </a:r>
            <a:endParaRPr b="0" i="0" sz="9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36"/>
          <p:cNvSpPr txBox="1"/>
          <p:nvPr/>
        </p:nvSpPr>
        <p:spPr>
          <a:xfrm>
            <a:off x="7372350" y="5143500"/>
            <a:ext cx="4448175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3"/>
              <a:buFont typeface="Arial"/>
              <a:buNone/>
            </a:pPr>
            <a:r>
              <a:rPr b="1" i="0" lang="pt-BR" sz="1463" u="none" cap="none" strike="noStrike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✓  </a:t>
            </a:r>
            <a:r>
              <a:rPr b="0" i="0" lang="pt-BR" sz="1463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Sensibilidade da velocidade de vendas a preço e condição</a:t>
            </a:r>
            <a:endParaRPr b="0" i="0" sz="146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pt-BR" sz="75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0" i="0" sz="146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3"/>
              <a:buFont typeface="Arial"/>
              <a:buNone/>
            </a:pPr>
            <a:r>
              <a:rPr b="1" i="0" lang="pt-BR" sz="1463" u="none" cap="none" strike="noStrike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✓  </a:t>
            </a:r>
            <a:r>
              <a:rPr b="0" i="0" lang="pt-BR" sz="1463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Abordagem causal onde houver variação de preço</a:t>
            </a:r>
            <a:endParaRPr b="0" i="0" sz="146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pt-BR" sz="75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0" i="0" sz="146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3"/>
              <a:buFont typeface="Arial"/>
              <a:buNone/>
            </a:pPr>
            <a:r>
              <a:rPr b="1" i="0" lang="pt-BR" sz="1463" u="none" cap="none" strike="noStrike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✓  </a:t>
            </a:r>
            <a:r>
              <a:rPr b="0" i="0" lang="pt-BR" sz="1463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Leitura separada por perfil (MCMV e demais padrões)</a:t>
            </a:r>
            <a:endParaRPr b="0" i="0" sz="146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36"/>
          <p:cNvSpPr/>
          <p:nvPr/>
        </p:nvSpPr>
        <p:spPr>
          <a:xfrm>
            <a:off x="12525375" y="2762250"/>
            <a:ext cx="5095875" cy="5143500"/>
          </a:xfrm>
          <a:prstGeom prst="roundRect">
            <a:avLst>
              <a:gd fmla="val 2617" name="adj"/>
            </a:avLst>
          </a:prstGeom>
          <a:solidFill>
            <a:srgbClr val="0033FF"/>
          </a:solidFill>
          <a:ln>
            <a:noFill/>
          </a:ln>
          <a:effectLst>
            <a:outerShdw blurRad="101600" rotWithShape="0" algn="bl" dir="5400000" dist="1905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6"/>
          <p:cNvSpPr/>
          <p:nvPr/>
        </p:nvSpPr>
        <p:spPr>
          <a:xfrm>
            <a:off x="12525375" y="2809875"/>
            <a:ext cx="5095875" cy="5095875"/>
          </a:xfrm>
          <a:prstGeom prst="roundRect">
            <a:avLst>
              <a:gd fmla="val 261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36"/>
          <p:cNvSpPr txBox="1"/>
          <p:nvPr/>
        </p:nvSpPr>
        <p:spPr>
          <a:xfrm>
            <a:off x="12849225" y="306705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pt-BR" sz="2550" u="none" cap="none" strike="noStrike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03</a:t>
            </a:r>
            <a:endParaRPr b="0" i="0" sz="2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36"/>
          <p:cNvSpPr txBox="1"/>
          <p:nvPr/>
        </p:nvSpPr>
        <p:spPr>
          <a:xfrm>
            <a:off x="13668375" y="3105150"/>
            <a:ext cx="366712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pt-BR" sz="2025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Simulação "e se"</a:t>
            </a:r>
            <a:endParaRPr b="0" i="0" sz="20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36"/>
          <p:cNvSpPr/>
          <p:nvPr/>
        </p:nvSpPr>
        <p:spPr>
          <a:xfrm>
            <a:off x="12849225" y="3714750"/>
            <a:ext cx="4448175" cy="914400"/>
          </a:xfrm>
          <a:prstGeom prst="roundRect">
            <a:avLst>
              <a:gd fmla="val 8333" name="adj"/>
            </a:avLst>
          </a:prstGeom>
          <a:solidFill>
            <a:srgbClr val="F7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36"/>
          <p:cNvSpPr txBox="1"/>
          <p:nvPr/>
        </p:nvSpPr>
        <p:spPr>
          <a:xfrm>
            <a:off x="13020675" y="3829050"/>
            <a:ext cx="1905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pt-BR" sz="975" u="none" cap="none" strike="noStrike">
                <a:solidFill>
                  <a:srgbClr val="4D4D4D"/>
                </a:solidFill>
                <a:latin typeface="Lato"/>
                <a:ea typeface="Lato"/>
                <a:cs typeface="Lato"/>
                <a:sym typeface="Lato"/>
              </a:rPr>
              <a:t>HOJE</a:t>
            </a:r>
            <a:endParaRPr b="0" i="0" sz="9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6"/>
          <p:cNvSpPr txBox="1"/>
          <p:nvPr/>
        </p:nvSpPr>
        <p:spPr>
          <a:xfrm>
            <a:off x="13020675" y="4038600"/>
            <a:ext cx="41052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pt-BR" sz="1275" u="none" cap="none" strike="noStrike">
                <a:solidFill>
                  <a:srgbClr val="4D4D4D"/>
                </a:solidFill>
                <a:latin typeface="Lato"/>
                <a:ea typeface="Lato"/>
                <a:cs typeface="Lato"/>
                <a:sym typeface="Lato"/>
              </a:rPr>
              <a:t>Redução de margem decidida por reação ao estoque.</a:t>
            </a:r>
            <a:endParaRPr b="0" i="0" sz="12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36"/>
          <p:cNvSpPr txBox="1"/>
          <p:nvPr/>
        </p:nvSpPr>
        <p:spPr>
          <a:xfrm>
            <a:off x="12849225" y="487680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pt-BR" sz="975" u="none" cap="none" strike="noStrike">
                <a:solidFill>
                  <a:srgbClr val="001863"/>
                </a:solidFill>
                <a:latin typeface="Lato"/>
                <a:ea typeface="Lato"/>
                <a:cs typeface="Lato"/>
                <a:sym typeface="Lato"/>
              </a:rPr>
              <a:t>O QUE ENTREGAMOS</a:t>
            </a:r>
            <a:endParaRPr b="0" i="0" sz="9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36"/>
          <p:cNvSpPr txBox="1"/>
          <p:nvPr/>
        </p:nvSpPr>
        <p:spPr>
          <a:xfrm>
            <a:off x="12849225" y="5143500"/>
            <a:ext cx="4448175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3"/>
              <a:buFont typeface="Arial"/>
              <a:buNone/>
            </a:pPr>
            <a:r>
              <a:rPr b="1" i="0" lang="pt-BR" sz="1463" u="none" cap="none" strike="noStrike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✓  </a:t>
            </a:r>
            <a:r>
              <a:rPr b="0" i="0" lang="pt-BR" sz="1463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Curva de margem planejada aplicada ao passado</a:t>
            </a:r>
            <a:endParaRPr b="0" i="0" sz="146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pt-BR" sz="75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0" i="0" sz="146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3"/>
              <a:buFont typeface="Arial"/>
              <a:buNone/>
            </a:pPr>
            <a:r>
              <a:rPr b="1" i="0" lang="pt-BR" sz="1463" u="none" cap="none" strike="noStrike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✓  </a:t>
            </a:r>
            <a:r>
              <a:rPr b="0" i="0" lang="pt-BR" sz="1463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Comparação com o que foi realmente praticado</a:t>
            </a:r>
            <a:endParaRPr b="0" i="0" sz="146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pt-BR" sz="75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0" i="0" sz="146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3"/>
              <a:buFont typeface="Arial"/>
              <a:buNone/>
            </a:pPr>
            <a:r>
              <a:rPr b="1" i="0" lang="pt-BR" sz="1463" u="none" cap="none" strike="noStrike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✓  </a:t>
            </a:r>
            <a:r>
              <a:rPr b="0" i="0" lang="pt-BR" sz="1463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Impacto estimado em velocidade, VGV e margem</a:t>
            </a:r>
            <a:endParaRPr b="0" i="0" sz="146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36"/>
          <p:cNvSpPr/>
          <p:nvPr/>
        </p:nvSpPr>
        <p:spPr>
          <a:xfrm>
            <a:off x="1571625" y="8191500"/>
            <a:ext cx="16049625" cy="952500"/>
          </a:xfrm>
          <a:prstGeom prst="roundRect">
            <a:avLst>
              <a:gd fmla="val 10000" name="adj"/>
            </a:avLst>
          </a:prstGeom>
          <a:solidFill>
            <a:srgbClr val="E6EBFF"/>
          </a:solidFill>
          <a:ln cap="flat" cmpd="sng" w="9525">
            <a:solidFill>
              <a:srgbClr val="C3CD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36"/>
          <p:cNvSpPr txBox="1"/>
          <p:nvPr/>
        </p:nvSpPr>
        <p:spPr>
          <a:xfrm>
            <a:off x="1781175" y="8343900"/>
            <a:ext cx="156305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pt-BR" sz="975" u="none" cap="none" strike="noStrike">
                <a:solidFill>
                  <a:srgbClr val="001863"/>
                </a:solidFill>
                <a:latin typeface="Lato"/>
                <a:ea typeface="Lato"/>
                <a:cs typeface="Lato"/>
                <a:sym typeface="Lato"/>
              </a:rPr>
              <a:t>CRITÉRIO DE ACEITE</a:t>
            </a:r>
            <a:endParaRPr b="0" i="0" sz="9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36"/>
          <p:cNvSpPr txBox="1"/>
          <p:nvPr/>
        </p:nvSpPr>
        <p:spPr>
          <a:xfrm>
            <a:off x="1781175" y="8572500"/>
            <a:ext cx="156305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8"/>
              <a:buFont typeface="Arial"/>
              <a:buNone/>
            </a:pPr>
            <a:r>
              <a:rPr b="1" i="0" lang="pt-BR" sz="1238" u="none" cap="none" strike="noStrike">
                <a:solidFill>
                  <a:srgbClr val="001863"/>
                </a:solidFill>
                <a:latin typeface="Lato"/>
                <a:ea typeface="Lato"/>
                <a:cs typeface="Lato"/>
                <a:sym typeface="Lato"/>
              </a:rPr>
              <a:t>Resultado medido contra o Hero KPI e o baseline definidos no Assessment, com o veredito sobre a margem planejada.</a:t>
            </a:r>
            <a:endParaRPr b="0" i="0" sz="12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7"/>
          <p:cNvSpPr/>
          <p:nvPr/>
        </p:nvSpPr>
        <p:spPr>
          <a:xfrm>
            <a:off x="0" y="3810000"/>
            <a:ext cx="18288000" cy="3524250"/>
          </a:xfrm>
          <a:prstGeom prst="rect">
            <a:avLst/>
          </a:prstGeom>
          <a:solidFill>
            <a:srgbClr val="B9C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7"/>
          <p:cNvSpPr txBox="1"/>
          <p:nvPr/>
        </p:nvSpPr>
        <p:spPr>
          <a:xfrm>
            <a:off x="1571625" y="361950"/>
            <a:ext cx="857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pt-BR" sz="825" u="none" cap="none" strike="noStrike">
                <a:solidFill>
                  <a:srgbClr val="34343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EMPOWERING PEOPLE THROUGH DATA</a:t>
            </a:r>
            <a:endParaRPr b="0" i="0" sz="8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37"/>
          <p:cNvSpPr txBox="1"/>
          <p:nvPr/>
        </p:nvSpPr>
        <p:spPr>
          <a:xfrm>
            <a:off x="1571625" y="1238250"/>
            <a:ext cx="1619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Case: Simulador de Elasticidade de Preço no Setor Automotivo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tmp/claude-0/-home-claude/13ae847d-f382-5450-9da1-84664dc5272b/scratchpad/deck/assets/logo-a3data.png" id="375" name="Google Shape;37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050" y="9877425"/>
            <a:ext cx="838200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37"/>
          <p:cNvSpPr txBox="1"/>
          <p:nvPr/>
        </p:nvSpPr>
        <p:spPr>
          <a:xfrm>
            <a:off x="1533525" y="98679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Arial"/>
              <a:buNone/>
            </a:pPr>
            <a:r>
              <a:rPr b="0" i="0" lang="pt-BR" sz="788" u="none" cap="none" strike="noStrike">
                <a:solidFill>
                  <a:srgbClr val="34343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LOUCOS POR DADOS APAIXONADOS POR GENTE</a:t>
            </a:r>
            <a:endParaRPr b="0" i="0" sz="78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37"/>
          <p:cNvSpPr/>
          <p:nvPr/>
        </p:nvSpPr>
        <p:spPr>
          <a:xfrm>
            <a:off x="1571625" y="2762250"/>
            <a:ext cx="5095875" cy="4381500"/>
          </a:xfrm>
          <a:prstGeom prst="roundRect">
            <a:avLst>
              <a:gd fmla="val 3043" name="adj"/>
            </a:avLst>
          </a:prstGeom>
          <a:solidFill>
            <a:srgbClr val="0033FF"/>
          </a:solidFill>
          <a:ln>
            <a:noFill/>
          </a:ln>
          <a:effectLst>
            <a:outerShdw blurRad="101600" rotWithShape="0" algn="bl" dir="5400000" dist="1905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37"/>
          <p:cNvSpPr/>
          <p:nvPr/>
        </p:nvSpPr>
        <p:spPr>
          <a:xfrm>
            <a:off x="1571625" y="2809875"/>
            <a:ext cx="5095875" cy="4333875"/>
          </a:xfrm>
          <a:prstGeom prst="roundRect">
            <a:avLst>
              <a:gd fmla="val 307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7"/>
          <p:cNvSpPr txBox="1"/>
          <p:nvPr/>
        </p:nvSpPr>
        <p:spPr>
          <a:xfrm>
            <a:off x="1895475" y="3124200"/>
            <a:ext cx="44481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pt-BR" sz="975" u="none" cap="none" strike="noStrike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O DE</a:t>
            </a:r>
            <a:r>
              <a:rPr b="1" lang="pt-BR" sz="975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SAP</a:t>
            </a:r>
            <a:r>
              <a:rPr b="1" i="0" lang="pt-BR" sz="975" u="none" cap="none" strike="noStrike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IO</a:t>
            </a:r>
            <a:endParaRPr b="0" i="0" sz="9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37"/>
          <p:cNvSpPr txBox="1"/>
          <p:nvPr/>
        </p:nvSpPr>
        <p:spPr>
          <a:xfrm>
            <a:off x="1895475" y="3371850"/>
            <a:ext cx="44481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5"/>
              <a:buFont typeface="Arial"/>
              <a:buNone/>
            </a:pPr>
            <a:r>
              <a:rPr b="1" i="0" lang="pt-BR" sz="2175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Preço em mercado competitivo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37"/>
          <p:cNvSpPr txBox="1"/>
          <p:nvPr/>
        </p:nvSpPr>
        <p:spPr>
          <a:xfrm>
            <a:off x="1895475" y="4381500"/>
            <a:ext cx="4448175" cy="257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8"/>
              <a:buFont typeface="Arial"/>
              <a:buNone/>
            </a:pPr>
            <a:r>
              <a:rPr b="1" i="0" lang="pt-BR" sz="1538" u="none" cap="none" strike="noStrike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✓  </a:t>
            </a:r>
            <a:r>
              <a:rPr b="0" i="0" lang="pt-BR" sz="1538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Definir preço olhando o próprio produto e os concorrentes</a:t>
            </a:r>
            <a:endParaRPr b="0" i="0" sz="15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0" i="0" sz="15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8"/>
              <a:buFont typeface="Arial"/>
              <a:buNone/>
            </a:pPr>
            <a:r>
              <a:rPr b="1" i="0" lang="pt-BR" sz="1538" u="none" cap="none" strike="noStrike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✓  </a:t>
            </a:r>
            <a:r>
              <a:rPr b="0" i="0" lang="pt-BR" sz="1538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Entender quanto a demanda reage a cada variação</a:t>
            </a:r>
            <a:endParaRPr b="0" i="0" sz="15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0" i="0" sz="15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8"/>
              <a:buFont typeface="Arial"/>
              <a:buNone/>
            </a:pPr>
            <a:r>
              <a:rPr b="1" i="0" lang="pt-BR" sz="1538" u="none" cap="none" strike="noStrike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✓  </a:t>
            </a:r>
            <a:r>
              <a:rPr b="0" i="0" lang="pt-BR" sz="1538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Decidir com evidência, e não por percepção</a:t>
            </a:r>
            <a:endParaRPr b="0" i="0" sz="15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37"/>
          <p:cNvSpPr/>
          <p:nvPr/>
        </p:nvSpPr>
        <p:spPr>
          <a:xfrm>
            <a:off x="7048500" y="2762250"/>
            <a:ext cx="5095875" cy="4381500"/>
          </a:xfrm>
          <a:prstGeom prst="roundRect">
            <a:avLst>
              <a:gd fmla="val 3043" name="adj"/>
            </a:avLst>
          </a:prstGeom>
          <a:solidFill>
            <a:srgbClr val="0033FF"/>
          </a:solidFill>
          <a:ln>
            <a:noFill/>
          </a:ln>
          <a:effectLst>
            <a:outerShdw blurRad="101600" rotWithShape="0" algn="bl" dir="5400000" dist="1905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7"/>
          <p:cNvSpPr/>
          <p:nvPr/>
        </p:nvSpPr>
        <p:spPr>
          <a:xfrm>
            <a:off x="7048500" y="2809875"/>
            <a:ext cx="5095875" cy="4333875"/>
          </a:xfrm>
          <a:prstGeom prst="roundRect">
            <a:avLst>
              <a:gd fmla="val 307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37"/>
          <p:cNvSpPr txBox="1"/>
          <p:nvPr/>
        </p:nvSpPr>
        <p:spPr>
          <a:xfrm>
            <a:off x="7372350" y="3124200"/>
            <a:ext cx="44481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pt-BR" sz="975" u="none" cap="none" strike="noStrike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O QUE FOI ENTREGUE</a:t>
            </a:r>
            <a:endParaRPr b="0" i="0" sz="9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37"/>
          <p:cNvSpPr txBox="1"/>
          <p:nvPr/>
        </p:nvSpPr>
        <p:spPr>
          <a:xfrm>
            <a:off x="7372350" y="3371850"/>
            <a:ext cx="44481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5"/>
              <a:buFont typeface="Arial"/>
              <a:buNone/>
            </a:pPr>
            <a:r>
              <a:rPr b="1" i="0" lang="pt-BR" sz="2175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Simulador de elasticidade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37"/>
          <p:cNvSpPr txBox="1"/>
          <p:nvPr/>
        </p:nvSpPr>
        <p:spPr>
          <a:xfrm>
            <a:off x="7372350" y="4381500"/>
            <a:ext cx="4448175" cy="257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8"/>
              <a:buFont typeface="Arial"/>
              <a:buNone/>
            </a:pPr>
            <a:r>
              <a:rPr b="1" i="0" lang="pt-BR" sz="1538" u="none" cap="none" strike="noStrike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✓  </a:t>
            </a:r>
            <a:r>
              <a:rPr b="0" i="0" lang="pt-BR" sz="1538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Variação de preço próprio e de concorrentes, ponto a ponto</a:t>
            </a:r>
            <a:endParaRPr b="0" i="0" sz="15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0" i="0" sz="15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8"/>
              <a:buFont typeface="Arial"/>
              <a:buNone/>
            </a:pPr>
            <a:r>
              <a:rPr b="1" i="0" lang="pt-BR" sz="1538" u="none" cap="none" strike="noStrike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✓  </a:t>
            </a:r>
            <a:r>
              <a:rPr b="0" i="0" lang="pt-BR" sz="1538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Efeito estimado sobre demanda e receita</a:t>
            </a:r>
            <a:endParaRPr b="0" i="0" sz="15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0" i="0" sz="15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8"/>
              <a:buFont typeface="Arial"/>
              <a:buNone/>
            </a:pPr>
            <a:r>
              <a:rPr b="1" i="0" lang="pt-BR" sz="1538" u="none" cap="none" strike="noStrike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✓  </a:t>
            </a:r>
            <a:r>
              <a:rPr b="0" i="0" lang="pt-BR" sz="1538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Cenários comparáveis para apoiar a decisão comercial</a:t>
            </a:r>
            <a:endParaRPr b="0" i="0" sz="15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37"/>
          <p:cNvSpPr/>
          <p:nvPr/>
        </p:nvSpPr>
        <p:spPr>
          <a:xfrm>
            <a:off x="12525375" y="2762250"/>
            <a:ext cx="5095875" cy="4381500"/>
          </a:xfrm>
          <a:prstGeom prst="roundRect">
            <a:avLst>
              <a:gd fmla="val 3043" name="adj"/>
            </a:avLst>
          </a:prstGeom>
          <a:solidFill>
            <a:srgbClr val="001863"/>
          </a:solidFill>
          <a:ln>
            <a:noFill/>
          </a:ln>
          <a:effectLst>
            <a:outerShdw blurRad="101600" rotWithShape="0" algn="bl" dir="5400000" dist="1905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37"/>
          <p:cNvSpPr/>
          <p:nvPr/>
        </p:nvSpPr>
        <p:spPr>
          <a:xfrm>
            <a:off x="12525375" y="2809875"/>
            <a:ext cx="5095875" cy="4333875"/>
          </a:xfrm>
          <a:prstGeom prst="roundRect">
            <a:avLst>
              <a:gd fmla="val 307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37"/>
          <p:cNvSpPr txBox="1"/>
          <p:nvPr/>
        </p:nvSpPr>
        <p:spPr>
          <a:xfrm>
            <a:off x="12849225" y="3124200"/>
            <a:ext cx="44481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pt-BR" sz="975" u="none" cap="none" strike="noStrike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NA DIRECIONAL</a:t>
            </a:r>
            <a:endParaRPr b="0" i="0" sz="9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37"/>
          <p:cNvSpPr txBox="1"/>
          <p:nvPr/>
        </p:nvSpPr>
        <p:spPr>
          <a:xfrm>
            <a:off x="12849225" y="3371850"/>
            <a:ext cx="44481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5"/>
              <a:buFont typeface="Arial"/>
              <a:buNone/>
            </a:pPr>
            <a:r>
              <a:rPr b="1" i="0" lang="pt-BR" sz="2175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Mesma lógica, unidade mais complexa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37"/>
          <p:cNvSpPr txBox="1"/>
          <p:nvPr/>
        </p:nvSpPr>
        <p:spPr>
          <a:xfrm>
            <a:off x="12849225" y="4381500"/>
            <a:ext cx="4448175" cy="257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8"/>
              <a:buFont typeface="Arial"/>
              <a:buNone/>
            </a:pPr>
            <a:r>
              <a:rPr b="1" i="0" lang="pt-BR" sz="1538" u="none" cap="none" strike="noStrike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✓  </a:t>
            </a:r>
            <a:r>
              <a:rPr b="0" i="0" lang="pt-BR" sz="1538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Empreendimentos com mais de 100 unidades diferentes</a:t>
            </a:r>
            <a:endParaRPr b="0" i="0" sz="15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0" i="0" sz="15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8"/>
              <a:buFont typeface="Arial"/>
              <a:buNone/>
            </a:pPr>
            <a:r>
              <a:rPr b="1" i="0" lang="pt-BR" sz="1538" u="none" cap="none" strike="noStrike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✓  </a:t>
            </a:r>
            <a:r>
              <a:rPr b="0" i="0" lang="pt-BR" sz="1538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Atributos como andar, posição solar, metragem e vagas</a:t>
            </a:r>
            <a:endParaRPr b="0" i="0" sz="15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0" i="0" sz="15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8"/>
              <a:buFont typeface="Arial"/>
              <a:buNone/>
            </a:pPr>
            <a:r>
              <a:rPr b="1" i="0" lang="pt-BR" sz="1538" u="none" cap="none" strike="noStrike">
                <a:solidFill>
                  <a:srgbClr val="0033FF"/>
                </a:solidFill>
                <a:latin typeface="Lato"/>
                <a:ea typeface="Lato"/>
                <a:cs typeface="Lato"/>
                <a:sym typeface="Lato"/>
              </a:rPr>
              <a:t>✓  </a:t>
            </a:r>
            <a:r>
              <a:rPr b="0" i="0" lang="pt-BR" sz="1538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Ciclo longo e efeito do crédito no comprador</a:t>
            </a:r>
            <a:endParaRPr b="0" i="0" sz="15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37"/>
          <p:cNvSpPr/>
          <p:nvPr/>
        </p:nvSpPr>
        <p:spPr>
          <a:xfrm>
            <a:off x="1571625" y="7524750"/>
            <a:ext cx="16049625" cy="1905000"/>
          </a:xfrm>
          <a:prstGeom prst="roundRect">
            <a:avLst>
              <a:gd fmla="val 7000" name="adj"/>
            </a:avLst>
          </a:prstGeom>
          <a:solidFill>
            <a:srgbClr val="1A1A1A"/>
          </a:solidFill>
          <a:ln>
            <a:noFill/>
          </a:ln>
          <a:effectLst>
            <a:outerShdw blurRad="101600" rotWithShape="0" algn="bl" dir="5400000" dist="1905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7"/>
          <p:cNvSpPr txBox="1"/>
          <p:nvPr/>
        </p:nvSpPr>
        <p:spPr>
          <a:xfrm>
            <a:off x="1895475" y="7791450"/>
            <a:ext cx="4191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pt-BR" sz="975" u="none" cap="none" strike="noStrike">
                <a:solidFill>
                  <a:srgbClr val="B9C4FF"/>
                </a:solidFill>
                <a:latin typeface="Lato"/>
                <a:ea typeface="Lato"/>
                <a:cs typeface="Lato"/>
                <a:sym typeface="Lato"/>
              </a:rPr>
              <a:t>O QUE SE APROVEITA</a:t>
            </a:r>
            <a:endParaRPr b="0" i="0" sz="9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37"/>
          <p:cNvSpPr txBox="1"/>
          <p:nvPr/>
        </p:nvSpPr>
        <p:spPr>
          <a:xfrm>
            <a:off x="1895475" y="8039100"/>
            <a:ext cx="41910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pt-BR" sz="1875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Método já testado, adaptado ao imobiliário</a:t>
            </a:r>
            <a:endParaRPr b="0" i="0" sz="18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37"/>
          <p:cNvSpPr/>
          <p:nvPr/>
        </p:nvSpPr>
        <p:spPr>
          <a:xfrm>
            <a:off x="6334125" y="7772400"/>
            <a:ext cx="23812" cy="14097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7"/>
          <p:cNvSpPr txBox="1"/>
          <p:nvPr/>
        </p:nvSpPr>
        <p:spPr>
          <a:xfrm>
            <a:off x="6715125" y="7791450"/>
            <a:ext cx="32861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pt-BR" sz="2700" u="none" cap="none" strike="noStrike">
                <a:solidFill>
                  <a:srgbClr val="B9C4FF"/>
                </a:solidFill>
                <a:latin typeface="Lato"/>
                <a:ea typeface="Lato"/>
                <a:cs typeface="Lato"/>
                <a:sym typeface="Lato"/>
              </a:rPr>
              <a:t>Elasticidade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37"/>
          <p:cNvSpPr txBox="1"/>
          <p:nvPr/>
        </p:nvSpPr>
        <p:spPr>
          <a:xfrm>
            <a:off x="6715125" y="8286750"/>
            <a:ext cx="3286125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8"/>
              <a:buFont typeface="Arial"/>
              <a:buNone/>
            </a:pPr>
            <a:r>
              <a:rPr b="0" i="0" lang="pt-BR" sz="1388" u="none" cap="none" strike="noStrike">
                <a:solidFill>
                  <a:srgbClr val="D8D8D8"/>
                </a:solidFill>
                <a:latin typeface="Lato"/>
                <a:ea typeface="Lato"/>
                <a:cs typeface="Lato"/>
                <a:sym typeface="Lato"/>
              </a:rPr>
              <a:t>medida de quanto a venda reage ao preço</a:t>
            </a:r>
            <a:endParaRPr b="0" i="0" sz="138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37"/>
          <p:cNvSpPr txBox="1"/>
          <p:nvPr/>
        </p:nvSpPr>
        <p:spPr>
          <a:xfrm>
            <a:off x="10287000" y="7791450"/>
            <a:ext cx="32861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pt-BR" sz="2700" u="none" cap="none" strike="noStrike">
                <a:solidFill>
                  <a:srgbClr val="B9C4FF"/>
                </a:solidFill>
                <a:latin typeface="Lato"/>
                <a:ea typeface="Lato"/>
                <a:cs typeface="Lato"/>
                <a:sym typeface="Lato"/>
              </a:rPr>
              <a:t>Cenários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37"/>
          <p:cNvSpPr txBox="1"/>
          <p:nvPr/>
        </p:nvSpPr>
        <p:spPr>
          <a:xfrm>
            <a:off x="10287000" y="8286750"/>
            <a:ext cx="3286125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8"/>
              <a:buFont typeface="Arial"/>
              <a:buNone/>
            </a:pPr>
            <a:r>
              <a:rPr b="0" i="0" lang="pt-BR" sz="1388" u="none" cap="none" strike="noStrike">
                <a:solidFill>
                  <a:srgbClr val="D8D8D8"/>
                </a:solidFill>
                <a:latin typeface="Lato"/>
                <a:ea typeface="Lato"/>
                <a:cs typeface="Lato"/>
                <a:sym typeface="Lato"/>
              </a:rPr>
              <a:t>comparação lado a lado antes da decisão</a:t>
            </a:r>
            <a:endParaRPr b="0" i="0" sz="138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37"/>
          <p:cNvSpPr txBox="1"/>
          <p:nvPr/>
        </p:nvSpPr>
        <p:spPr>
          <a:xfrm>
            <a:off x="13858875" y="7791450"/>
            <a:ext cx="32861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pt-BR" sz="2700" u="none" cap="none" strike="noStrike">
                <a:solidFill>
                  <a:srgbClr val="B9C4FF"/>
                </a:solidFill>
                <a:latin typeface="Lato"/>
                <a:ea typeface="Lato"/>
                <a:cs typeface="Lato"/>
                <a:sym typeface="Lato"/>
              </a:rPr>
              <a:t>Cocriação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37"/>
          <p:cNvSpPr txBox="1"/>
          <p:nvPr/>
        </p:nvSpPr>
        <p:spPr>
          <a:xfrm>
            <a:off x="13858875" y="8286750"/>
            <a:ext cx="3286125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8"/>
              <a:buFont typeface="Arial"/>
              <a:buNone/>
            </a:pPr>
            <a:r>
              <a:rPr b="0" i="0" lang="pt-BR" sz="1388" u="none" cap="none" strike="noStrike">
                <a:solidFill>
                  <a:srgbClr val="D8D8D8"/>
                </a:solidFill>
                <a:latin typeface="Lato"/>
                <a:ea typeface="Lato"/>
                <a:cs typeface="Lato"/>
                <a:sym typeface="Lato"/>
              </a:rPr>
              <a:t>variáveis definidas junto com o time de negócio</a:t>
            </a:r>
            <a:endParaRPr b="0" i="0" sz="138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8"/>
          <p:cNvSpPr txBox="1"/>
          <p:nvPr/>
        </p:nvSpPr>
        <p:spPr>
          <a:xfrm>
            <a:off x="1571625" y="361950"/>
            <a:ext cx="857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pt-BR" sz="825" u="none" cap="none" strike="noStrike">
                <a:solidFill>
                  <a:srgbClr val="34343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EMPOWERING PEOPLE THROUGH DATA</a:t>
            </a:r>
            <a:endParaRPr b="0" i="0" sz="8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38"/>
          <p:cNvSpPr txBox="1"/>
          <p:nvPr/>
        </p:nvSpPr>
        <p:spPr>
          <a:xfrm>
            <a:off x="1571625" y="1238250"/>
            <a:ext cx="1619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Arquitetura de </a:t>
            </a:r>
            <a:r>
              <a:rPr b="1" lang="pt-BR" sz="3600">
                <a:latin typeface="Lato"/>
                <a:ea typeface="Lato"/>
                <a:cs typeface="Lato"/>
                <a:sym typeface="Lato"/>
              </a:rPr>
              <a:t>Referência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tmp/claude-0/-home-claude/13ae847d-f382-5450-9da1-84664dc5272b/scratchpad/deck/assets/logo-a3data.png" id="408" name="Google Shape;408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050" y="9877425"/>
            <a:ext cx="838200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38"/>
          <p:cNvSpPr txBox="1"/>
          <p:nvPr/>
        </p:nvSpPr>
        <p:spPr>
          <a:xfrm>
            <a:off x="1533525" y="98679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Arial"/>
              <a:buNone/>
            </a:pPr>
            <a:r>
              <a:rPr b="0" i="0" lang="pt-BR" sz="788" u="none" cap="none" strike="noStrike">
                <a:solidFill>
                  <a:srgbClr val="34343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LOUCOS POR DADOS APAIXONADOS POR GENTE</a:t>
            </a:r>
            <a:endParaRPr b="0" i="0" sz="78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0" name="Google Shape;410;p38" title="Diagrama sem nome.drawio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000250"/>
            <a:ext cx="17983201" cy="6945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9"/>
          <p:cNvPicPr preferRelativeResize="0"/>
          <p:nvPr/>
        </p:nvPicPr>
        <p:blipFill rotWithShape="1">
          <a:blip r:embed="rId3">
            <a:alphaModFix/>
          </a:blip>
          <a:srcRect b="7807" l="0" r="0" t="7798"/>
          <a:stretch/>
        </p:blipFill>
        <p:spPr>
          <a:xfrm>
            <a:off x="-33600" y="0"/>
            <a:ext cx="18288000" cy="10286998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9"/>
          <p:cNvSpPr/>
          <p:nvPr/>
        </p:nvSpPr>
        <p:spPr>
          <a:xfrm rot="-5400000">
            <a:off x="4000350" y="-4033950"/>
            <a:ext cx="10287000" cy="18354900"/>
          </a:xfrm>
          <a:prstGeom prst="rect">
            <a:avLst/>
          </a:prstGeom>
          <a:gradFill>
            <a:gsLst>
              <a:gs pos="0">
                <a:srgbClr val="000000">
                  <a:alpha val="29804"/>
                </a:srgbClr>
              </a:gs>
              <a:gs pos="100000">
                <a:srgbClr val="000000">
                  <a:alpha val="29804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3165F5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418" name="Google Shape;418;p39"/>
          <p:cNvSpPr txBox="1"/>
          <p:nvPr/>
        </p:nvSpPr>
        <p:spPr>
          <a:xfrm>
            <a:off x="1441647" y="9875975"/>
            <a:ext cx="1890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© </a:t>
            </a:r>
            <a:r>
              <a:rPr lang="pt-BR" sz="8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2026</a:t>
            </a:r>
            <a:r>
              <a:rPr b="0" i="0" lang="pt-BR" sz="800" u="none" cap="none" strike="noStrik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 · A3DATA CONSULTORIA S/A.</a:t>
            </a:r>
            <a:endParaRPr b="0" i="0" sz="800" u="none" cap="none" strike="noStrike">
              <a:solidFill>
                <a:srgbClr val="F5F5F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9" name="Google Shape;419;p39"/>
          <p:cNvSpPr txBox="1"/>
          <p:nvPr/>
        </p:nvSpPr>
        <p:spPr>
          <a:xfrm>
            <a:off x="3585947" y="9876000"/>
            <a:ext cx="2465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2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LOUCOS POR DADOS APAIXONADOS POR GENTE</a:t>
            </a:r>
            <a:endParaRPr b="0" i="0" sz="800" u="none" cap="none" strike="noStrike">
              <a:solidFill>
                <a:srgbClr val="F5F5F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20" name="Google Shape;420;p39"/>
          <p:cNvGrpSpPr/>
          <p:nvPr/>
        </p:nvGrpSpPr>
        <p:grpSpPr>
          <a:xfrm>
            <a:off x="432272" y="9864430"/>
            <a:ext cx="614668" cy="115253"/>
            <a:chOff x="2716728" y="4386757"/>
            <a:chExt cx="2400109" cy="450558"/>
          </a:xfrm>
        </p:grpSpPr>
        <p:sp>
          <p:nvSpPr>
            <p:cNvPr id="421" name="Google Shape;421;p39"/>
            <p:cNvSpPr/>
            <p:nvPr/>
          </p:nvSpPr>
          <p:spPr>
            <a:xfrm>
              <a:off x="4494569" y="4561350"/>
              <a:ext cx="232791" cy="268795"/>
            </a:xfrm>
            <a:custGeom>
              <a:rect b="b" l="l" r="r" t="t"/>
              <a:pathLst>
                <a:path extrusionOk="0" h="268795" w="232791">
                  <a:moveTo>
                    <a:pt x="232791" y="268796"/>
                  </a:moveTo>
                  <a:lnTo>
                    <a:pt x="77629" y="268796"/>
                  </a:lnTo>
                  <a:lnTo>
                    <a:pt x="0" y="134398"/>
                  </a:lnTo>
                  <a:lnTo>
                    <a:pt x="77629" y="0"/>
                  </a:lnTo>
                  <a:lnTo>
                    <a:pt x="232791" y="268796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45725" lIns="91425" spcFirstLastPara="1" rIns="91425" wrap="square" tIns="4572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39"/>
            <p:cNvSpPr/>
            <p:nvPr/>
          </p:nvSpPr>
          <p:spPr>
            <a:xfrm>
              <a:off x="4690022" y="4561826"/>
              <a:ext cx="232791" cy="268795"/>
            </a:xfrm>
            <a:custGeom>
              <a:rect b="b" l="l" r="r" t="t"/>
              <a:pathLst>
                <a:path extrusionOk="0" h="268795" w="232791">
                  <a:moveTo>
                    <a:pt x="232791" y="268796"/>
                  </a:moveTo>
                  <a:lnTo>
                    <a:pt x="77629" y="268796"/>
                  </a:lnTo>
                  <a:lnTo>
                    <a:pt x="0" y="134398"/>
                  </a:lnTo>
                  <a:lnTo>
                    <a:pt x="77629" y="0"/>
                  </a:lnTo>
                  <a:lnTo>
                    <a:pt x="232791" y="268796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45725" lIns="91425" spcFirstLastPara="1" rIns="91425" wrap="square" tIns="4572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39"/>
            <p:cNvSpPr/>
            <p:nvPr/>
          </p:nvSpPr>
          <p:spPr>
            <a:xfrm>
              <a:off x="4884046" y="4561826"/>
              <a:ext cx="232791" cy="268795"/>
            </a:xfrm>
            <a:custGeom>
              <a:rect b="b" l="l" r="r" t="t"/>
              <a:pathLst>
                <a:path extrusionOk="0" h="268795" w="232791">
                  <a:moveTo>
                    <a:pt x="232791" y="268796"/>
                  </a:moveTo>
                  <a:lnTo>
                    <a:pt x="77533" y="268796"/>
                  </a:lnTo>
                  <a:lnTo>
                    <a:pt x="0" y="134398"/>
                  </a:lnTo>
                  <a:lnTo>
                    <a:pt x="77533" y="0"/>
                  </a:lnTo>
                  <a:lnTo>
                    <a:pt x="232791" y="268796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45725" lIns="91425" spcFirstLastPara="1" rIns="91425" wrap="square" tIns="4572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39"/>
            <p:cNvSpPr/>
            <p:nvPr/>
          </p:nvSpPr>
          <p:spPr>
            <a:xfrm>
              <a:off x="3298038" y="4392567"/>
              <a:ext cx="324135" cy="437959"/>
            </a:xfrm>
            <a:custGeom>
              <a:rect b="b" l="l" r="r" t="t"/>
              <a:pathLst>
                <a:path extrusionOk="0" h="437959" w="324135">
                  <a:moveTo>
                    <a:pt x="263747" y="63151"/>
                  </a:moveTo>
                  <a:cubicBezTo>
                    <a:pt x="223552" y="21050"/>
                    <a:pt x="173355" y="0"/>
                    <a:pt x="113348" y="0"/>
                  </a:cubicBezTo>
                  <a:lnTo>
                    <a:pt x="51721" y="0"/>
                  </a:lnTo>
                  <a:cubicBezTo>
                    <a:pt x="51721" y="0"/>
                    <a:pt x="51149" y="286"/>
                    <a:pt x="51149" y="572"/>
                  </a:cubicBezTo>
                  <a:lnTo>
                    <a:pt x="51149" y="81344"/>
                  </a:lnTo>
                  <a:cubicBezTo>
                    <a:pt x="51149" y="82105"/>
                    <a:pt x="51721" y="82677"/>
                    <a:pt x="52483" y="82677"/>
                  </a:cubicBezTo>
                  <a:lnTo>
                    <a:pt x="113443" y="82677"/>
                  </a:lnTo>
                  <a:cubicBezTo>
                    <a:pt x="151352" y="82677"/>
                    <a:pt x="182213" y="95250"/>
                    <a:pt x="206026" y="120491"/>
                  </a:cubicBezTo>
                  <a:cubicBezTo>
                    <a:pt x="229743" y="145733"/>
                    <a:pt x="241649" y="178594"/>
                    <a:pt x="241649" y="218980"/>
                  </a:cubicBezTo>
                  <a:cubicBezTo>
                    <a:pt x="241649" y="259366"/>
                    <a:pt x="229743" y="292322"/>
                    <a:pt x="206026" y="317468"/>
                  </a:cubicBezTo>
                  <a:cubicBezTo>
                    <a:pt x="182309" y="342710"/>
                    <a:pt x="151352" y="355283"/>
                    <a:pt x="113443" y="355283"/>
                  </a:cubicBezTo>
                  <a:lnTo>
                    <a:pt x="56198" y="355283"/>
                  </a:lnTo>
                  <a:cubicBezTo>
                    <a:pt x="34576" y="422910"/>
                    <a:pt x="0" y="437960"/>
                    <a:pt x="0" y="437960"/>
                  </a:cubicBezTo>
                  <a:lnTo>
                    <a:pt x="113348" y="437960"/>
                  </a:lnTo>
                  <a:cubicBezTo>
                    <a:pt x="173355" y="437960"/>
                    <a:pt x="223552" y="416909"/>
                    <a:pt x="263747" y="374714"/>
                  </a:cubicBezTo>
                  <a:cubicBezTo>
                    <a:pt x="303943" y="332613"/>
                    <a:pt x="324136" y="280702"/>
                    <a:pt x="324136" y="218980"/>
                  </a:cubicBezTo>
                  <a:cubicBezTo>
                    <a:pt x="324136" y="157258"/>
                    <a:pt x="303943" y="105347"/>
                    <a:pt x="263747" y="6315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45725" lIns="91425" spcFirstLastPara="1" rIns="91425" wrap="square" tIns="4572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39"/>
            <p:cNvSpPr/>
            <p:nvPr/>
          </p:nvSpPr>
          <p:spPr>
            <a:xfrm>
              <a:off x="3635604" y="4488484"/>
              <a:ext cx="284416" cy="348519"/>
            </a:xfrm>
            <a:custGeom>
              <a:rect b="b" l="l" r="r" t="t"/>
              <a:pathLst>
                <a:path extrusionOk="0" h="348519" w="284416">
                  <a:moveTo>
                    <a:pt x="278416" y="118015"/>
                  </a:moveTo>
                  <a:cubicBezTo>
                    <a:pt x="278416" y="38576"/>
                    <a:pt x="236887" y="0"/>
                    <a:pt x="151543" y="0"/>
                  </a:cubicBezTo>
                  <a:cubicBezTo>
                    <a:pt x="87154" y="0"/>
                    <a:pt x="42481" y="22384"/>
                    <a:pt x="14954" y="68485"/>
                  </a:cubicBezTo>
                  <a:lnTo>
                    <a:pt x="13430" y="71152"/>
                  </a:lnTo>
                  <a:lnTo>
                    <a:pt x="73628" y="108490"/>
                  </a:lnTo>
                  <a:lnTo>
                    <a:pt x="75248" y="105823"/>
                  </a:lnTo>
                  <a:cubicBezTo>
                    <a:pt x="93536" y="76771"/>
                    <a:pt x="114871" y="64294"/>
                    <a:pt x="146494" y="64294"/>
                  </a:cubicBezTo>
                  <a:cubicBezTo>
                    <a:pt x="166497" y="64294"/>
                    <a:pt x="179546" y="68390"/>
                    <a:pt x="187547" y="77057"/>
                  </a:cubicBezTo>
                  <a:cubicBezTo>
                    <a:pt x="195739" y="85916"/>
                    <a:pt x="198787" y="100013"/>
                    <a:pt x="197263" y="121063"/>
                  </a:cubicBezTo>
                  <a:cubicBezTo>
                    <a:pt x="144018" y="131350"/>
                    <a:pt x="90297" y="143542"/>
                    <a:pt x="55912" y="162687"/>
                  </a:cubicBezTo>
                  <a:cubicBezTo>
                    <a:pt x="17812" y="184118"/>
                    <a:pt x="0" y="213836"/>
                    <a:pt x="0" y="256318"/>
                  </a:cubicBezTo>
                  <a:cubicBezTo>
                    <a:pt x="0" y="313182"/>
                    <a:pt x="35338" y="348520"/>
                    <a:pt x="92202" y="348520"/>
                  </a:cubicBezTo>
                  <a:cubicBezTo>
                    <a:pt x="129159" y="348520"/>
                    <a:pt x="164687" y="334994"/>
                    <a:pt x="197929" y="308324"/>
                  </a:cubicBezTo>
                  <a:lnTo>
                    <a:pt x="203168" y="342233"/>
                  </a:lnTo>
                  <a:lnTo>
                    <a:pt x="284417" y="342233"/>
                  </a:lnTo>
                  <a:lnTo>
                    <a:pt x="278416" y="279749"/>
                  </a:lnTo>
                  <a:lnTo>
                    <a:pt x="278416" y="118015"/>
                  </a:lnTo>
                  <a:close/>
                  <a:moveTo>
                    <a:pt x="194500" y="176117"/>
                  </a:moveTo>
                  <a:lnTo>
                    <a:pt x="194500" y="250031"/>
                  </a:lnTo>
                  <a:cubicBezTo>
                    <a:pt x="175546" y="270986"/>
                    <a:pt x="148685" y="283464"/>
                    <a:pt x="122492" y="283464"/>
                  </a:cubicBezTo>
                  <a:cubicBezTo>
                    <a:pt x="98774" y="283464"/>
                    <a:pt x="84582" y="269272"/>
                    <a:pt x="84582" y="245554"/>
                  </a:cubicBezTo>
                  <a:cubicBezTo>
                    <a:pt x="84582" y="225838"/>
                    <a:pt x="92583" y="210884"/>
                    <a:pt x="107632" y="202216"/>
                  </a:cubicBezTo>
                  <a:cubicBezTo>
                    <a:pt x="127540" y="191357"/>
                    <a:pt x="151829" y="184976"/>
                    <a:pt x="194596" y="176117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45725" lIns="91425" spcFirstLastPara="1" rIns="91425" wrap="square" tIns="4572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39"/>
            <p:cNvSpPr/>
            <p:nvPr/>
          </p:nvSpPr>
          <p:spPr>
            <a:xfrm>
              <a:off x="3937261" y="4386757"/>
              <a:ext cx="198882" cy="448913"/>
            </a:xfrm>
            <a:custGeom>
              <a:rect b="b" l="l" r="r" t="t"/>
              <a:pathLst>
                <a:path extrusionOk="0" h="448913" w="198882">
                  <a:moveTo>
                    <a:pt x="131254" y="0"/>
                  </a:moveTo>
                  <a:lnTo>
                    <a:pt x="48006" y="0"/>
                  </a:lnTo>
                  <a:lnTo>
                    <a:pt x="48006" y="109252"/>
                  </a:lnTo>
                  <a:lnTo>
                    <a:pt x="0" y="109252"/>
                  </a:lnTo>
                  <a:lnTo>
                    <a:pt x="0" y="174879"/>
                  </a:lnTo>
                  <a:lnTo>
                    <a:pt x="48006" y="174879"/>
                  </a:lnTo>
                  <a:lnTo>
                    <a:pt x="48006" y="349853"/>
                  </a:lnTo>
                  <a:cubicBezTo>
                    <a:pt x="48006" y="423005"/>
                    <a:pt x="71438" y="448913"/>
                    <a:pt x="137636" y="448913"/>
                  </a:cubicBezTo>
                  <a:cubicBezTo>
                    <a:pt x="160115" y="448913"/>
                    <a:pt x="179832" y="446056"/>
                    <a:pt x="196310" y="443198"/>
                  </a:cubicBezTo>
                  <a:lnTo>
                    <a:pt x="198882" y="442722"/>
                  </a:lnTo>
                  <a:lnTo>
                    <a:pt x="198882" y="373571"/>
                  </a:lnTo>
                  <a:lnTo>
                    <a:pt x="194977" y="374523"/>
                  </a:lnTo>
                  <a:cubicBezTo>
                    <a:pt x="183166" y="377476"/>
                    <a:pt x="172117" y="378809"/>
                    <a:pt x="160401" y="378809"/>
                  </a:cubicBezTo>
                  <a:cubicBezTo>
                    <a:pt x="139446" y="378809"/>
                    <a:pt x="131350" y="369094"/>
                    <a:pt x="131350" y="344043"/>
                  </a:cubicBezTo>
                  <a:lnTo>
                    <a:pt x="131350" y="174879"/>
                  </a:lnTo>
                  <a:lnTo>
                    <a:pt x="198882" y="174879"/>
                  </a:lnTo>
                  <a:lnTo>
                    <a:pt x="198882" y="109252"/>
                  </a:lnTo>
                  <a:lnTo>
                    <a:pt x="131350" y="109252"/>
                  </a:lnTo>
                  <a:lnTo>
                    <a:pt x="131350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45725" lIns="91425" spcFirstLastPara="1" rIns="91425" wrap="square" tIns="4572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39"/>
            <p:cNvSpPr/>
            <p:nvPr/>
          </p:nvSpPr>
          <p:spPr>
            <a:xfrm>
              <a:off x="4165670" y="4488484"/>
              <a:ext cx="284416" cy="348519"/>
            </a:xfrm>
            <a:custGeom>
              <a:rect b="b" l="l" r="r" t="t"/>
              <a:pathLst>
                <a:path extrusionOk="0" h="348519" w="284416">
                  <a:moveTo>
                    <a:pt x="278416" y="279654"/>
                  </a:moveTo>
                  <a:lnTo>
                    <a:pt x="278416" y="118015"/>
                  </a:lnTo>
                  <a:cubicBezTo>
                    <a:pt x="278416" y="38576"/>
                    <a:pt x="236887" y="0"/>
                    <a:pt x="151543" y="0"/>
                  </a:cubicBezTo>
                  <a:cubicBezTo>
                    <a:pt x="87154" y="0"/>
                    <a:pt x="42482" y="22384"/>
                    <a:pt x="14954" y="68485"/>
                  </a:cubicBezTo>
                  <a:lnTo>
                    <a:pt x="13430" y="71152"/>
                  </a:lnTo>
                  <a:lnTo>
                    <a:pt x="73628" y="108490"/>
                  </a:lnTo>
                  <a:lnTo>
                    <a:pt x="75248" y="105823"/>
                  </a:lnTo>
                  <a:cubicBezTo>
                    <a:pt x="93536" y="76771"/>
                    <a:pt x="114871" y="64294"/>
                    <a:pt x="146495" y="64294"/>
                  </a:cubicBezTo>
                  <a:cubicBezTo>
                    <a:pt x="166497" y="64294"/>
                    <a:pt x="179546" y="68390"/>
                    <a:pt x="187547" y="77057"/>
                  </a:cubicBezTo>
                  <a:cubicBezTo>
                    <a:pt x="195739" y="85916"/>
                    <a:pt x="198787" y="100013"/>
                    <a:pt x="197263" y="121063"/>
                  </a:cubicBezTo>
                  <a:cubicBezTo>
                    <a:pt x="144018" y="131350"/>
                    <a:pt x="90297" y="143542"/>
                    <a:pt x="55912" y="162687"/>
                  </a:cubicBezTo>
                  <a:cubicBezTo>
                    <a:pt x="17812" y="184118"/>
                    <a:pt x="0" y="213836"/>
                    <a:pt x="0" y="256318"/>
                  </a:cubicBezTo>
                  <a:cubicBezTo>
                    <a:pt x="0" y="313182"/>
                    <a:pt x="35338" y="348520"/>
                    <a:pt x="92202" y="348520"/>
                  </a:cubicBezTo>
                  <a:cubicBezTo>
                    <a:pt x="129159" y="348520"/>
                    <a:pt x="164687" y="334994"/>
                    <a:pt x="197929" y="308324"/>
                  </a:cubicBezTo>
                  <a:lnTo>
                    <a:pt x="203168" y="342233"/>
                  </a:lnTo>
                  <a:lnTo>
                    <a:pt x="284417" y="342233"/>
                  </a:lnTo>
                  <a:lnTo>
                    <a:pt x="278416" y="279749"/>
                  </a:lnTo>
                  <a:close/>
                  <a:moveTo>
                    <a:pt x="194500" y="176117"/>
                  </a:moveTo>
                  <a:lnTo>
                    <a:pt x="194500" y="250031"/>
                  </a:lnTo>
                  <a:cubicBezTo>
                    <a:pt x="175546" y="270986"/>
                    <a:pt x="148685" y="283464"/>
                    <a:pt x="122492" y="283464"/>
                  </a:cubicBezTo>
                  <a:cubicBezTo>
                    <a:pt x="98774" y="283464"/>
                    <a:pt x="84582" y="269272"/>
                    <a:pt x="84582" y="245554"/>
                  </a:cubicBezTo>
                  <a:cubicBezTo>
                    <a:pt x="84582" y="225838"/>
                    <a:pt x="92583" y="210884"/>
                    <a:pt x="107633" y="202216"/>
                  </a:cubicBezTo>
                  <a:cubicBezTo>
                    <a:pt x="127540" y="191357"/>
                    <a:pt x="151829" y="184976"/>
                    <a:pt x="194596" y="176117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45725" lIns="91425" spcFirstLastPara="1" rIns="91425" wrap="square" tIns="4572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8" name="Google Shape;428;p39"/>
            <p:cNvGrpSpPr/>
            <p:nvPr/>
          </p:nvGrpSpPr>
          <p:grpSpPr>
            <a:xfrm>
              <a:off x="2716728" y="4391709"/>
              <a:ext cx="602932" cy="445606"/>
              <a:chOff x="2716728" y="4391709"/>
              <a:chExt cx="602932" cy="445606"/>
            </a:xfrm>
          </p:grpSpPr>
          <p:sp>
            <p:nvSpPr>
              <p:cNvPr id="429" name="Google Shape;429;p39"/>
              <p:cNvSpPr/>
              <p:nvPr/>
            </p:nvSpPr>
            <p:spPr>
              <a:xfrm>
                <a:off x="2716728" y="4391709"/>
                <a:ext cx="415480" cy="438816"/>
              </a:xfrm>
              <a:custGeom>
                <a:rect b="b" l="l" r="r" t="t"/>
                <a:pathLst>
                  <a:path extrusionOk="0" h="438816" w="415480">
                    <a:moveTo>
                      <a:pt x="415481" y="438817"/>
                    </a:moveTo>
                    <a:lnTo>
                      <a:pt x="254318" y="2286"/>
                    </a:lnTo>
                    <a:cubicBezTo>
                      <a:pt x="253841" y="953"/>
                      <a:pt x="252508" y="0"/>
                      <a:pt x="251079" y="0"/>
                    </a:cubicBezTo>
                    <a:lnTo>
                      <a:pt x="161735" y="0"/>
                    </a:lnTo>
                    <a:lnTo>
                      <a:pt x="161735" y="10001"/>
                    </a:lnTo>
                    <a:lnTo>
                      <a:pt x="0" y="438817"/>
                    </a:lnTo>
                    <a:lnTo>
                      <a:pt x="93440" y="438817"/>
                    </a:lnTo>
                    <a:lnTo>
                      <a:pt x="123158" y="348139"/>
                    </a:lnTo>
                    <a:lnTo>
                      <a:pt x="293561" y="348139"/>
                    </a:lnTo>
                    <a:lnTo>
                      <a:pt x="327850" y="438817"/>
                    </a:lnTo>
                    <a:lnTo>
                      <a:pt x="415481" y="438817"/>
                    </a:lnTo>
                    <a:close/>
                    <a:moveTo>
                      <a:pt x="271367" y="278892"/>
                    </a:moveTo>
                    <a:lnTo>
                      <a:pt x="145352" y="278892"/>
                    </a:lnTo>
                    <a:lnTo>
                      <a:pt x="204406" y="95726"/>
                    </a:lnTo>
                    <a:lnTo>
                      <a:pt x="204406" y="92393"/>
                    </a:lnTo>
                    <a:lnTo>
                      <a:pt x="211836" y="92393"/>
                    </a:lnTo>
                    <a:lnTo>
                      <a:pt x="211836" y="95726"/>
                    </a:lnTo>
                    <a:lnTo>
                      <a:pt x="271463" y="278987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45725" lIns="91425" spcFirstLastPara="1" rIns="91425" wrap="square" tIns="45725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" name="Google Shape;430;p39"/>
              <p:cNvSpPr/>
              <p:nvPr/>
            </p:nvSpPr>
            <p:spPr>
              <a:xfrm>
                <a:off x="3015327" y="4391805"/>
                <a:ext cx="304333" cy="445510"/>
              </a:xfrm>
              <a:custGeom>
                <a:rect b="b" l="l" r="r" t="t"/>
                <a:pathLst>
                  <a:path extrusionOk="0" h="445510" w="304333">
                    <a:moveTo>
                      <a:pt x="218227" y="174593"/>
                    </a:moveTo>
                    <a:lnTo>
                      <a:pt x="288331" y="84201"/>
                    </a:lnTo>
                    <a:cubicBezTo>
                      <a:pt x="288903" y="83534"/>
                      <a:pt x="289188" y="82582"/>
                      <a:pt x="289188" y="81725"/>
                    </a:cubicBezTo>
                    <a:lnTo>
                      <a:pt x="289188" y="762"/>
                    </a:lnTo>
                    <a:cubicBezTo>
                      <a:pt x="289188" y="762"/>
                      <a:pt x="288807" y="0"/>
                      <a:pt x="288426" y="0"/>
                    </a:cubicBezTo>
                    <a:lnTo>
                      <a:pt x="581" y="381"/>
                    </a:lnTo>
                    <a:cubicBezTo>
                      <a:pt x="581" y="381"/>
                      <a:pt x="-86" y="762"/>
                      <a:pt x="9" y="1238"/>
                    </a:cubicBezTo>
                    <a:lnTo>
                      <a:pt x="24870" y="70199"/>
                    </a:lnTo>
                    <a:lnTo>
                      <a:pt x="210607" y="70199"/>
                    </a:lnTo>
                    <a:lnTo>
                      <a:pt x="195081" y="81915"/>
                    </a:lnTo>
                    <a:lnTo>
                      <a:pt x="192986" y="84392"/>
                    </a:lnTo>
                    <a:lnTo>
                      <a:pt x="104022" y="200501"/>
                    </a:lnTo>
                    <a:cubicBezTo>
                      <a:pt x="103260" y="201454"/>
                      <a:pt x="103070" y="202692"/>
                      <a:pt x="103546" y="203835"/>
                    </a:cubicBezTo>
                    <a:lnTo>
                      <a:pt x="119643" y="248888"/>
                    </a:lnTo>
                    <a:cubicBezTo>
                      <a:pt x="120977" y="252603"/>
                      <a:pt x="124977" y="254222"/>
                      <a:pt x="128406" y="252222"/>
                    </a:cubicBezTo>
                    <a:cubicBezTo>
                      <a:pt x="140979" y="245174"/>
                      <a:pt x="156124" y="242126"/>
                      <a:pt x="172221" y="245269"/>
                    </a:cubicBezTo>
                    <a:cubicBezTo>
                      <a:pt x="197748" y="250222"/>
                      <a:pt x="217179" y="269272"/>
                      <a:pt x="222323" y="294799"/>
                    </a:cubicBezTo>
                    <a:cubicBezTo>
                      <a:pt x="230324" y="334518"/>
                      <a:pt x="201463" y="369475"/>
                      <a:pt x="163744" y="371856"/>
                    </a:cubicBezTo>
                    <a:cubicBezTo>
                      <a:pt x="162411" y="371856"/>
                      <a:pt x="161077" y="372047"/>
                      <a:pt x="159744" y="372047"/>
                    </a:cubicBezTo>
                    <a:cubicBezTo>
                      <a:pt x="148599" y="372047"/>
                      <a:pt x="138027" y="369189"/>
                      <a:pt x="128883" y="364141"/>
                    </a:cubicBezTo>
                    <a:cubicBezTo>
                      <a:pt x="128883" y="364141"/>
                      <a:pt x="158029" y="445294"/>
                      <a:pt x="158124" y="445389"/>
                    </a:cubicBezTo>
                    <a:cubicBezTo>
                      <a:pt x="168792" y="445865"/>
                      <a:pt x="179175" y="444913"/>
                      <a:pt x="189176" y="443008"/>
                    </a:cubicBezTo>
                    <a:cubicBezTo>
                      <a:pt x="254708" y="430816"/>
                      <a:pt x="304333" y="373475"/>
                      <a:pt x="304333" y="304419"/>
                    </a:cubicBezTo>
                    <a:cubicBezTo>
                      <a:pt x="304333" y="246126"/>
                      <a:pt x="268995" y="196120"/>
                      <a:pt x="218513" y="174593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45725" lIns="91425" spcFirstLastPara="1" rIns="91425" wrap="square" tIns="45725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31" name="Google Shape;431;p39"/>
          <p:cNvSpPr txBox="1"/>
          <p:nvPr/>
        </p:nvSpPr>
        <p:spPr>
          <a:xfrm>
            <a:off x="1408050" y="788375"/>
            <a:ext cx="133335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65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6000"/>
              <a:buFont typeface="Lato Black"/>
              <a:buNone/>
            </a:pPr>
            <a:r>
              <a:rPr lang="pt-BR" sz="4100">
                <a:solidFill>
                  <a:srgbClr val="F5F5F5"/>
                </a:solidFill>
                <a:latin typeface="Lato Black"/>
                <a:ea typeface="Lato Black"/>
                <a:cs typeface="Lato Black"/>
                <a:sym typeface="Lato Black"/>
              </a:rPr>
              <a:t>Cronograma - 8 Semanas</a:t>
            </a:r>
            <a:endParaRPr sz="4100">
              <a:solidFill>
                <a:srgbClr val="F5F5F5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graphicFrame>
        <p:nvGraphicFramePr>
          <p:cNvPr id="432" name="Google Shape;432;p39"/>
          <p:cNvGraphicFramePr/>
          <p:nvPr/>
        </p:nvGraphicFramePr>
        <p:xfrm>
          <a:off x="3479561" y="275772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{7F2615E1-BFC9-46CB-AD60-8D5C7FC21417}</a:tableStyleId>
              </a:tblPr>
              <a:tblGrid>
                <a:gridCol w="1516500"/>
                <a:gridCol w="3186000"/>
                <a:gridCol w="3186000"/>
                <a:gridCol w="3186000"/>
                <a:gridCol w="2703000"/>
                <a:gridCol w="483000"/>
              </a:tblGrid>
              <a:tr h="56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6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33" name="Google Shape;433;p39"/>
          <p:cNvGraphicFramePr/>
          <p:nvPr/>
        </p:nvGraphicFramePr>
        <p:xfrm>
          <a:off x="592228" y="22256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{7F2615E1-BFC9-46CB-AD60-8D5C7FC21417}</a:tableStyleId>
              </a:tblPr>
              <a:tblGrid>
                <a:gridCol w="2592000"/>
              </a:tblGrid>
              <a:tr h="532025">
                <a:tc>
                  <a:txBody>
                    <a:bodyPr/>
                    <a:lstStyle/>
                    <a:p>
                      <a:pPr indent="0" lvl="0" marL="1524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>
                          <a:solidFill>
                            <a:schemeClr val="lt1"/>
                          </a:solidFill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FASES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Lato Black"/>
                        <a:ea typeface="Lato Black"/>
                        <a:cs typeface="Lato Black"/>
                        <a:sym typeface="Lato Black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pt-BR" sz="1200">
                          <a:latin typeface="Lato"/>
                          <a:ea typeface="Lato"/>
                          <a:cs typeface="Lato"/>
                          <a:sym typeface="Lato"/>
                        </a:rPr>
                        <a:t>Kick-off, entrevistas</a:t>
                      </a:r>
                      <a:endParaRPr b="1" sz="12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pt-BR" sz="1200">
                          <a:latin typeface="Lato"/>
                          <a:ea typeface="Lato"/>
                          <a:cs typeface="Lato"/>
                          <a:sym typeface="Lato"/>
                        </a:rPr>
                        <a:t>&amp; inventário das fontes</a:t>
                      </a:r>
                      <a:endParaRPr b="1" sz="12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3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pt-BR" sz="1200">
                          <a:latin typeface="Lato"/>
                          <a:ea typeface="Lato"/>
                          <a:cs typeface="Lato"/>
                          <a:sym typeface="Lato"/>
                        </a:rPr>
                        <a:t>Análise exploratória</a:t>
                      </a:r>
                      <a:endParaRPr b="1" sz="12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pt-BR" sz="1200">
                          <a:latin typeface="Lato"/>
                          <a:ea typeface="Lato"/>
                          <a:cs typeface="Lato"/>
                          <a:sym typeface="Lato"/>
                        </a:rPr>
                        <a:t>&amp; qualidade das bases</a:t>
                      </a:r>
                      <a:endParaRPr b="1" sz="12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3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pt-BR" sz="1200">
                          <a:latin typeface="Lato"/>
                          <a:ea typeface="Lato"/>
                          <a:cs typeface="Lato"/>
                          <a:sym typeface="Lato"/>
                        </a:rPr>
                        <a:t>Veredito de viabilidade,</a:t>
                      </a:r>
                      <a:endParaRPr b="1" sz="12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pt-BR" sz="1200">
                          <a:latin typeface="Lato"/>
                          <a:ea typeface="Lato"/>
                          <a:cs typeface="Lato"/>
                          <a:sym typeface="Lato"/>
                        </a:rPr>
                        <a:t>Hero KPI &amp; roadmap</a:t>
                      </a:r>
                      <a:endParaRPr b="1" sz="12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3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76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pt-BR" sz="1200">
                          <a:latin typeface="Lato"/>
                          <a:ea typeface="Lato"/>
                          <a:cs typeface="Lato"/>
                          <a:sym typeface="Lato"/>
                        </a:rPr>
                        <a:t>Preparação da visão</a:t>
                      </a:r>
                      <a:endParaRPr b="1" sz="12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l">
                        <a:lnSpc>
                          <a:spcPct val="76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pt-BR" sz="1200">
                          <a:latin typeface="Lato"/>
                          <a:ea typeface="Lato"/>
                          <a:cs typeface="Lato"/>
                          <a:sym typeface="Lato"/>
                        </a:rPr>
                        <a:t>unidade × mês</a:t>
                      </a:r>
                      <a:endParaRPr b="1" sz="12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3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76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latin typeface="Lato"/>
                          <a:ea typeface="Lato"/>
                          <a:cs typeface="Lato"/>
                          <a:sym typeface="Lato"/>
                        </a:rPr>
                        <a:t>Leitura do histórico</a:t>
                      </a:r>
                      <a:endParaRPr b="1" sz="12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l">
                        <a:lnSpc>
                          <a:spcPct val="76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latin typeface="Lato"/>
                          <a:ea typeface="Lato"/>
                          <a:cs typeface="Lato"/>
                          <a:sym typeface="Lato"/>
                        </a:rPr>
                        <a:t>&amp; elasticidade</a:t>
                      </a:r>
                      <a:endParaRPr b="1" sz="12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3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76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latin typeface="Lato"/>
                          <a:ea typeface="Lato"/>
                          <a:cs typeface="Lato"/>
                          <a:sym typeface="Lato"/>
                        </a:rPr>
                        <a:t>Simulação "e se"</a:t>
                      </a:r>
                      <a:endParaRPr b="1" sz="12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l">
                        <a:lnSpc>
                          <a:spcPct val="76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latin typeface="Lato"/>
                          <a:ea typeface="Lato"/>
                          <a:cs typeface="Lato"/>
                          <a:sym typeface="Lato"/>
                        </a:rPr>
                        <a:t>da margem planejada</a:t>
                      </a:r>
                      <a:endParaRPr b="1" sz="12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3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76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latin typeface="Lato"/>
                          <a:ea typeface="Lato"/>
                          <a:cs typeface="Lato"/>
                          <a:sym typeface="Lato"/>
                        </a:rPr>
                        <a:t>Resultado, validação</a:t>
                      </a:r>
                      <a:endParaRPr b="1" sz="12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l">
                        <a:lnSpc>
                          <a:spcPct val="76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latin typeface="Lato"/>
                          <a:ea typeface="Lato"/>
                          <a:cs typeface="Lato"/>
                          <a:sym typeface="Lato"/>
                        </a:rPr>
                        <a:t>&amp; entrega da POC</a:t>
                      </a:r>
                      <a:endParaRPr b="1" sz="12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3FF"/>
                    </a:solidFill>
                  </a:tcPr>
                </a:tc>
              </a:tr>
              <a:tr h="76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200">
                          <a:latin typeface="Lato"/>
                          <a:ea typeface="Lato"/>
                          <a:cs typeface="Lato"/>
                          <a:sym typeface="Lato"/>
                        </a:rPr>
                        <a:t>Direcional: acessos, entrevistas, dados históricos e validação dos resultados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434" name="Google Shape;434;p39"/>
          <p:cNvSpPr/>
          <p:nvPr/>
        </p:nvSpPr>
        <p:spPr>
          <a:xfrm>
            <a:off x="5076061" y="6965173"/>
            <a:ext cx="12584100" cy="185100"/>
          </a:xfrm>
          <a:prstGeom prst="roundRect">
            <a:avLst>
              <a:gd fmla="val 50000" name="adj"/>
            </a:avLst>
          </a:prstGeom>
          <a:solidFill>
            <a:srgbClr val="EA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/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39"/>
          <p:cNvSpPr/>
          <p:nvPr/>
        </p:nvSpPr>
        <p:spPr>
          <a:xfrm>
            <a:off x="9615100" y="879873"/>
            <a:ext cx="1052700" cy="28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39"/>
          <p:cNvSpPr/>
          <p:nvPr/>
        </p:nvSpPr>
        <p:spPr>
          <a:xfrm>
            <a:off x="12403236" y="879873"/>
            <a:ext cx="1052700" cy="288000"/>
          </a:xfrm>
          <a:prstGeom prst="roundRect">
            <a:avLst>
              <a:gd fmla="val 50000" name="adj"/>
            </a:avLst>
          </a:prstGeom>
          <a:solidFill>
            <a:srgbClr val="EA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39"/>
          <p:cNvSpPr/>
          <p:nvPr/>
        </p:nvSpPr>
        <p:spPr>
          <a:xfrm>
            <a:off x="5076061" y="2945173"/>
            <a:ext cx="1433100" cy="185100"/>
          </a:xfrm>
          <a:prstGeom prst="roundRect">
            <a:avLst>
              <a:gd fmla="val 50000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38" name="Google Shape;438;p39"/>
          <p:cNvGraphicFramePr/>
          <p:nvPr/>
        </p:nvGraphicFramePr>
        <p:xfrm>
          <a:off x="3479557" y="21916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{7F2615E1-BFC9-46CB-AD60-8D5C7FC21417}</a:tableStyleId>
              </a:tblPr>
              <a:tblGrid>
                <a:gridCol w="1516500"/>
                <a:gridCol w="3186000"/>
                <a:gridCol w="3186000"/>
                <a:gridCol w="3186000"/>
                <a:gridCol w="3186000"/>
              </a:tblGrid>
              <a:tr h="490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1400">
                          <a:solidFill>
                            <a:srgbClr val="3165F5"/>
                          </a:solidFill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K.O</a:t>
                      </a:r>
                      <a:endParaRPr sz="1400">
                        <a:solidFill>
                          <a:srgbClr val="3165F5"/>
                        </a:solidFill>
                        <a:latin typeface="Lato Black"/>
                        <a:ea typeface="Lato Black"/>
                        <a:cs typeface="Lato Black"/>
                        <a:sym typeface="Lato Black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1400">
                          <a:solidFill>
                            <a:srgbClr val="3165F5"/>
                          </a:solidFill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S1 - S2</a:t>
                      </a:r>
                      <a:endParaRPr sz="1400">
                        <a:solidFill>
                          <a:srgbClr val="3165F5"/>
                        </a:solidFill>
                        <a:latin typeface="Lato Black"/>
                        <a:ea typeface="Lato Black"/>
                        <a:cs typeface="Lato Black"/>
                        <a:sym typeface="Lato Black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>
                          <a:solidFill>
                            <a:srgbClr val="3165F5"/>
                          </a:solidFill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S3 - S4</a:t>
                      </a:r>
                      <a:endParaRPr sz="1400">
                        <a:solidFill>
                          <a:srgbClr val="3165F5"/>
                        </a:solidFill>
                        <a:latin typeface="Lato Black"/>
                        <a:ea typeface="Lato Black"/>
                        <a:cs typeface="Lato Black"/>
                        <a:sym typeface="Lato Black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>
                          <a:solidFill>
                            <a:srgbClr val="3165F5"/>
                          </a:solidFill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S5 - S6</a:t>
                      </a:r>
                      <a:endParaRPr sz="1400">
                        <a:solidFill>
                          <a:srgbClr val="3165F5"/>
                        </a:solidFill>
                        <a:latin typeface="Lato Black"/>
                        <a:ea typeface="Lato Black"/>
                        <a:cs typeface="Lato Black"/>
                        <a:sym typeface="Lato Black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rgbClr val="3165F5"/>
                          </a:solidFill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S7 - S8</a:t>
                      </a:r>
                      <a:endParaRPr sz="1400">
                        <a:solidFill>
                          <a:srgbClr val="3165F5"/>
                        </a:solidFill>
                        <a:latin typeface="Lato Black"/>
                        <a:ea typeface="Lato Black"/>
                        <a:cs typeface="Lato Black"/>
                        <a:sym typeface="Lato Black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3FF"/>
                    </a:solidFill>
                  </a:tcPr>
                </a:tc>
              </a:tr>
            </a:tbl>
          </a:graphicData>
        </a:graphic>
      </p:graphicFrame>
      <p:sp>
        <p:nvSpPr>
          <p:cNvPr id="439" name="Google Shape;439;p39"/>
          <p:cNvSpPr txBox="1"/>
          <p:nvPr/>
        </p:nvSpPr>
        <p:spPr>
          <a:xfrm>
            <a:off x="11181062" y="929663"/>
            <a:ext cx="1027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65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6000"/>
              <a:buFont typeface="Lato Black"/>
              <a:buNone/>
            </a:pPr>
            <a:r>
              <a:rPr lang="pt-BR" sz="17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Cliente</a:t>
            </a:r>
            <a:endParaRPr b="0" i="0" sz="17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440" name="Google Shape;440;p39"/>
          <p:cNvSpPr txBox="1"/>
          <p:nvPr/>
        </p:nvSpPr>
        <p:spPr>
          <a:xfrm>
            <a:off x="8543450" y="929673"/>
            <a:ext cx="892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65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6000"/>
              <a:buFont typeface="Lato Black"/>
              <a:buNone/>
            </a:pPr>
            <a:r>
              <a:rPr b="0" i="0" lang="pt-BR" sz="17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A3DATA</a:t>
            </a:r>
            <a:endParaRPr b="0" i="0" sz="17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441" name="Google Shape;441;p39"/>
          <p:cNvSpPr txBox="1"/>
          <p:nvPr/>
        </p:nvSpPr>
        <p:spPr>
          <a:xfrm rot="-5400000">
            <a:off x="1190839" y="4603803"/>
            <a:ext cx="52749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65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6000"/>
              <a:buFont typeface="Lato Black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highlight>
                  <a:srgbClr val="EDEDED"/>
                </a:highlight>
                <a:latin typeface="Lato Black"/>
                <a:ea typeface="Lato Black"/>
                <a:cs typeface="Lato Black"/>
                <a:sym typeface="Lato Black"/>
              </a:rPr>
              <a:t>PLANEJAMENTO (KICK OFF)</a:t>
            </a:r>
            <a:endParaRPr b="0" i="0" sz="1800" u="none" cap="none" strike="noStrike">
              <a:solidFill>
                <a:srgbClr val="000000"/>
              </a:solidFill>
              <a:highlight>
                <a:srgbClr val="EDEDED"/>
              </a:highlight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442" name="Google Shape;442;p39"/>
          <p:cNvSpPr txBox="1"/>
          <p:nvPr/>
        </p:nvSpPr>
        <p:spPr>
          <a:xfrm rot="-5400000">
            <a:off x="2295501" y="4346130"/>
            <a:ext cx="3935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Planejamento detalhado a ser disposto nesta fase e continuamente atualizado mediante evolução das etapas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43" name="Google Shape;443;p39"/>
          <p:cNvGraphicFramePr/>
          <p:nvPr/>
        </p:nvGraphicFramePr>
        <p:xfrm>
          <a:off x="4996061" y="16256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{7F2615E1-BFC9-46CB-AD60-8D5C7FC21417}</a:tableStyleId>
              </a:tblPr>
              <a:tblGrid>
                <a:gridCol w="12744000"/>
              </a:tblGrid>
              <a:tr h="490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>
                          <a:solidFill>
                            <a:srgbClr val="3165F5"/>
                          </a:solidFill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Frente 1 · Assessment de Dados (S1–S4)   |   Frente 2 · POC de Prova de Valor (S3–S8)</a:t>
                      </a:r>
                      <a:endParaRPr sz="1400">
                        <a:solidFill>
                          <a:srgbClr val="3165F5"/>
                        </a:solidFill>
                        <a:latin typeface="Lato Black"/>
                        <a:ea typeface="Lato Black"/>
                        <a:cs typeface="Lato Black"/>
                        <a:sym typeface="Lato Black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3FF"/>
                    </a:solidFill>
                  </a:tcPr>
                </a:tc>
              </a:tr>
            </a:tbl>
          </a:graphicData>
        </a:graphic>
      </p:graphicFrame>
      <p:sp>
        <p:nvSpPr>
          <p:cNvPr id="444" name="Google Shape;444;p39"/>
          <p:cNvSpPr/>
          <p:nvPr/>
        </p:nvSpPr>
        <p:spPr>
          <a:xfrm>
            <a:off x="612600" y="7809600"/>
            <a:ext cx="17062800" cy="21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As frentes correm em paralelo a partir da S3: a POC consome as bases já inventariadas e qualificadas pelo Assessment, sem aguardar o fechamento do diagnóstico.</a:t>
            </a:r>
            <a:endParaRPr sz="2000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  <a:p>
            <a:pPr indent="0" lvl="0" marL="0" rtl="0" algn="l">
              <a:lnSpc>
                <a:spcPct val="95625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pt-BR" sz="20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◆ Marcos: Aceite do Assessment ao fim da S4  ·  Resultado e aceite da POC ao fim da S8. Semanas corridas a partir do kick-off; datas fechadas no planejamento.</a:t>
            </a:r>
            <a:endParaRPr sz="2000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445" name="Google Shape;445;p39"/>
          <p:cNvSpPr/>
          <p:nvPr/>
        </p:nvSpPr>
        <p:spPr>
          <a:xfrm>
            <a:off x="6669061" y="3505173"/>
            <a:ext cx="3026100" cy="185100"/>
          </a:xfrm>
          <a:prstGeom prst="roundRect">
            <a:avLst>
              <a:gd fmla="val 50000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39"/>
          <p:cNvSpPr/>
          <p:nvPr/>
        </p:nvSpPr>
        <p:spPr>
          <a:xfrm>
            <a:off x="8262061" y="4065173"/>
            <a:ext cx="3026100" cy="185100"/>
          </a:xfrm>
          <a:prstGeom prst="roundRect">
            <a:avLst>
              <a:gd fmla="val 50000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39"/>
          <p:cNvSpPr/>
          <p:nvPr/>
        </p:nvSpPr>
        <p:spPr>
          <a:xfrm>
            <a:off x="8262061" y="4625173"/>
            <a:ext cx="3026100" cy="185100"/>
          </a:xfrm>
          <a:prstGeom prst="roundRect">
            <a:avLst>
              <a:gd fmla="val 50000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39"/>
          <p:cNvSpPr/>
          <p:nvPr/>
        </p:nvSpPr>
        <p:spPr>
          <a:xfrm>
            <a:off x="9855061" y="5185173"/>
            <a:ext cx="4619100" cy="185100"/>
          </a:xfrm>
          <a:prstGeom prst="roundRect">
            <a:avLst>
              <a:gd fmla="val 50000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39"/>
          <p:cNvSpPr/>
          <p:nvPr/>
        </p:nvSpPr>
        <p:spPr>
          <a:xfrm>
            <a:off x="13041061" y="5745173"/>
            <a:ext cx="3026100" cy="185100"/>
          </a:xfrm>
          <a:prstGeom prst="roundRect">
            <a:avLst>
              <a:gd fmla="val 50000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39"/>
          <p:cNvSpPr/>
          <p:nvPr/>
        </p:nvSpPr>
        <p:spPr>
          <a:xfrm>
            <a:off x="14634061" y="6305173"/>
            <a:ext cx="3026100" cy="185100"/>
          </a:xfrm>
          <a:prstGeom prst="roundRect">
            <a:avLst>
              <a:gd fmla="val 50000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39"/>
          <p:cNvSpPr/>
          <p:nvPr/>
        </p:nvSpPr>
        <p:spPr>
          <a:xfrm>
            <a:off x="11148061" y="4017723"/>
            <a:ext cx="279900" cy="279900"/>
          </a:xfrm>
          <a:prstGeom prst="diamond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39"/>
          <p:cNvSpPr/>
          <p:nvPr/>
        </p:nvSpPr>
        <p:spPr>
          <a:xfrm>
            <a:off x="17520061" y="6257723"/>
            <a:ext cx="279900" cy="279900"/>
          </a:xfrm>
          <a:prstGeom prst="diamond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0"/>
          <p:cNvSpPr/>
          <p:nvPr/>
        </p:nvSpPr>
        <p:spPr>
          <a:xfrm>
            <a:off x="8064000" y="2016000"/>
            <a:ext cx="9936000" cy="5904000"/>
          </a:xfrm>
          <a:prstGeom prst="round2SameRect">
            <a:avLst>
              <a:gd fmla="val 575" name="adj1"/>
              <a:gd fmla="val 0" name="adj2"/>
            </a:avLst>
          </a:prstGeom>
          <a:solidFill>
            <a:srgbClr val="E3E3E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40"/>
          <p:cNvSpPr/>
          <p:nvPr/>
        </p:nvSpPr>
        <p:spPr>
          <a:xfrm>
            <a:off x="12960000" y="3122800"/>
            <a:ext cx="4896000" cy="4608000"/>
          </a:xfrm>
          <a:prstGeom prst="roundRect">
            <a:avLst>
              <a:gd fmla="val 152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723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rgbClr val="00985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0" name="Google Shape;460;p40"/>
          <p:cNvSpPr/>
          <p:nvPr/>
        </p:nvSpPr>
        <p:spPr>
          <a:xfrm>
            <a:off x="8208000" y="3122800"/>
            <a:ext cx="4608000" cy="4608000"/>
          </a:xfrm>
          <a:prstGeom prst="roundRect">
            <a:avLst>
              <a:gd fmla="val 129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723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rgbClr val="00985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1" name="Google Shape;461;p40"/>
          <p:cNvSpPr/>
          <p:nvPr/>
        </p:nvSpPr>
        <p:spPr>
          <a:xfrm>
            <a:off x="1440000" y="2016000"/>
            <a:ext cx="6480000" cy="5904000"/>
          </a:xfrm>
          <a:prstGeom prst="round2SameRect">
            <a:avLst>
              <a:gd fmla="val 1137" name="adj1"/>
              <a:gd fmla="val 0" name="adj2"/>
            </a:avLst>
          </a:prstGeom>
          <a:solidFill>
            <a:srgbClr val="E3E3E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40"/>
          <p:cNvSpPr/>
          <p:nvPr/>
        </p:nvSpPr>
        <p:spPr>
          <a:xfrm>
            <a:off x="1584000" y="3122800"/>
            <a:ext cx="6192000" cy="4608000"/>
          </a:xfrm>
          <a:prstGeom prst="roundRect">
            <a:avLst>
              <a:gd fmla="val 199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723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rgbClr val="00985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3" name="Google Shape;463;p40"/>
          <p:cNvSpPr/>
          <p:nvPr/>
        </p:nvSpPr>
        <p:spPr>
          <a:xfrm>
            <a:off x="2016000" y="4396142"/>
            <a:ext cx="411373" cy="259750"/>
          </a:xfrm>
          <a:custGeom>
            <a:rect b="b" l="l" r="r" t="t"/>
            <a:pathLst>
              <a:path extrusionOk="0" h="190642" w="299725">
                <a:moveTo>
                  <a:pt x="295299" y="189071"/>
                </a:moveTo>
                <a:cubicBezTo>
                  <a:pt x="293203" y="190405"/>
                  <a:pt x="290632" y="190976"/>
                  <a:pt x="288155" y="190405"/>
                </a:cubicBezTo>
                <a:cubicBezTo>
                  <a:pt x="285679" y="189929"/>
                  <a:pt x="283488" y="188404"/>
                  <a:pt x="282154" y="186309"/>
                </a:cubicBezTo>
                <a:cubicBezTo>
                  <a:pt x="273487" y="172974"/>
                  <a:pt x="261676" y="162020"/>
                  <a:pt x="247769" y="154495"/>
                </a:cubicBezTo>
                <a:cubicBezTo>
                  <a:pt x="233863" y="146971"/>
                  <a:pt x="218242" y="142970"/>
                  <a:pt x="202335" y="142970"/>
                </a:cubicBezTo>
                <a:cubicBezTo>
                  <a:pt x="199763" y="142970"/>
                  <a:pt x="197382" y="141922"/>
                  <a:pt x="195572" y="140208"/>
                </a:cubicBezTo>
                <a:cubicBezTo>
                  <a:pt x="193762" y="138398"/>
                  <a:pt x="192810" y="136017"/>
                  <a:pt x="192810" y="133445"/>
                </a:cubicBezTo>
                <a:cubicBezTo>
                  <a:pt x="192810" y="130873"/>
                  <a:pt x="193858" y="128492"/>
                  <a:pt x="195572" y="126682"/>
                </a:cubicBezTo>
                <a:cubicBezTo>
                  <a:pt x="197382" y="124873"/>
                  <a:pt x="199763" y="123920"/>
                  <a:pt x="202335" y="123920"/>
                </a:cubicBezTo>
                <a:cubicBezTo>
                  <a:pt x="210050" y="123920"/>
                  <a:pt x="217670" y="122205"/>
                  <a:pt x="224623" y="118872"/>
                </a:cubicBezTo>
                <a:cubicBezTo>
                  <a:pt x="231577" y="115538"/>
                  <a:pt x="237768" y="110776"/>
                  <a:pt x="242721" y="104870"/>
                </a:cubicBezTo>
                <a:cubicBezTo>
                  <a:pt x="247674" y="98965"/>
                  <a:pt x="251198" y="91916"/>
                  <a:pt x="253103" y="84487"/>
                </a:cubicBezTo>
                <a:cubicBezTo>
                  <a:pt x="255008" y="77057"/>
                  <a:pt x="255199" y="69246"/>
                  <a:pt x="253770" y="61626"/>
                </a:cubicBezTo>
                <a:cubicBezTo>
                  <a:pt x="252341" y="54007"/>
                  <a:pt x="249198" y="46863"/>
                  <a:pt x="244626" y="40671"/>
                </a:cubicBezTo>
                <a:cubicBezTo>
                  <a:pt x="240054" y="34480"/>
                  <a:pt x="234244" y="29242"/>
                  <a:pt x="227481" y="25622"/>
                </a:cubicBezTo>
                <a:cubicBezTo>
                  <a:pt x="220718" y="21907"/>
                  <a:pt x="213193" y="19717"/>
                  <a:pt x="205478" y="19335"/>
                </a:cubicBezTo>
                <a:cubicBezTo>
                  <a:pt x="197763" y="18859"/>
                  <a:pt x="190048" y="20098"/>
                  <a:pt x="182904" y="22955"/>
                </a:cubicBezTo>
                <a:cubicBezTo>
                  <a:pt x="181761" y="23431"/>
                  <a:pt x="180523" y="23717"/>
                  <a:pt x="179189" y="23717"/>
                </a:cubicBezTo>
                <a:cubicBezTo>
                  <a:pt x="177951" y="23717"/>
                  <a:pt x="176617" y="23526"/>
                  <a:pt x="175474" y="22955"/>
                </a:cubicBezTo>
                <a:cubicBezTo>
                  <a:pt x="174331" y="22479"/>
                  <a:pt x="173188" y="21717"/>
                  <a:pt x="172331" y="20860"/>
                </a:cubicBezTo>
                <a:cubicBezTo>
                  <a:pt x="171474" y="20002"/>
                  <a:pt x="170712" y="18859"/>
                  <a:pt x="170236" y="17716"/>
                </a:cubicBezTo>
                <a:cubicBezTo>
                  <a:pt x="169759" y="16573"/>
                  <a:pt x="169569" y="15240"/>
                  <a:pt x="169569" y="14001"/>
                </a:cubicBezTo>
                <a:cubicBezTo>
                  <a:pt x="169569" y="12763"/>
                  <a:pt x="169855" y="11430"/>
                  <a:pt x="170426" y="10287"/>
                </a:cubicBezTo>
                <a:cubicBezTo>
                  <a:pt x="170902" y="9144"/>
                  <a:pt x="171664" y="8096"/>
                  <a:pt x="172617" y="7239"/>
                </a:cubicBezTo>
                <a:cubicBezTo>
                  <a:pt x="173569" y="6382"/>
                  <a:pt x="174617" y="5715"/>
                  <a:pt x="175855" y="5239"/>
                </a:cubicBezTo>
                <a:cubicBezTo>
                  <a:pt x="192238" y="-1334"/>
                  <a:pt x="210526" y="-1524"/>
                  <a:pt x="227100" y="4572"/>
                </a:cubicBezTo>
                <a:cubicBezTo>
                  <a:pt x="243673" y="10668"/>
                  <a:pt x="257389" y="22765"/>
                  <a:pt x="265581" y="38385"/>
                </a:cubicBezTo>
                <a:cubicBezTo>
                  <a:pt x="273772" y="54007"/>
                  <a:pt x="275963" y="72104"/>
                  <a:pt x="271582" y="89249"/>
                </a:cubicBezTo>
                <a:cubicBezTo>
                  <a:pt x="267200" y="106394"/>
                  <a:pt x="256723" y="121253"/>
                  <a:pt x="241959" y="131064"/>
                </a:cubicBezTo>
                <a:cubicBezTo>
                  <a:pt x="265009" y="139541"/>
                  <a:pt x="284726" y="155353"/>
                  <a:pt x="298156" y="175926"/>
                </a:cubicBezTo>
                <a:cubicBezTo>
                  <a:pt x="299585" y="178022"/>
                  <a:pt x="300061" y="180594"/>
                  <a:pt x="299490" y="183070"/>
                </a:cubicBezTo>
                <a:cubicBezTo>
                  <a:pt x="299014" y="185547"/>
                  <a:pt x="297490" y="187737"/>
                  <a:pt x="295394" y="189071"/>
                </a:cubicBezTo>
                <a:close/>
                <a:moveTo>
                  <a:pt x="45077" y="71533"/>
                </a:moveTo>
                <a:cubicBezTo>
                  <a:pt x="45077" y="61150"/>
                  <a:pt x="48125" y="51054"/>
                  <a:pt x="53935" y="42386"/>
                </a:cubicBezTo>
                <a:cubicBezTo>
                  <a:pt x="59650" y="33814"/>
                  <a:pt x="67842" y="27051"/>
                  <a:pt x="77462" y="23050"/>
                </a:cubicBezTo>
                <a:cubicBezTo>
                  <a:pt x="86987" y="19050"/>
                  <a:pt x="97560" y="18002"/>
                  <a:pt x="107752" y="20098"/>
                </a:cubicBezTo>
                <a:cubicBezTo>
                  <a:pt x="117943" y="22193"/>
                  <a:pt x="127278" y="27146"/>
                  <a:pt x="134612" y="34480"/>
                </a:cubicBezTo>
                <a:cubicBezTo>
                  <a:pt x="141946" y="41815"/>
                  <a:pt x="146899" y="51149"/>
                  <a:pt x="148995" y="61341"/>
                </a:cubicBezTo>
                <a:cubicBezTo>
                  <a:pt x="150995" y="71533"/>
                  <a:pt x="149947" y="82010"/>
                  <a:pt x="146042" y="91630"/>
                </a:cubicBezTo>
                <a:cubicBezTo>
                  <a:pt x="142042" y="101251"/>
                  <a:pt x="135374" y="109347"/>
                  <a:pt x="126706" y="115157"/>
                </a:cubicBezTo>
                <a:cubicBezTo>
                  <a:pt x="118134" y="120872"/>
                  <a:pt x="107942" y="124015"/>
                  <a:pt x="97560" y="124015"/>
                </a:cubicBezTo>
                <a:cubicBezTo>
                  <a:pt x="83653" y="124015"/>
                  <a:pt x="70318" y="118491"/>
                  <a:pt x="60508" y="108680"/>
                </a:cubicBezTo>
                <a:cubicBezTo>
                  <a:pt x="50697" y="98870"/>
                  <a:pt x="45172" y="85534"/>
                  <a:pt x="45172" y="71628"/>
                </a:cubicBezTo>
                <a:close/>
                <a:moveTo>
                  <a:pt x="137089" y="130969"/>
                </a:moveTo>
                <a:cubicBezTo>
                  <a:pt x="149852" y="122491"/>
                  <a:pt x="159568" y="110109"/>
                  <a:pt x="164711" y="95631"/>
                </a:cubicBezTo>
                <a:cubicBezTo>
                  <a:pt x="169855" y="81153"/>
                  <a:pt x="170331" y="65437"/>
                  <a:pt x="165854" y="50768"/>
                </a:cubicBezTo>
                <a:cubicBezTo>
                  <a:pt x="161377" y="36100"/>
                  <a:pt x="152329" y="23241"/>
                  <a:pt x="140041" y="14097"/>
                </a:cubicBezTo>
                <a:cubicBezTo>
                  <a:pt x="127754" y="4953"/>
                  <a:pt x="112800" y="0"/>
                  <a:pt x="97465" y="0"/>
                </a:cubicBezTo>
                <a:cubicBezTo>
                  <a:pt x="82129" y="0"/>
                  <a:pt x="67175" y="4953"/>
                  <a:pt x="54888" y="14097"/>
                </a:cubicBezTo>
                <a:cubicBezTo>
                  <a:pt x="42601" y="23241"/>
                  <a:pt x="33552" y="36100"/>
                  <a:pt x="29075" y="50768"/>
                </a:cubicBezTo>
                <a:cubicBezTo>
                  <a:pt x="24598" y="65437"/>
                  <a:pt x="25075" y="81153"/>
                  <a:pt x="30218" y="95631"/>
                </a:cubicBezTo>
                <a:cubicBezTo>
                  <a:pt x="35362" y="110109"/>
                  <a:pt x="45077" y="122491"/>
                  <a:pt x="57841" y="130969"/>
                </a:cubicBezTo>
                <a:cubicBezTo>
                  <a:pt x="34790" y="139446"/>
                  <a:pt x="15073" y="155257"/>
                  <a:pt x="1643" y="175831"/>
                </a:cubicBezTo>
                <a:cubicBezTo>
                  <a:pt x="976" y="176879"/>
                  <a:pt x="405" y="178022"/>
                  <a:pt x="214" y="179261"/>
                </a:cubicBezTo>
                <a:cubicBezTo>
                  <a:pt x="-71" y="180499"/>
                  <a:pt x="-71" y="181737"/>
                  <a:pt x="214" y="182975"/>
                </a:cubicBezTo>
                <a:cubicBezTo>
                  <a:pt x="500" y="184213"/>
                  <a:pt x="976" y="185356"/>
                  <a:pt x="1643" y="186404"/>
                </a:cubicBezTo>
                <a:cubicBezTo>
                  <a:pt x="2310" y="187452"/>
                  <a:pt x="3262" y="188309"/>
                  <a:pt x="4310" y="189071"/>
                </a:cubicBezTo>
                <a:cubicBezTo>
                  <a:pt x="5358" y="189738"/>
                  <a:pt x="6596" y="190214"/>
                  <a:pt x="7834" y="190500"/>
                </a:cubicBezTo>
                <a:cubicBezTo>
                  <a:pt x="9073" y="190690"/>
                  <a:pt x="10311" y="190690"/>
                  <a:pt x="11549" y="190500"/>
                </a:cubicBezTo>
                <a:cubicBezTo>
                  <a:pt x="12787" y="190214"/>
                  <a:pt x="13930" y="189738"/>
                  <a:pt x="14978" y="188976"/>
                </a:cubicBezTo>
                <a:cubicBezTo>
                  <a:pt x="16026" y="188214"/>
                  <a:pt x="16883" y="187357"/>
                  <a:pt x="17550" y="186309"/>
                </a:cubicBezTo>
                <a:cubicBezTo>
                  <a:pt x="26218" y="172974"/>
                  <a:pt x="38029" y="162115"/>
                  <a:pt x="51935" y="154495"/>
                </a:cubicBezTo>
                <a:cubicBezTo>
                  <a:pt x="65842" y="146875"/>
                  <a:pt x="81463" y="142970"/>
                  <a:pt x="97369" y="142970"/>
                </a:cubicBezTo>
                <a:cubicBezTo>
                  <a:pt x="113276" y="142970"/>
                  <a:pt x="128802" y="146971"/>
                  <a:pt x="142804" y="154495"/>
                </a:cubicBezTo>
                <a:cubicBezTo>
                  <a:pt x="156805" y="162020"/>
                  <a:pt x="168616" y="172974"/>
                  <a:pt x="177189" y="186309"/>
                </a:cubicBezTo>
                <a:cubicBezTo>
                  <a:pt x="178618" y="188404"/>
                  <a:pt x="180713" y="189833"/>
                  <a:pt x="183190" y="190309"/>
                </a:cubicBezTo>
                <a:cubicBezTo>
                  <a:pt x="185666" y="190785"/>
                  <a:pt x="188238" y="190309"/>
                  <a:pt x="190333" y="188976"/>
                </a:cubicBezTo>
                <a:cubicBezTo>
                  <a:pt x="192429" y="187643"/>
                  <a:pt x="193858" y="185451"/>
                  <a:pt x="194429" y="183070"/>
                </a:cubicBezTo>
                <a:cubicBezTo>
                  <a:pt x="195001" y="180689"/>
                  <a:pt x="194429" y="178022"/>
                  <a:pt x="193191" y="175926"/>
                </a:cubicBezTo>
                <a:cubicBezTo>
                  <a:pt x="179761" y="155257"/>
                  <a:pt x="160044" y="139541"/>
                  <a:pt x="136993" y="13106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25" lIns="91425" spcFirstLastPara="1" rIns="914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433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40"/>
          <p:cNvSpPr/>
          <p:nvPr/>
        </p:nvSpPr>
        <p:spPr>
          <a:xfrm>
            <a:off x="13279990" y="4502572"/>
            <a:ext cx="359822" cy="271404"/>
          </a:xfrm>
          <a:custGeom>
            <a:rect b="b" l="l" r="r" t="t"/>
            <a:pathLst>
              <a:path extrusionOk="0" h="209578" w="276255">
                <a:moveTo>
                  <a:pt x="276063" y="80963"/>
                </a:moveTo>
                <a:cubicBezTo>
                  <a:pt x="276063" y="103537"/>
                  <a:pt x="271491" y="125920"/>
                  <a:pt x="262633" y="146589"/>
                </a:cubicBezTo>
                <a:cubicBezTo>
                  <a:pt x="261585" y="148876"/>
                  <a:pt x="259680" y="150590"/>
                  <a:pt x="257394" y="151447"/>
                </a:cubicBezTo>
                <a:cubicBezTo>
                  <a:pt x="255108" y="152305"/>
                  <a:pt x="252536" y="152305"/>
                  <a:pt x="250250" y="151352"/>
                </a:cubicBezTo>
                <a:cubicBezTo>
                  <a:pt x="247964" y="150400"/>
                  <a:pt x="246155" y="148590"/>
                  <a:pt x="245202" y="146304"/>
                </a:cubicBezTo>
                <a:cubicBezTo>
                  <a:pt x="244250" y="144018"/>
                  <a:pt x="244250" y="141446"/>
                  <a:pt x="245202" y="139160"/>
                </a:cubicBezTo>
                <a:cubicBezTo>
                  <a:pt x="253013" y="120777"/>
                  <a:pt x="257108" y="100965"/>
                  <a:pt x="257108" y="80963"/>
                </a:cubicBezTo>
                <a:cubicBezTo>
                  <a:pt x="257108" y="60960"/>
                  <a:pt x="253108" y="41147"/>
                  <a:pt x="245202" y="22764"/>
                </a:cubicBezTo>
                <a:cubicBezTo>
                  <a:pt x="244631" y="21621"/>
                  <a:pt x="244345" y="20383"/>
                  <a:pt x="244345" y="19050"/>
                </a:cubicBezTo>
                <a:cubicBezTo>
                  <a:pt x="244345" y="17716"/>
                  <a:pt x="244536" y="16478"/>
                  <a:pt x="245012" y="15335"/>
                </a:cubicBezTo>
                <a:cubicBezTo>
                  <a:pt x="245488" y="14192"/>
                  <a:pt x="246155" y="13049"/>
                  <a:pt x="247012" y="12096"/>
                </a:cubicBezTo>
                <a:cubicBezTo>
                  <a:pt x="247869" y="11144"/>
                  <a:pt x="248917" y="10477"/>
                  <a:pt x="250155" y="9906"/>
                </a:cubicBezTo>
                <a:cubicBezTo>
                  <a:pt x="251298" y="9430"/>
                  <a:pt x="252632" y="9144"/>
                  <a:pt x="253870" y="9144"/>
                </a:cubicBezTo>
                <a:cubicBezTo>
                  <a:pt x="255108" y="9144"/>
                  <a:pt x="256442" y="9430"/>
                  <a:pt x="257585" y="9906"/>
                </a:cubicBezTo>
                <a:cubicBezTo>
                  <a:pt x="258728" y="10382"/>
                  <a:pt x="259871" y="11144"/>
                  <a:pt x="260728" y="12001"/>
                </a:cubicBezTo>
                <a:cubicBezTo>
                  <a:pt x="261585" y="12859"/>
                  <a:pt x="262347" y="14001"/>
                  <a:pt x="262823" y="15144"/>
                </a:cubicBezTo>
                <a:cubicBezTo>
                  <a:pt x="271777" y="35909"/>
                  <a:pt x="276349" y="58198"/>
                  <a:pt x="276254" y="80772"/>
                </a:cubicBezTo>
                <a:close/>
                <a:moveTo>
                  <a:pt x="227676" y="30480"/>
                </a:moveTo>
                <a:cubicBezTo>
                  <a:pt x="234439" y="46482"/>
                  <a:pt x="237963" y="63627"/>
                  <a:pt x="237963" y="80963"/>
                </a:cubicBezTo>
                <a:cubicBezTo>
                  <a:pt x="237963" y="98297"/>
                  <a:pt x="234439" y="115443"/>
                  <a:pt x="227676" y="131445"/>
                </a:cubicBezTo>
                <a:cubicBezTo>
                  <a:pt x="226914" y="133159"/>
                  <a:pt x="225676" y="134588"/>
                  <a:pt x="224152" y="135636"/>
                </a:cubicBezTo>
                <a:cubicBezTo>
                  <a:pt x="222628" y="136684"/>
                  <a:pt x="220723" y="137255"/>
                  <a:pt x="218913" y="137255"/>
                </a:cubicBezTo>
                <a:cubicBezTo>
                  <a:pt x="217294" y="137255"/>
                  <a:pt x="215770" y="136874"/>
                  <a:pt x="214436" y="136112"/>
                </a:cubicBezTo>
                <a:cubicBezTo>
                  <a:pt x="213008" y="135350"/>
                  <a:pt x="211865" y="134302"/>
                  <a:pt x="211007" y="132969"/>
                </a:cubicBezTo>
                <a:cubicBezTo>
                  <a:pt x="210150" y="131635"/>
                  <a:pt x="209579" y="130111"/>
                  <a:pt x="209483" y="128588"/>
                </a:cubicBezTo>
                <a:cubicBezTo>
                  <a:pt x="209388" y="127063"/>
                  <a:pt x="209579" y="125444"/>
                  <a:pt x="210245" y="124015"/>
                </a:cubicBezTo>
                <a:cubicBezTo>
                  <a:pt x="216056" y="110394"/>
                  <a:pt x="219008" y="95821"/>
                  <a:pt x="219008" y="81057"/>
                </a:cubicBezTo>
                <a:cubicBezTo>
                  <a:pt x="219008" y="66294"/>
                  <a:pt x="216056" y="51625"/>
                  <a:pt x="210245" y="38100"/>
                </a:cubicBezTo>
                <a:cubicBezTo>
                  <a:pt x="209293" y="35814"/>
                  <a:pt x="209198" y="33147"/>
                  <a:pt x="210245" y="30766"/>
                </a:cubicBezTo>
                <a:cubicBezTo>
                  <a:pt x="211198" y="28384"/>
                  <a:pt x="213008" y="26575"/>
                  <a:pt x="215389" y="25527"/>
                </a:cubicBezTo>
                <a:cubicBezTo>
                  <a:pt x="217675" y="24574"/>
                  <a:pt x="220342" y="24479"/>
                  <a:pt x="222723" y="25527"/>
                </a:cubicBezTo>
                <a:cubicBezTo>
                  <a:pt x="225104" y="26479"/>
                  <a:pt x="226914" y="28289"/>
                  <a:pt x="227962" y="30670"/>
                </a:cubicBezTo>
                <a:close/>
                <a:moveTo>
                  <a:pt x="47463" y="80963"/>
                </a:moveTo>
                <a:cubicBezTo>
                  <a:pt x="47463" y="68675"/>
                  <a:pt x="51083" y="56769"/>
                  <a:pt x="57941" y="46577"/>
                </a:cubicBezTo>
                <a:cubicBezTo>
                  <a:pt x="64703" y="36385"/>
                  <a:pt x="74419" y="28480"/>
                  <a:pt x="85754" y="23813"/>
                </a:cubicBezTo>
                <a:cubicBezTo>
                  <a:pt x="97088" y="19145"/>
                  <a:pt x="109471" y="17907"/>
                  <a:pt x="121568" y="20288"/>
                </a:cubicBezTo>
                <a:cubicBezTo>
                  <a:pt x="133569" y="22670"/>
                  <a:pt x="144618" y="28575"/>
                  <a:pt x="153286" y="37242"/>
                </a:cubicBezTo>
                <a:cubicBezTo>
                  <a:pt x="161954" y="45910"/>
                  <a:pt x="167859" y="56959"/>
                  <a:pt x="170240" y="68961"/>
                </a:cubicBezTo>
                <a:cubicBezTo>
                  <a:pt x="172622" y="80963"/>
                  <a:pt x="171383" y="93440"/>
                  <a:pt x="166716" y="104775"/>
                </a:cubicBezTo>
                <a:cubicBezTo>
                  <a:pt x="162049" y="116110"/>
                  <a:pt x="154048" y="125730"/>
                  <a:pt x="143951" y="132588"/>
                </a:cubicBezTo>
                <a:cubicBezTo>
                  <a:pt x="133855" y="139446"/>
                  <a:pt x="121758" y="143065"/>
                  <a:pt x="109566" y="143065"/>
                </a:cubicBezTo>
                <a:cubicBezTo>
                  <a:pt x="93183" y="143065"/>
                  <a:pt x="77372" y="136493"/>
                  <a:pt x="65846" y="124873"/>
                </a:cubicBezTo>
                <a:cubicBezTo>
                  <a:pt x="54226" y="113252"/>
                  <a:pt x="47749" y="97536"/>
                  <a:pt x="47654" y="81153"/>
                </a:cubicBezTo>
                <a:close/>
                <a:moveTo>
                  <a:pt x="152238" y="149637"/>
                </a:moveTo>
                <a:cubicBezTo>
                  <a:pt x="167192" y="140303"/>
                  <a:pt x="178622" y="126396"/>
                  <a:pt x="185004" y="110014"/>
                </a:cubicBezTo>
                <a:cubicBezTo>
                  <a:pt x="191291" y="93630"/>
                  <a:pt x="192148" y="75533"/>
                  <a:pt x="187290" y="58674"/>
                </a:cubicBezTo>
                <a:cubicBezTo>
                  <a:pt x="182432" y="41720"/>
                  <a:pt x="172241" y="26860"/>
                  <a:pt x="158239" y="16287"/>
                </a:cubicBezTo>
                <a:cubicBezTo>
                  <a:pt x="144237" y="5715"/>
                  <a:pt x="127092" y="0"/>
                  <a:pt x="109471" y="0"/>
                </a:cubicBezTo>
                <a:cubicBezTo>
                  <a:pt x="91850" y="0"/>
                  <a:pt x="74800" y="5715"/>
                  <a:pt x="60703" y="16287"/>
                </a:cubicBezTo>
                <a:cubicBezTo>
                  <a:pt x="46701" y="26860"/>
                  <a:pt x="36414" y="41720"/>
                  <a:pt x="31652" y="58674"/>
                </a:cubicBezTo>
                <a:cubicBezTo>
                  <a:pt x="26889" y="75629"/>
                  <a:pt x="27651" y="93630"/>
                  <a:pt x="33938" y="110014"/>
                </a:cubicBezTo>
                <a:cubicBezTo>
                  <a:pt x="40224" y="126396"/>
                  <a:pt x="51749" y="140303"/>
                  <a:pt x="66704" y="149637"/>
                </a:cubicBezTo>
                <a:cubicBezTo>
                  <a:pt x="42129" y="157639"/>
                  <a:pt x="20031" y="172688"/>
                  <a:pt x="2220" y="193929"/>
                </a:cubicBezTo>
                <a:cubicBezTo>
                  <a:pt x="600" y="195834"/>
                  <a:pt x="-162" y="198405"/>
                  <a:pt x="29" y="200882"/>
                </a:cubicBezTo>
                <a:cubicBezTo>
                  <a:pt x="219" y="203359"/>
                  <a:pt x="1457" y="205740"/>
                  <a:pt x="3362" y="207359"/>
                </a:cubicBezTo>
                <a:cubicBezTo>
                  <a:pt x="5267" y="208979"/>
                  <a:pt x="7839" y="209740"/>
                  <a:pt x="10316" y="209550"/>
                </a:cubicBezTo>
                <a:cubicBezTo>
                  <a:pt x="12792" y="209359"/>
                  <a:pt x="15173" y="208121"/>
                  <a:pt x="16793" y="206216"/>
                </a:cubicBezTo>
                <a:cubicBezTo>
                  <a:pt x="40700" y="177641"/>
                  <a:pt x="73657" y="162020"/>
                  <a:pt x="109471" y="162020"/>
                </a:cubicBezTo>
                <a:cubicBezTo>
                  <a:pt x="145285" y="162020"/>
                  <a:pt x="178241" y="177736"/>
                  <a:pt x="202149" y="206216"/>
                </a:cubicBezTo>
                <a:cubicBezTo>
                  <a:pt x="203769" y="208121"/>
                  <a:pt x="206150" y="209359"/>
                  <a:pt x="208626" y="209550"/>
                </a:cubicBezTo>
                <a:cubicBezTo>
                  <a:pt x="211103" y="209740"/>
                  <a:pt x="213674" y="208979"/>
                  <a:pt x="215579" y="207359"/>
                </a:cubicBezTo>
                <a:cubicBezTo>
                  <a:pt x="217484" y="205740"/>
                  <a:pt x="218723" y="203359"/>
                  <a:pt x="218913" y="200882"/>
                </a:cubicBezTo>
                <a:cubicBezTo>
                  <a:pt x="219104" y="198405"/>
                  <a:pt x="218342" y="195834"/>
                  <a:pt x="216722" y="193929"/>
                </a:cubicBezTo>
                <a:cubicBezTo>
                  <a:pt x="198911" y="172783"/>
                  <a:pt x="176813" y="157734"/>
                  <a:pt x="152238" y="14963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25" lIns="91425" spcFirstLastPara="1" rIns="914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40"/>
          <p:cNvSpPr txBox="1"/>
          <p:nvPr/>
        </p:nvSpPr>
        <p:spPr>
          <a:xfrm>
            <a:off x="2664000" y="4396142"/>
            <a:ext cx="489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C-Level</a:t>
            </a:r>
            <a:r>
              <a:rPr lang="pt-BR" sz="20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, Sponsor, POs</a:t>
            </a:r>
            <a:endParaRPr b="0" i="0" sz="2000" u="none" cap="none" strike="noStrike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466" name="Google Shape;466;p40"/>
          <p:cNvSpPr txBox="1"/>
          <p:nvPr/>
        </p:nvSpPr>
        <p:spPr>
          <a:xfrm>
            <a:off x="2664000" y="5002451"/>
            <a:ext cx="489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Time de Dados &amp; Analytics</a:t>
            </a:r>
            <a:endParaRPr b="0" i="0" sz="2000" u="none" cap="none" strike="noStrike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467" name="Google Shape;467;p40"/>
          <p:cNvSpPr/>
          <p:nvPr/>
        </p:nvSpPr>
        <p:spPr>
          <a:xfrm>
            <a:off x="2016000" y="4997823"/>
            <a:ext cx="293179" cy="316992"/>
          </a:xfrm>
          <a:custGeom>
            <a:rect b="b" l="l" r="r" t="t"/>
            <a:pathLst>
              <a:path extrusionOk="0" h="247650" w="228600">
                <a:moveTo>
                  <a:pt x="183832" y="213074"/>
                </a:moveTo>
                <a:cubicBezTo>
                  <a:pt x="165449" y="223076"/>
                  <a:pt x="140684" y="228600"/>
                  <a:pt x="114300" y="228600"/>
                </a:cubicBezTo>
                <a:cubicBezTo>
                  <a:pt x="87916" y="228600"/>
                  <a:pt x="63151" y="223076"/>
                  <a:pt x="44768" y="213074"/>
                </a:cubicBezTo>
                <a:cubicBezTo>
                  <a:pt x="28385" y="204121"/>
                  <a:pt x="19050" y="192500"/>
                  <a:pt x="19050" y="180975"/>
                </a:cubicBezTo>
                <a:lnTo>
                  <a:pt x="19050" y="161163"/>
                </a:lnTo>
                <a:cubicBezTo>
                  <a:pt x="39338" y="179070"/>
                  <a:pt x="74104" y="190500"/>
                  <a:pt x="114300" y="190500"/>
                </a:cubicBezTo>
                <a:cubicBezTo>
                  <a:pt x="154496" y="190500"/>
                  <a:pt x="189262" y="178975"/>
                  <a:pt x="209550" y="161163"/>
                </a:cubicBezTo>
                <a:lnTo>
                  <a:pt x="209550" y="180975"/>
                </a:lnTo>
                <a:cubicBezTo>
                  <a:pt x="209550" y="192405"/>
                  <a:pt x="200120" y="204121"/>
                  <a:pt x="183832" y="213074"/>
                </a:cubicBezTo>
                <a:close/>
                <a:moveTo>
                  <a:pt x="44768" y="34671"/>
                </a:moveTo>
                <a:cubicBezTo>
                  <a:pt x="63151" y="24670"/>
                  <a:pt x="87916" y="19050"/>
                  <a:pt x="114300" y="19050"/>
                </a:cubicBezTo>
                <a:cubicBezTo>
                  <a:pt x="140684" y="19050"/>
                  <a:pt x="165449" y="24575"/>
                  <a:pt x="183832" y="34671"/>
                </a:cubicBezTo>
                <a:cubicBezTo>
                  <a:pt x="200215" y="43625"/>
                  <a:pt x="209550" y="55245"/>
                  <a:pt x="209550" y="66675"/>
                </a:cubicBezTo>
                <a:cubicBezTo>
                  <a:pt x="209550" y="78105"/>
                  <a:pt x="200120" y="89821"/>
                  <a:pt x="183832" y="98774"/>
                </a:cubicBezTo>
                <a:cubicBezTo>
                  <a:pt x="165449" y="108776"/>
                  <a:pt x="140684" y="114300"/>
                  <a:pt x="114300" y="114300"/>
                </a:cubicBezTo>
                <a:cubicBezTo>
                  <a:pt x="87916" y="114300"/>
                  <a:pt x="63151" y="108776"/>
                  <a:pt x="44768" y="98774"/>
                </a:cubicBezTo>
                <a:cubicBezTo>
                  <a:pt x="28385" y="89821"/>
                  <a:pt x="19050" y="78200"/>
                  <a:pt x="19050" y="66675"/>
                </a:cubicBezTo>
                <a:cubicBezTo>
                  <a:pt x="19050" y="55150"/>
                  <a:pt x="28385" y="43529"/>
                  <a:pt x="44768" y="34671"/>
                </a:cubicBezTo>
                <a:close/>
                <a:moveTo>
                  <a:pt x="209550" y="123825"/>
                </a:moveTo>
                <a:cubicBezTo>
                  <a:pt x="209550" y="135255"/>
                  <a:pt x="200120" y="146971"/>
                  <a:pt x="183832" y="155924"/>
                </a:cubicBezTo>
                <a:cubicBezTo>
                  <a:pt x="165449" y="165926"/>
                  <a:pt x="140684" y="171450"/>
                  <a:pt x="114300" y="171450"/>
                </a:cubicBezTo>
                <a:cubicBezTo>
                  <a:pt x="87916" y="171450"/>
                  <a:pt x="63151" y="165926"/>
                  <a:pt x="44768" y="155924"/>
                </a:cubicBezTo>
                <a:cubicBezTo>
                  <a:pt x="28385" y="146971"/>
                  <a:pt x="19050" y="135350"/>
                  <a:pt x="19050" y="123825"/>
                </a:cubicBezTo>
                <a:lnTo>
                  <a:pt x="19050" y="104013"/>
                </a:lnTo>
                <a:cubicBezTo>
                  <a:pt x="39338" y="121920"/>
                  <a:pt x="74104" y="133350"/>
                  <a:pt x="114300" y="133350"/>
                </a:cubicBezTo>
                <a:cubicBezTo>
                  <a:pt x="154496" y="133350"/>
                  <a:pt x="189262" y="121825"/>
                  <a:pt x="209550" y="104013"/>
                </a:cubicBezTo>
                <a:lnTo>
                  <a:pt x="209550" y="123825"/>
                </a:lnTo>
                <a:close/>
                <a:moveTo>
                  <a:pt x="114300" y="0"/>
                </a:moveTo>
                <a:cubicBezTo>
                  <a:pt x="50197" y="0"/>
                  <a:pt x="0" y="29337"/>
                  <a:pt x="0" y="66675"/>
                </a:cubicBezTo>
                <a:lnTo>
                  <a:pt x="0" y="180975"/>
                </a:lnTo>
                <a:cubicBezTo>
                  <a:pt x="0" y="218408"/>
                  <a:pt x="50197" y="247650"/>
                  <a:pt x="114300" y="247650"/>
                </a:cubicBezTo>
                <a:cubicBezTo>
                  <a:pt x="178403" y="247650"/>
                  <a:pt x="228600" y="218408"/>
                  <a:pt x="228600" y="180975"/>
                </a:cubicBezTo>
                <a:lnTo>
                  <a:pt x="228600" y="66675"/>
                </a:lnTo>
                <a:cubicBezTo>
                  <a:pt x="228600" y="29337"/>
                  <a:pt x="178403" y="0"/>
                  <a:pt x="11430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25" lIns="91425" spcFirstLastPara="1" rIns="914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433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40"/>
          <p:cNvSpPr/>
          <p:nvPr/>
        </p:nvSpPr>
        <p:spPr>
          <a:xfrm>
            <a:off x="8535100" y="3402410"/>
            <a:ext cx="359659" cy="258954"/>
          </a:xfrm>
          <a:custGeom>
            <a:rect b="b" l="l" r="r" t="t"/>
            <a:pathLst>
              <a:path extrusionOk="0" h="209679" w="286011">
                <a:moveTo>
                  <a:pt x="238149" y="123825"/>
                </a:moveTo>
                <a:cubicBezTo>
                  <a:pt x="238149" y="121920"/>
                  <a:pt x="238721" y="120110"/>
                  <a:pt x="239769" y="118491"/>
                </a:cubicBezTo>
                <a:cubicBezTo>
                  <a:pt x="240816" y="116871"/>
                  <a:pt x="242340" y="115728"/>
                  <a:pt x="244055" y="114966"/>
                </a:cubicBezTo>
                <a:cubicBezTo>
                  <a:pt x="245769" y="114205"/>
                  <a:pt x="247674" y="114014"/>
                  <a:pt x="249579" y="114395"/>
                </a:cubicBezTo>
                <a:cubicBezTo>
                  <a:pt x="251389" y="114776"/>
                  <a:pt x="253104" y="115633"/>
                  <a:pt x="254437" y="116967"/>
                </a:cubicBezTo>
                <a:cubicBezTo>
                  <a:pt x="255771" y="118300"/>
                  <a:pt x="256723" y="120015"/>
                  <a:pt x="257009" y="121825"/>
                </a:cubicBezTo>
                <a:cubicBezTo>
                  <a:pt x="257295" y="123634"/>
                  <a:pt x="257199" y="125635"/>
                  <a:pt x="256437" y="127349"/>
                </a:cubicBezTo>
                <a:cubicBezTo>
                  <a:pt x="255675" y="129064"/>
                  <a:pt x="254532" y="130587"/>
                  <a:pt x="252913" y="131635"/>
                </a:cubicBezTo>
                <a:cubicBezTo>
                  <a:pt x="251389" y="132683"/>
                  <a:pt x="249484" y="133255"/>
                  <a:pt x="247579" y="133255"/>
                </a:cubicBezTo>
                <a:cubicBezTo>
                  <a:pt x="245007" y="133255"/>
                  <a:pt x="242626" y="132207"/>
                  <a:pt x="240816" y="130492"/>
                </a:cubicBezTo>
                <a:cubicBezTo>
                  <a:pt x="239007" y="128682"/>
                  <a:pt x="238054" y="126301"/>
                  <a:pt x="238054" y="123730"/>
                </a:cubicBezTo>
                <a:close/>
                <a:moveTo>
                  <a:pt x="281298" y="132207"/>
                </a:moveTo>
                <a:lnTo>
                  <a:pt x="275773" y="128968"/>
                </a:lnTo>
                <a:cubicBezTo>
                  <a:pt x="276440" y="125539"/>
                  <a:pt x="276440" y="122015"/>
                  <a:pt x="275773" y="118491"/>
                </a:cubicBezTo>
                <a:lnTo>
                  <a:pt x="281298" y="115252"/>
                </a:lnTo>
                <a:cubicBezTo>
                  <a:pt x="282345" y="114585"/>
                  <a:pt x="283298" y="113823"/>
                  <a:pt x="284060" y="112776"/>
                </a:cubicBezTo>
                <a:cubicBezTo>
                  <a:pt x="284822" y="111728"/>
                  <a:pt x="285393" y="110680"/>
                  <a:pt x="285679" y="109442"/>
                </a:cubicBezTo>
                <a:cubicBezTo>
                  <a:pt x="285965" y="108204"/>
                  <a:pt x="286060" y="106966"/>
                  <a:pt x="285965" y="105727"/>
                </a:cubicBezTo>
                <a:cubicBezTo>
                  <a:pt x="285774" y="104489"/>
                  <a:pt x="285393" y="103251"/>
                  <a:pt x="284727" y="102203"/>
                </a:cubicBezTo>
                <a:cubicBezTo>
                  <a:pt x="284060" y="101155"/>
                  <a:pt x="283298" y="100203"/>
                  <a:pt x="282250" y="99441"/>
                </a:cubicBezTo>
                <a:cubicBezTo>
                  <a:pt x="281298" y="98679"/>
                  <a:pt x="280155" y="98107"/>
                  <a:pt x="278916" y="97821"/>
                </a:cubicBezTo>
                <a:cubicBezTo>
                  <a:pt x="277678" y="97536"/>
                  <a:pt x="276440" y="97441"/>
                  <a:pt x="275202" y="97536"/>
                </a:cubicBezTo>
                <a:cubicBezTo>
                  <a:pt x="273963" y="97726"/>
                  <a:pt x="272725" y="98107"/>
                  <a:pt x="271677" y="98774"/>
                </a:cubicBezTo>
                <a:lnTo>
                  <a:pt x="266153" y="102012"/>
                </a:lnTo>
                <a:cubicBezTo>
                  <a:pt x="263486" y="99726"/>
                  <a:pt x="260438" y="97917"/>
                  <a:pt x="257104" y="96774"/>
                </a:cubicBezTo>
                <a:lnTo>
                  <a:pt x="257104" y="90392"/>
                </a:lnTo>
                <a:cubicBezTo>
                  <a:pt x="257104" y="87820"/>
                  <a:pt x="256056" y="85439"/>
                  <a:pt x="254342" y="83629"/>
                </a:cubicBezTo>
                <a:cubicBezTo>
                  <a:pt x="252532" y="81819"/>
                  <a:pt x="250151" y="80867"/>
                  <a:pt x="247579" y="80867"/>
                </a:cubicBezTo>
                <a:cubicBezTo>
                  <a:pt x="245007" y="80867"/>
                  <a:pt x="242626" y="81915"/>
                  <a:pt x="240816" y="83629"/>
                </a:cubicBezTo>
                <a:cubicBezTo>
                  <a:pt x="239007" y="85439"/>
                  <a:pt x="238054" y="87820"/>
                  <a:pt x="238054" y="90392"/>
                </a:cubicBezTo>
                <a:lnTo>
                  <a:pt x="238054" y="96774"/>
                </a:lnTo>
                <a:cubicBezTo>
                  <a:pt x="234720" y="97917"/>
                  <a:pt x="231672" y="99726"/>
                  <a:pt x="229005" y="102012"/>
                </a:cubicBezTo>
                <a:lnTo>
                  <a:pt x="223481" y="98774"/>
                </a:lnTo>
                <a:cubicBezTo>
                  <a:pt x="222433" y="98107"/>
                  <a:pt x="221195" y="97726"/>
                  <a:pt x="219957" y="97536"/>
                </a:cubicBezTo>
                <a:cubicBezTo>
                  <a:pt x="218718" y="97345"/>
                  <a:pt x="217480" y="97536"/>
                  <a:pt x="216242" y="97821"/>
                </a:cubicBezTo>
                <a:cubicBezTo>
                  <a:pt x="215004" y="98107"/>
                  <a:pt x="213861" y="98679"/>
                  <a:pt x="212908" y="99441"/>
                </a:cubicBezTo>
                <a:cubicBezTo>
                  <a:pt x="211956" y="100203"/>
                  <a:pt x="211098" y="101155"/>
                  <a:pt x="210432" y="102203"/>
                </a:cubicBezTo>
                <a:cubicBezTo>
                  <a:pt x="209765" y="103251"/>
                  <a:pt x="209384" y="104489"/>
                  <a:pt x="209193" y="105727"/>
                </a:cubicBezTo>
                <a:cubicBezTo>
                  <a:pt x="209003" y="106966"/>
                  <a:pt x="209193" y="108204"/>
                  <a:pt x="209479" y="109442"/>
                </a:cubicBezTo>
                <a:cubicBezTo>
                  <a:pt x="209765" y="110680"/>
                  <a:pt x="210336" y="111823"/>
                  <a:pt x="211098" y="112776"/>
                </a:cubicBezTo>
                <a:cubicBezTo>
                  <a:pt x="211860" y="113729"/>
                  <a:pt x="212813" y="114585"/>
                  <a:pt x="213861" y="115252"/>
                </a:cubicBezTo>
                <a:lnTo>
                  <a:pt x="219385" y="118491"/>
                </a:lnTo>
                <a:cubicBezTo>
                  <a:pt x="218718" y="121920"/>
                  <a:pt x="218718" y="125444"/>
                  <a:pt x="219385" y="128968"/>
                </a:cubicBezTo>
                <a:lnTo>
                  <a:pt x="213861" y="132207"/>
                </a:lnTo>
                <a:cubicBezTo>
                  <a:pt x="212813" y="132873"/>
                  <a:pt x="211860" y="133635"/>
                  <a:pt x="211098" y="134683"/>
                </a:cubicBezTo>
                <a:cubicBezTo>
                  <a:pt x="210336" y="135636"/>
                  <a:pt x="209765" y="136779"/>
                  <a:pt x="209479" y="138017"/>
                </a:cubicBezTo>
                <a:cubicBezTo>
                  <a:pt x="209193" y="139255"/>
                  <a:pt x="209098" y="140494"/>
                  <a:pt x="209193" y="141732"/>
                </a:cubicBezTo>
                <a:cubicBezTo>
                  <a:pt x="209384" y="142970"/>
                  <a:pt x="209765" y="144208"/>
                  <a:pt x="210432" y="145256"/>
                </a:cubicBezTo>
                <a:cubicBezTo>
                  <a:pt x="211098" y="146304"/>
                  <a:pt x="211860" y="147256"/>
                  <a:pt x="212908" y="148018"/>
                </a:cubicBezTo>
                <a:cubicBezTo>
                  <a:pt x="213861" y="148780"/>
                  <a:pt x="215004" y="149352"/>
                  <a:pt x="216242" y="149637"/>
                </a:cubicBezTo>
                <a:cubicBezTo>
                  <a:pt x="217480" y="149923"/>
                  <a:pt x="218718" y="150019"/>
                  <a:pt x="219957" y="149923"/>
                </a:cubicBezTo>
                <a:cubicBezTo>
                  <a:pt x="221195" y="149733"/>
                  <a:pt x="222433" y="149352"/>
                  <a:pt x="223481" y="148685"/>
                </a:cubicBezTo>
                <a:lnTo>
                  <a:pt x="229005" y="145446"/>
                </a:lnTo>
                <a:cubicBezTo>
                  <a:pt x="231672" y="147732"/>
                  <a:pt x="234720" y="149542"/>
                  <a:pt x="238054" y="150685"/>
                </a:cubicBezTo>
                <a:lnTo>
                  <a:pt x="238054" y="157067"/>
                </a:lnTo>
                <a:cubicBezTo>
                  <a:pt x="238054" y="159639"/>
                  <a:pt x="239102" y="162020"/>
                  <a:pt x="240816" y="163830"/>
                </a:cubicBezTo>
                <a:cubicBezTo>
                  <a:pt x="242626" y="165639"/>
                  <a:pt x="245007" y="166592"/>
                  <a:pt x="247579" y="166592"/>
                </a:cubicBezTo>
                <a:cubicBezTo>
                  <a:pt x="250151" y="166592"/>
                  <a:pt x="252532" y="165545"/>
                  <a:pt x="254342" y="163830"/>
                </a:cubicBezTo>
                <a:cubicBezTo>
                  <a:pt x="256152" y="162020"/>
                  <a:pt x="257104" y="159639"/>
                  <a:pt x="257104" y="157067"/>
                </a:cubicBezTo>
                <a:lnTo>
                  <a:pt x="257104" y="150685"/>
                </a:lnTo>
                <a:cubicBezTo>
                  <a:pt x="260438" y="149542"/>
                  <a:pt x="263486" y="147732"/>
                  <a:pt x="266153" y="145446"/>
                </a:cubicBezTo>
                <a:lnTo>
                  <a:pt x="271677" y="148685"/>
                </a:lnTo>
                <a:cubicBezTo>
                  <a:pt x="273106" y="149542"/>
                  <a:pt x="274725" y="149923"/>
                  <a:pt x="276440" y="149923"/>
                </a:cubicBezTo>
                <a:cubicBezTo>
                  <a:pt x="278535" y="149923"/>
                  <a:pt x="280536" y="149257"/>
                  <a:pt x="282250" y="147923"/>
                </a:cubicBezTo>
                <a:cubicBezTo>
                  <a:pt x="283869" y="146685"/>
                  <a:pt x="285108" y="144875"/>
                  <a:pt x="285679" y="142875"/>
                </a:cubicBezTo>
                <a:cubicBezTo>
                  <a:pt x="286251" y="140875"/>
                  <a:pt x="286060" y="138684"/>
                  <a:pt x="285298" y="136779"/>
                </a:cubicBezTo>
                <a:cubicBezTo>
                  <a:pt x="284536" y="134874"/>
                  <a:pt x="283107" y="133255"/>
                  <a:pt x="281298" y="132207"/>
                </a:cubicBezTo>
                <a:close/>
                <a:moveTo>
                  <a:pt x="47649" y="80963"/>
                </a:moveTo>
                <a:cubicBezTo>
                  <a:pt x="47649" y="68675"/>
                  <a:pt x="51269" y="56769"/>
                  <a:pt x="58127" y="46577"/>
                </a:cubicBezTo>
                <a:cubicBezTo>
                  <a:pt x="64890" y="36385"/>
                  <a:pt x="74605" y="28480"/>
                  <a:pt x="85940" y="23813"/>
                </a:cubicBezTo>
                <a:cubicBezTo>
                  <a:pt x="97275" y="19145"/>
                  <a:pt x="109657" y="17907"/>
                  <a:pt x="121754" y="20288"/>
                </a:cubicBezTo>
                <a:cubicBezTo>
                  <a:pt x="133755" y="22670"/>
                  <a:pt x="144804" y="28575"/>
                  <a:pt x="153472" y="37242"/>
                </a:cubicBezTo>
                <a:cubicBezTo>
                  <a:pt x="162140" y="45910"/>
                  <a:pt x="168045" y="56959"/>
                  <a:pt x="170427" y="68961"/>
                </a:cubicBezTo>
                <a:cubicBezTo>
                  <a:pt x="172808" y="80963"/>
                  <a:pt x="171570" y="93440"/>
                  <a:pt x="166902" y="104775"/>
                </a:cubicBezTo>
                <a:cubicBezTo>
                  <a:pt x="162235" y="116110"/>
                  <a:pt x="154329" y="125730"/>
                  <a:pt x="144138" y="132588"/>
                </a:cubicBezTo>
                <a:cubicBezTo>
                  <a:pt x="133946" y="139351"/>
                  <a:pt x="121944" y="143065"/>
                  <a:pt x="109752" y="143065"/>
                </a:cubicBezTo>
                <a:cubicBezTo>
                  <a:pt x="93369" y="143065"/>
                  <a:pt x="77558" y="136493"/>
                  <a:pt x="66033" y="124873"/>
                </a:cubicBezTo>
                <a:cubicBezTo>
                  <a:pt x="54412" y="113252"/>
                  <a:pt x="47935" y="97536"/>
                  <a:pt x="47840" y="81153"/>
                </a:cubicBezTo>
                <a:close/>
                <a:moveTo>
                  <a:pt x="152424" y="149637"/>
                </a:moveTo>
                <a:cubicBezTo>
                  <a:pt x="167379" y="140303"/>
                  <a:pt x="178809" y="126396"/>
                  <a:pt x="185190" y="110014"/>
                </a:cubicBezTo>
                <a:cubicBezTo>
                  <a:pt x="191477" y="93630"/>
                  <a:pt x="192334" y="75533"/>
                  <a:pt x="187476" y="58674"/>
                </a:cubicBezTo>
                <a:cubicBezTo>
                  <a:pt x="182619" y="41814"/>
                  <a:pt x="172427" y="26860"/>
                  <a:pt x="158425" y="16287"/>
                </a:cubicBezTo>
                <a:cubicBezTo>
                  <a:pt x="144423" y="5715"/>
                  <a:pt x="127278" y="0"/>
                  <a:pt x="109657" y="0"/>
                </a:cubicBezTo>
                <a:cubicBezTo>
                  <a:pt x="92036" y="0"/>
                  <a:pt x="74986" y="5715"/>
                  <a:pt x="60889" y="16287"/>
                </a:cubicBezTo>
                <a:cubicBezTo>
                  <a:pt x="46887" y="26860"/>
                  <a:pt x="36600" y="41720"/>
                  <a:pt x="31838" y="58674"/>
                </a:cubicBezTo>
                <a:cubicBezTo>
                  <a:pt x="26980" y="75629"/>
                  <a:pt x="27837" y="93630"/>
                  <a:pt x="34124" y="110014"/>
                </a:cubicBezTo>
                <a:cubicBezTo>
                  <a:pt x="40410" y="126396"/>
                  <a:pt x="51936" y="140303"/>
                  <a:pt x="66890" y="149637"/>
                </a:cubicBezTo>
                <a:cubicBezTo>
                  <a:pt x="42315" y="157734"/>
                  <a:pt x="20217" y="172688"/>
                  <a:pt x="2406" y="193929"/>
                </a:cubicBezTo>
                <a:cubicBezTo>
                  <a:pt x="1548" y="194881"/>
                  <a:pt x="977" y="196024"/>
                  <a:pt x="501" y="197167"/>
                </a:cubicBezTo>
                <a:cubicBezTo>
                  <a:pt x="120" y="198405"/>
                  <a:pt x="-71" y="199644"/>
                  <a:pt x="24" y="200882"/>
                </a:cubicBezTo>
                <a:cubicBezTo>
                  <a:pt x="120" y="202120"/>
                  <a:pt x="501" y="203359"/>
                  <a:pt x="1072" y="204501"/>
                </a:cubicBezTo>
                <a:cubicBezTo>
                  <a:pt x="1644" y="205644"/>
                  <a:pt x="2406" y="206597"/>
                  <a:pt x="3453" y="207454"/>
                </a:cubicBezTo>
                <a:cubicBezTo>
                  <a:pt x="4406" y="208312"/>
                  <a:pt x="5549" y="208883"/>
                  <a:pt x="6787" y="209264"/>
                </a:cubicBezTo>
                <a:cubicBezTo>
                  <a:pt x="8025" y="209645"/>
                  <a:pt x="9264" y="209740"/>
                  <a:pt x="10502" y="209645"/>
                </a:cubicBezTo>
                <a:cubicBezTo>
                  <a:pt x="11740" y="209550"/>
                  <a:pt x="12978" y="209169"/>
                  <a:pt x="14121" y="208597"/>
                </a:cubicBezTo>
                <a:cubicBezTo>
                  <a:pt x="15264" y="208026"/>
                  <a:pt x="16217" y="207169"/>
                  <a:pt x="16979" y="206216"/>
                </a:cubicBezTo>
                <a:cubicBezTo>
                  <a:pt x="40887" y="177736"/>
                  <a:pt x="73843" y="162020"/>
                  <a:pt x="109657" y="162020"/>
                </a:cubicBezTo>
                <a:cubicBezTo>
                  <a:pt x="145471" y="162020"/>
                  <a:pt x="178428" y="177736"/>
                  <a:pt x="202335" y="206216"/>
                </a:cubicBezTo>
                <a:cubicBezTo>
                  <a:pt x="203955" y="208121"/>
                  <a:pt x="206336" y="209359"/>
                  <a:pt x="208812" y="209550"/>
                </a:cubicBezTo>
                <a:cubicBezTo>
                  <a:pt x="211289" y="209740"/>
                  <a:pt x="213861" y="208979"/>
                  <a:pt x="215766" y="207359"/>
                </a:cubicBezTo>
                <a:cubicBezTo>
                  <a:pt x="217671" y="205740"/>
                  <a:pt x="218909" y="203359"/>
                  <a:pt x="219099" y="200882"/>
                </a:cubicBezTo>
                <a:cubicBezTo>
                  <a:pt x="219290" y="198405"/>
                  <a:pt x="218528" y="195834"/>
                  <a:pt x="216909" y="193929"/>
                </a:cubicBezTo>
                <a:cubicBezTo>
                  <a:pt x="199097" y="172783"/>
                  <a:pt x="176999" y="157734"/>
                  <a:pt x="152424" y="14963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25" lIns="91425" spcFirstLastPara="1" rIns="914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40"/>
          <p:cNvSpPr txBox="1"/>
          <p:nvPr/>
        </p:nvSpPr>
        <p:spPr>
          <a:xfrm>
            <a:off x="9111100" y="3402400"/>
            <a:ext cx="3602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Consultor Líder de Projeto</a:t>
            </a:r>
            <a:endParaRPr b="0" i="0" sz="1400" u="none" cap="none" strike="noStrike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470" name="Google Shape;470;p40"/>
          <p:cNvSpPr txBox="1"/>
          <p:nvPr/>
        </p:nvSpPr>
        <p:spPr>
          <a:xfrm>
            <a:off x="13896000" y="4484388"/>
            <a:ext cx="349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Advisor COO</a:t>
            </a:r>
            <a:r>
              <a:rPr b="0" i="0" lang="pt-BR" sz="17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  <a:r>
              <a:rPr b="0" i="0" lang="pt-BR" sz="14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(pontual)</a:t>
            </a:r>
            <a:endParaRPr b="0" i="0" sz="1400" u="none" cap="none" strike="noStrike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471" name="Google Shape;471;p40"/>
          <p:cNvSpPr/>
          <p:nvPr/>
        </p:nvSpPr>
        <p:spPr>
          <a:xfrm>
            <a:off x="13248000" y="5163393"/>
            <a:ext cx="424564" cy="288732"/>
          </a:xfrm>
          <a:custGeom>
            <a:rect b="b" l="l" r="r" t="t"/>
            <a:pathLst>
              <a:path extrusionOk="0" h="209606" w="304893">
                <a:moveTo>
                  <a:pt x="156933" y="202367"/>
                </a:moveTo>
                <a:cubicBezTo>
                  <a:pt x="156457" y="204463"/>
                  <a:pt x="155219" y="206273"/>
                  <a:pt x="153599" y="207606"/>
                </a:cubicBezTo>
                <a:cubicBezTo>
                  <a:pt x="151980" y="208940"/>
                  <a:pt x="149885" y="209606"/>
                  <a:pt x="147789" y="209606"/>
                </a:cubicBezTo>
                <a:cubicBezTo>
                  <a:pt x="147027" y="209606"/>
                  <a:pt x="146265" y="209511"/>
                  <a:pt x="145503" y="209321"/>
                </a:cubicBezTo>
                <a:lnTo>
                  <a:pt x="95878" y="196938"/>
                </a:lnTo>
                <a:cubicBezTo>
                  <a:pt x="94735" y="196652"/>
                  <a:pt x="93592" y="196176"/>
                  <a:pt x="92640" y="195414"/>
                </a:cubicBezTo>
                <a:lnTo>
                  <a:pt x="61302" y="173030"/>
                </a:lnTo>
                <a:cubicBezTo>
                  <a:pt x="59397" y="171506"/>
                  <a:pt x="58064" y="169316"/>
                  <a:pt x="57778" y="166934"/>
                </a:cubicBezTo>
                <a:cubicBezTo>
                  <a:pt x="57397" y="164553"/>
                  <a:pt x="58064" y="162077"/>
                  <a:pt x="59492" y="160076"/>
                </a:cubicBezTo>
                <a:cubicBezTo>
                  <a:pt x="60921" y="158076"/>
                  <a:pt x="63017" y="156743"/>
                  <a:pt x="65493" y="156266"/>
                </a:cubicBezTo>
                <a:cubicBezTo>
                  <a:pt x="67874" y="155790"/>
                  <a:pt x="70351" y="156266"/>
                  <a:pt x="72446" y="157600"/>
                </a:cubicBezTo>
                <a:lnTo>
                  <a:pt x="102355" y="178936"/>
                </a:lnTo>
                <a:lnTo>
                  <a:pt x="150266" y="190937"/>
                </a:lnTo>
                <a:cubicBezTo>
                  <a:pt x="152742" y="191509"/>
                  <a:pt x="154838" y="193128"/>
                  <a:pt x="156076" y="195319"/>
                </a:cubicBezTo>
                <a:cubicBezTo>
                  <a:pt x="157409" y="197510"/>
                  <a:pt x="157790" y="200081"/>
                  <a:pt x="157124" y="202558"/>
                </a:cubicBezTo>
                <a:lnTo>
                  <a:pt x="157124" y="202558"/>
                </a:lnTo>
                <a:close/>
                <a:moveTo>
                  <a:pt x="261423" y="92068"/>
                </a:moveTo>
                <a:lnTo>
                  <a:pt x="231038" y="31298"/>
                </a:lnTo>
                <a:lnTo>
                  <a:pt x="255422" y="19106"/>
                </a:lnTo>
                <a:lnTo>
                  <a:pt x="285807" y="79876"/>
                </a:lnTo>
                <a:lnTo>
                  <a:pt x="261423" y="92068"/>
                </a:lnTo>
                <a:close/>
                <a:moveTo>
                  <a:pt x="187604" y="160934"/>
                </a:moveTo>
                <a:lnTo>
                  <a:pt x="118452" y="143598"/>
                </a:lnTo>
                <a:lnTo>
                  <a:pt x="59873" y="101783"/>
                </a:lnTo>
                <a:lnTo>
                  <a:pt x="93211" y="35108"/>
                </a:lnTo>
                <a:lnTo>
                  <a:pt x="152457" y="19392"/>
                </a:lnTo>
                <a:lnTo>
                  <a:pt x="164172" y="22440"/>
                </a:lnTo>
                <a:lnTo>
                  <a:pt x="110642" y="74447"/>
                </a:lnTo>
                <a:lnTo>
                  <a:pt x="110546" y="74447"/>
                </a:lnTo>
                <a:cubicBezTo>
                  <a:pt x="108546" y="76542"/>
                  <a:pt x="107022" y="79019"/>
                  <a:pt x="106070" y="81686"/>
                </a:cubicBezTo>
                <a:cubicBezTo>
                  <a:pt x="105117" y="84353"/>
                  <a:pt x="104832" y="87210"/>
                  <a:pt x="105117" y="90068"/>
                </a:cubicBezTo>
                <a:cubicBezTo>
                  <a:pt x="105403" y="92925"/>
                  <a:pt x="106356" y="95592"/>
                  <a:pt x="107879" y="98069"/>
                </a:cubicBezTo>
                <a:cubicBezTo>
                  <a:pt x="109403" y="100450"/>
                  <a:pt x="111404" y="102545"/>
                  <a:pt x="113785" y="104069"/>
                </a:cubicBezTo>
                <a:cubicBezTo>
                  <a:pt x="138264" y="119690"/>
                  <a:pt x="167792" y="117214"/>
                  <a:pt x="191033" y="98164"/>
                </a:cubicBezTo>
                <a:lnTo>
                  <a:pt x="223989" y="124643"/>
                </a:lnTo>
                <a:lnTo>
                  <a:pt x="187699" y="160934"/>
                </a:lnTo>
                <a:close/>
                <a:moveTo>
                  <a:pt x="49491" y="19106"/>
                </a:moveTo>
                <a:lnTo>
                  <a:pt x="73875" y="31298"/>
                </a:lnTo>
                <a:lnTo>
                  <a:pt x="43395" y="92068"/>
                </a:lnTo>
                <a:lnTo>
                  <a:pt x="19107" y="79876"/>
                </a:lnTo>
                <a:lnTo>
                  <a:pt x="49491" y="19106"/>
                </a:lnTo>
                <a:close/>
                <a:moveTo>
                  <a:pt x="237419" y="111118"/>
                </a:moveTo>
                <a:lnTo>
                  <a:pt x="196462" y="78352"/>
                </a:lnTo>
                <a:cubicBezTo>
                  <a:pt x="194652" y="76923"/>
                  <a:pt x="192271" y="76161"/>
                  <a:pt x="189985" y="76256"/>
                </a:cubicBezTo>
                <a:cubicBezTo>
                  <a:pt x="187604" y="76352"/>
                  <a:pt x="185413" y="77399"/>
                  <a:pt x="183794" y="79019"/>
                </a:cubicBezTo>
                <a:cubicBezTo>
                  <a:pt x="162553" y="100355"/>
                  <a:pt x="138931" y="97688"/>
                  <a:pt x="123882" y="88163"/>
                </a:cubicBezTo>
                <a:lnTo>
                  <a:pt x="175412" y="38156"/>
                </a:lnTo>
                <a:lnTo>
                  <a:pt x="213321" y="38156"/>
                </a:lnTo>
                <a:lnTo>
                  <a:pt x="245706" y="102926"/>
                </a:lnTo>
                <a:lnTo>
                  <a:pt x="237515" y="111118"/>
                </a:lnTo>
                <a:close/>
                <a:moveTo>
                  <a:pt x="302761" y="71399"/>
                </a:moveTo>
                <a:lnTo>
                  <a:pt x="272376" y="10629"/>
                </a:lnTo>
                <a:cubicBezTo>
                  <a:pt x="271233" y="8438"/>
                  <a:pt x="269709" y="6438"/>
                  <a:pt x="267804" y="4724"/>
                </a:cubicBezTo>
                <a:cubicBezTo>
                  <a:pt x="265899" y="3104"/>
                  <a:pt x="263708" y="1866"/>
                  <a:pt x="261327" y="1009"/>
                </a:cubicBezTo>
                <a:cubicBezTo>
                  <a:pt x="258946" y="247"/>
                  <a:pt x="256469" y="-134"/>
                  <a:pt x="253993" y="56"/>
                </a:cubicBezTo>
                <a:cubicBezTo>
                  <a:pt x="251516" y="247"/>
                  <a:pt x="249040" y="914"/>
                  <a:pt x="246849" y="2057"/>
                </a:cubicBezTo>
                <a:lnTo>
                  <a:pt x="217226" y="16820"/>
                </a:lnTo>
                <a:lnTo>
                  <a:pt x="154838" y="342"/>
                </a:lnTo>
                <a:cubicBezTo>
                  <a:pt x="153218" y="-39"/>
                  <a:pt x="151599" y="-39"/>
                  <a:pt x="149980" y="342"/>
                </a:cubicBezTo>
                <a:lnTo>
                  <a:pt x="87591" y="16820"/>
                </a:lnTo>
                <a:lnTo>
                  <a:pt x="57968" y="2057"/>
                </a:lnTo>
                <a:cubicBezTo>
                  <a:pt x="55682" y="914"/>
                  <a:pt x="53301" y="247"/>
                  <a:pt x="50825" y="56"/>
                </a:cubicBezTo>
                <a:cubicBezTo>
                  <a:pt x="48348" y="-134"/>
                  <a:pt x="45776" y="152"/>
                  <a:pt x="43490" y="1009"/>
                </a:cubicBezTo>
                <a:cubicBezTo>
                  <a:pt x="41109" y="1771"/>
                  <a:pt x="38918" y="3009"/>
                  <a:pt x="37013" y="4724"/>
                </a:cubicBezTo>
                <a:cubicBezTo>
                  <a:pt x="35108" y="6343"/>
                  <a:pt x="33584" y="8343"/>
                  <a:pt x="32441" y="10629"/>
                </a:cubicBezTo>
                <a:lnTo>
                  <a:pt x="2057" y="71399"/>
                </a:lnTo>
                <a:cubicBezTo>
                  <a:pt x="914" y="73589"/>
                  <a:pt x="247" y="76066"/>
                  <a:pt x="57" y="78542"/>
                </a:cubicBezTo>
                <a:cubicBezTo>
                  <a:pt x="-134" y="81019"/>
                  <a:pt x="152" y="83591"/>
                  <a:pt x="1009" y="85877"/>
                </a:cubicBezTo>
                <a:cubicBezTo>
                  <a:pt x="1771" y="88258"/>
                  <a:pt x="3009" y="90449"/>
                  <a:pt x="4724" y="92354"/>
                </a:cubicBezTo>
                <a:cubicBezTo>
                  <a:pt x="6343" y="94259"/>
                  <a:pt x="8343" y="95783"/>
                  <a:pt x="10629" y="96926"/>
                </a:cubicBezTo>
                <a:lnTo>
                  <a:pt x="42824" y="113023"/>
                </a:lnTo>
                <a:lnTo>
                  <a:pt x="108927" y="160172"/>
                </a:lnTo>
                <a:cubicBezTo>
                  <a:pt x="109880" y="160838"/>
                  <a:pt x="111023" y="161410"/>
                  <a:pt x="112166" y="161696"/>
                </a:cubicBezTo>
                <a:lnTo>
                  <a:pt x="188366" y="180746"/>
                </a:lnTo>
                <a:cubicBezTo>
                  <a:pt x="189985" y="181127"/>
                  <a:pt x="191604" y="181127"/>
                  <a:pt x="193223" y="180746"/>
                </a:cubicBezTo>
                <a:cubicBezTo>
                  <a:pt x="194843" y="180365"/>
                  <a:pt x="196271" y="179507"/>
                  <a:pt x="197415" y="178269"/>
                </a:cubicBezTo>
                <a:lnTo>
                  <a:pt x="262946" y="112642"/>
                </a:lnTo>
                <a:lnTo>
                  <a:pt x="294379" y="96926"/>
                </a:lnTo>
                <a:cubicBezTo>
                  <a:pt x="298856" y="94640"/>
                  <a:pt x="302285" y="90734"/>
                  <a:pt x="303904" y="85877"/>
                </a:cubicBezTo>
                <a:cubicBezTo>
                  <a:pt x="305523" y="81114"/>
                  <a:pt x="305142" y="75875"/>
                  <a:pt x="302856" y="71303"/>
                </a:cubicBezTo>
                <a:lnTo>
                  <a:pt x="302856" y="71303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25" lIns="91425" spcFirstLastPara="1" rIns="914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40"/>
          <p:cNvSpPr txBox="1"/>
          <p:nvPr/>
        </p:nvSpPr>
        <p:spPr>
          <a:xfrm>
            <a:off x="13896000" y="5132388"/>
            <a:ext cx="349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Account Manager</a:t>
            </a:r>
            <a:r>
              <a:rPr b="0" i="0" lang="pt-BR" sz="17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  <a:r>
              <a:rPr b="0" i="0" lang="pt-BR" sz="14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(pontual)</a:t>
            </a:r>
            <a:endParaRPr b="0" i="0" sz="1400" u="none" cap="none" strike="noStrike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pic>
        <p:nvPicPr>
          <p:cNvPr descr="preencoded.png" id="473" name="Google Shape;47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2000" y="9869738"/>
            <a:ext cx="610560" cy="115200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40"/>
          <p:cNvSpPr txBox="1"/>
          <p:nvPr/>
        </p:nvSpPr>
        <p:spPr>
          <a:xfrm>
            <a:off x="1441647" y="9875975"/>
            <a:ext cx="1890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© 2026 · A3DATA CONSULTORIA S/A.</a:t>
            </a:r>
            <a:endParaRPr b="0" i="0" sz="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5" name="Google Shape;475;p40"/>
          <p:cNvSpPr txBox="1"/>
          <p:nvPr/>
        </p:nvSpPr>
        <p:spPr>
          <a:xfrm>
            <a:off x="3585947" y="9876000"/>
            <a:ext cx="2465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LOUCOS POR DADOS APAIXONADOS POR GENTE</a:t>
            </a:r>
            <a:endParaRPr b="0" i="0" sz="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6" name="Google Shape;476;p40"/>
          <p:cNvSpPr txBox="1"/>
          <p:nvPr/>
        </p:nvSpPr>
        <p:spPr>
          <a:xfrm>
            <a:off x="1441650" y="1008000"/>
            <a:ext cx="56160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65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6000"/>
              <a:buFont typeface="Lato Black"/>
              <a:buNone/>
            </a:pPr>
            <a:r>
              <a:rPr b="0" i="0" lang="pt-BR" sz="41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Equipe composta:</a:t>
            </a:r>
            <a:endParaRPr b="0" i="0" sz="4100" u="none" cap="none" strike="noStrike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pic>
        <p:nvPicPr>
          <p:cNvPr descr="preencoded.png" id="477" name="Google Shape;477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34000" y="2402800"/>
            <a:ext cx="1528000" cy="28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40"/>
          <p:cNvSpPr txBox="1"/>
          <p:nvPr/>
        </p:nvSpPr>
        <p:spPr>
          <a:xfrm>
            <a:off x="2016000" y="3410800"/>
            <a:ext cx="432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Tecnologia &amp; </a:t>
            </a:r>
            <a:r>
              <a:rPr b="0" i="0" lang="pt-BR" sz="24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Negócio</a:t>
            </a:r>
            <a:endParaRPr b="0" i="0" sz="2400" u="none" cap="none" strike="noStrike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479" name="Google Shape;479;p40"/>
          <p:cNvSpPr/>
          <p:nvPr/>
        </p:nvSpPr>
        <p:spPr>
          <a:xfrm>
            <a:off x="8056550" y="8640000"/>
            <a:ext cx="4755000" cy="432000"/>
          </a:xfrm>
          <a:prstGeom prst="roundRect">
            <a:avLst>
              <a:gd fmla="val 50000" name="adj"/>
            </a:avLst>
          </a:prstGeom>
          <a:solidFill>
            <a:srgbClr val="316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F5F5F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SPRINTS</a:t>
            </a:r>
            <a:endParaRPr b="1" i="0" sz="1400" u="none" cap="none" strike="noStrike">
              <a:solidFill>
                <a:srgbClr val="F5F5F5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80" name="Google Shape;480;p40"/>
          <p:cNvSpPr/>
          <p:nvPr/>
        </p:nvSpPr>
        <p:spPr>
          <a:xfrm>
            <a:off x="12960000" y="8640000"/>
            <a:ext cx="4896000" cy="432000"/>
          </a:xfrm>
          <a:prstGeom prst="roundRect">
            <a:avLst>
              <a:gd fmla="val 50000" name="adj"/>
            </a:avLst>
          </a:prstGeom>
          <a:solidFill>
            <a:srgbClr val="ED28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F5F5F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A3DATA CENTRO DE EXPERTISE</a:t>
            </a:r>
            <a:endParaRPr b="1" i="0" sz="1400" u="none" cap="none" strike="noStrike">
              <a:solidFill>
                <a:srgbClr val="F5F5F5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81" name="Google Shape;481;p40"/>
          <p:cNvSpPr txBox="1"/>
          <p:nvPr/>
        </p:nvSpPr>
        <p:spPr>
          <a:xfrm>
            <a:off x="13262700" y="6506800"/>
            <a:ext cx="4125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F5009C"/>
                </a:solidFill>
                <a:latin typeface="Lato Black"/>
                <a:ea typeface="Lato Black"/>
                <a:cs typeface="Lato Black"/>
                <a:sym typeface="Lato Black"/>
              </a:rPr>
              <a:t>→</a:t>
            </a:r>
            <a:r>
              <a:rPr b="0" i="0" lang="pt-BR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Recomendação para o negócio;</a:t>
            </a:r>
            <a:endParaRPr b="0" i="0" sz="1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F5009C"/>
                </a:solidFill>
                <a:latin typeface="Lato Black"/>
                <a:ea typeface="Lato Black"/>
                <a:cs typeface="Lato Black"/>
                <a:sym typeface="Lato Black"/>
              </a:rPr>
              <a:t>→</a:t>
            </a:r>
            <a:r>
              <a:rPr b="0" i="0" lang="pt-BR" sz="1400" u="none" cap="none" strike="noStrike">
                <a:solidFill>
                  <a:srgbClr val="0033FF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  <a:r>
              <a:rPr b="0" i="0" lang="pt-BR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Otimização dos processos operacionais;</a:t>
            </a:r>
            <a:endParaRPr b="0" i="0" sz="1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F5009C"/>
                </a:solidFill>
                <a:latin typeface="Lato Black"/>
                <a:ea typeface="Lato Black"/>
                <a:cs typeface="Lato Black"/>
                <a:sym typeface="Lato Black"/>
              </a:rPr>
              <a:t>→</a:t>
            </a:r>
            <a:r>
              <a:rPr b="0" i="0" lang="pt-BR" sz="1400" u="none" cap="none" strike="noStrike">
                <a:solidFill>
                  <a:srgbClr val="0033FF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  <a:r>
              <a:rPr b="0" i="0" lang="pt-BR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Novas perspectivas para novos insights.</a:t>
            </a:r>
            <a:endParaRPr b="0" i="0" sz="1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2" name="Google Shape;482;p40"/>
          <p:cNvSpPr/>
          <p:nvPr/>
        </p:nvSpPr>
        <p:spPr>
          <a:xfrm rot="10800000">
            <a:off x="1440000" y="7920000"/>
            <a:ext cx="6480000" cy="1152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40"/>
          <p:cNvSpPr/>
          <p:nvPr/>
        </p:nvSpPr>
        <p:spPr>
          <a:xfrm rot="10800000">
            <a:off x="8064000" y="7920000"/>
            <a:ext cx="4824000" cy="115200"/>
          </a:xfrm>
          <a:prstGeom prst="rect">
            <a:avLst/>
          </a:prstGeom>
          <a:solidFill>
            <a:srgbClr val="316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40"/>
          <p:cNvSpPr txBox="1"/>
          <p:nvPr/>
        </p:nvSpPr>
        <p:spPr>
          <a:xfrm>
            <a:off x="8208000" y="8208000"/>
            <a:ext cx="4608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SQUAD</a:t>
            </a:r>
            <a:endParaRPr b="0" i="0" sz="1700" u="none" cap="none" strike="noStrike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485" name="Google Shape;485;p40"/>
          <p:cNvSpPr txBox="1"/>
          <p:nvPr/>
        </p:nvSpPr>
        <p:spPr>
          <a:xfrm>
            <a:off x="12960000" y="8208000"/>
            <a:ext cx="4896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APOIO</a:t>
            </a:r>
            <a:endParaRPr b="0" i="0" sz="1700" u="none" cap="none" strike="noStrike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486" name="Google Shape;486;p40"/>
          <p:cNvSpPr/>
          <p:nvPr/>
        </p:nvSpPr>
        <p:spPr>
          <a:xfrm rot="10800000">
            <a:off x="12888000" y="7920000"/>
            <a:ext cx="5112000" cy="115200"/>
          </a:xfrm>
          <a:prstGeom prst="rect">
            <a:avLst/>
          </a:prstGeom>
          <a:solidFill>
            <a:srgbClr val="F500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40"/>
          <p:cNvSpPr/>
          <p:nvPr/>
        </p:nvSpPr>
        <p:spPr>
          <a:xfrm>
            <a:off x="13281608" y="3854572"/>
            <a:ext cx="359822" cy="271404"/>
          </a:xfrm>
          <a:custGeom>
            <a:rect b="b" l="l" r="r" t="t"/>
            <a:pathLst>
              <a:path extrusionOk="0" h="209578" w="276255">
                <a:moveTo>
                  <a:pt x="276063" y="80963"/>
                </a:moveTo>
                <a:cubicBezTo>
                  <a:pt x="276063" y="103537"/>
                  <a:pt x="271491" y="125920"/>
                  <a:pt x="262633" y="146589"/>
                </a:cubicBezTo>
                <a:cubicBezTo>
                  <a:pt x="261585" y="148876"/>
                  <a:pt x="259680" y="150590"/>
                  <a:pt x="257394" y="151447"/>
                </a:cubicBezTo>
                <a:cubicBezTo>
                  <a:pt x="255108" y="152305"/>
                  <a:pt x="252536" y="152305"/>
                  <a:pt x="250250" y="151352"/>
                </a:cubicBezTo>
                <a:cubicBezTo>
                  <a:pt x="247964" y="150400"/>
                  <a:pt x="246155" y="148590"/>
                  <a:pt x="245202" y="146304"/>
                </a:cubicBezTo>
                <a:cubicBezTo>
                  <a:pt x="244250" y="144018"/>
                  <a:pt x="244250" y="141446"/>
                  <a:pt x="245202" y="139160"/>
                </a:cubicBezTo>
                <a:cubicBezTo>
                  <a:pt x="253013" y="120777"/>
                  <a:pt x="257108" y="100965"/>
                  <a:pt x="257108" y="80963"/>
                </a:cubicBezTo>
                <a:cubicBezTo>
                  <a:pt x="257108" y="60960"/>
                  <a:pt x="253108" y="41147"/>
                  <a:pt x="245202" y="22764"/>
                </a:cubicBezTo>
                <a:cubicBezTo>
                  <a:pt x="244631" y="21621"/>
                  <a:pt x="244345" y="20383"/>
                  <a:pt x="244345" y="19050"/>
                </a:cubicBezTo>
                <a:cubicBezTo>
                  <a:pt x="244345" y="17716"/>
                  <a:pt x="244536" y="16478"/>
                  <a:pt x="245012" y="15335"/>
                </a:cubicBezTo>
                <a:cubicBezTo>
                  <a:pt x="245488" y="14192"/>
                  <a:pt x="246155" y="13049"/>
                  <a:pt x="247012" y="12096"/>
                </a:cubicBezTo>
                <a:cubicBezTo>
                  <a:pt x="247869" y="11144"/>
                  <a:pt x="248917" y="10477"/>
                  <a:pt x="250155" y="9906"/>
                </a:cubicBezTo>
                <a:cubicBezTo>
                  <a:pt x="251298" y="9430"/>
                  <a:pt x="252632" y="9144"/>
                  <a:pt x="253870" y="9144"/>
                </a:cubicBezTo>
                <a:cubicBezTo>
                  <a:pt x="255108" y="9144"/>
                  <a:pt x="256442" y="9430"/>
                  <a:pt x="257585" y="9906"/>
                </a:cubicBezTo>
                <a:cubicBezTo>
                  <a:pt x="258728" y="10382"/>
                  <a:pt x="259871" y="11144"/>
                  <a:pt x="260728" y="12001"/>
                </a:cubicBezTo>
                <a:cubicBezTo>
                  <a:pt x="261585" y="12859"/>
                  <a:pt x="262347" y="14001"/>
                  <a:pt x="262823" y="15144"/>
                </a:cubicBezTo>
                <a:cubicBezTo>
                  <a:pt x="271777" y="35909"/>
                  <a:pt x="276349" y="58198"/>
                  <a:pt x="276254" y="80772"/>
                </a:cubicBezTo>
                <a:close/>
                <a:moveTo>
                  <a:pt x="227676" y="30480"/>
                </a:moveTo>
                <a:cubicBezTo>
                  <a:pt x="234439" y="46482"/>
                  <a:pt x="237963" y="63627"/>
                  <a:pt x="237963" y="80963"/>
                </a:cubicBezTo>
                <a:cubicBezTo>
                  <a:pt x="237963" y="98297"/>
                  <a:pt x="234439" y="115443"/>
                  <a:pt x="227676" y="131445"/>
                </a:cubicBezTo>
                <a:cubicBezTo>
                  <a:pt x="226914" y="133159"/>
                  <a:pt x="225676" y="134588"/>
                  <a:pt x="224152" y="135636"/>
                </a:cubicBezTo>
                <a:cubicBezTo>
                  <a:pt x="222628" y="136684"/>
                  <a:pt x="220723" y="137255"/>
                  <a:pt x="218913" y="137255"/>
                </a:cubicBezTo>
                <a:cubicBezTo>
                  <a:pt x="217294" y="137255"/>
                  <a:pt x="215770" y="136874"/>
                  <a:pt x="214436" y="136112"/>
                </a:cubicBezTo>
                <a:cubicBezTo>
                  <a:pt x="213008" y="135350"/>
                  <a:pt x="211865" y="134302"/>
                  <a:pt x="211007" y="132969"/>
                </a:cubicBezTo>
                <a:cubicBezTo>
                  <a:pt x="210150" y="131635"/>
                  <a:pt x="209579" y="130111"/>
                  <a:pt x="209483" y="128588"/>
                </a:cubicBezTo>
                <a:cubicBezTo>
                  <a:pt x="209388" y="127063"/>
                  <a:pt x="209579" y="125444"/>
                  <a:pt x="210245" y="124015"/>
                </a:cubicBezTo>
                <a:cubicBezTo>
                  <a:pt x="216056" y="110394"/>
                  <a:pt x="219008" y="95821"/>
                  <a:pt x="219008" y="81057"/>
                </a:cubicBezTo>
                <a:cubicBezTo>
                  <a:pt x="219008" y="66294"/>
                  <a:pt x="216056" y="51625"/>
                  <a:pt x="210245" y="38100"/>
                </a:cubicBezTo>
                <a:cubicBezTo>
                  <a:pt x="209293" y="35814"/>
                  <a:pt x="209198" y="33147"/>
                  <a:pt x="210245" y="30766"/>
                </a:cubicBezTo>
                <a:cubicBezTo>
                  <a:pt x="211198" y="28384"/>
                  <a:pt x="213008" y="26575"/>
                  <a:pt x="215389" y="25527"/>
                </a:cubicBezTo>
                <a:cubicBezTo>
                  <a:pt x="217675" y="24574"/>
                  <a:pt x="220342" y="24479"/>
                  <a:pt x="222723" y="25527"/>
                </a:cubicBezTo>
                <a:cubicBezTo>
                  <a:pt x="225104" y="26479"/>
                  <a:pt x="226914" y="28289"/>
                  <a:pt x="227962" y="30670"/>
                </a:cubicBezTo>
                <a:close/>
                <a:moveTo>
                  <a:pt x="47463" y="80963"/>
                </a:moveTo>
                <a:cubicBezTo>
                  <a:pt x="47463" y="68675"/>
                  <a:pt x="51083" y="56769"/>
                  <a:pt x="57941" y="46577"/>
                </a:cubicBezTo>
                <a:cubicBezTo>
                  <a:pt x="64703" y="36385"/>
                  <a:pt x="74419" y="28480"/>
                  <a:pt x="85754" y="23813"/>
                </a:cubicBezTo>
                <a:cubicBezTo>
                  <a:pt x="97088" y="19145"/>
                  <a:pt x="109471" y="17907"/>
                  <a:pt x="121568" y="20288"/>
                </a:cubicBezTo>
                <a:cubicBezTo>
                  <a:pt x="133569" y="22670"/>
                  <a:pt x="144618" y="28575"/>
                  <a:pt x="153286" y="37242"/>
                </a:cubicBezTo>
                <a:cubicBezTo>
                  <a:pt x="161954" y="45910"/>
                  <a:pt x="167859" y="56959"/>
                  <a:pt x="170240" y="68961"/>
                </a:cubicBezTo>
                <a:cubicBezTo>
                  <a:pt x="172622" y="80963"/>
                  <a:pt x="171383" y="93440"/>
                  <a:pt x="166716" y="104775"/>
                </a:cubicBezTo>
                <a:cubicBezTo>
                  <a:pt x="162049" y="116110"/>
                  <a:pt x="154048" y="125730"/>
                  <a:pt x="143951" y="132588"/>
                </a:cubicBezTo>
                <a:cubicBezTo>
                  <a:pt x="133855" y="139446"/>
                  <a:pt x="121758" y="143065"/>
                  <a:pt x="109566" y="143065"/>
                </a:cubicBezTo>
                <a:cubicBezTo>
                  <a:pt x="93183" y="143065"/>
                  <a:pt x="77372" y="136493"/>
                  <a:pt x="65846" y="124873"/>
                </a:cubicBezTo>
                <a:cubicBezTo>
                  <a:pt x="54226" y="113252"/>
                  <a:pt x="47749" y="97536"/>
                  <a:pt x="47654" y="81153"/>
                </a:cubicBezTo>
                <a:close/>
                <a:moveTo>
                  <a:pt x="152238" y="149637"/>
                </a:moveTo>
                <a:cubicBezTo>
                  <a:pt x="167192" y="140303"/>
                  <a:pt x="178622" y="126396"/>
                  <a:pt x="185004" y="110014"/>
                </a:cubicBezTo>
                <a:cubicBezTo>
                  <a:pt x="191291" y="93630"/>
                  <a:pt x="192148" y="75533"/>
                  <a:pt x="187290" y="58674"/>
                </a:cubicBezTo>
                <a:cubicBezTo>
                  <a:pt x="182432" y="41720"/>
                  <a:pt x="172241" y="26860"/>
                  <a:pt x="158239" y="16287"/>
                </a:cubicBezTo>
                <a:cubicBezTo>
                  <a:pt x="144237" y="5715"/>
                  <a:pt x="127092" y="0"/>
                  <a:pt x="109471" y="0"/>
                </a:cubicBezTo>
                <a:cubicBezTo>
                  <a:pt x="91850" y="0"/>
                  <a:pt x="74800" y="5715"/>
                  <a:pt x="60703" y="16287"/>
                </a:cubicBezTo>
                <a:cubicBezTo>
                  <a:pt x="46701" y="26860"/>
                  <a:pt x="36414" y="41720"/>
                  <a:pt x="31652" y="58674"/>
                </a:cubicBezTo>
                <a:cubicBezTo>
                  <a:pt x="26889" y="75629"/>
                  <a:pt x="27651" y="93630"/>
                  <a:pt x="33938" y="110014"/>
                </a:cubicBezTo>
                <a:cubicBezTo>
                  <a:pt x="40224" y="126396"/>
                  <a:pt x="51749" y="140303"/>
                  <a:pt x="66704" y="149637"/>
                </a:cubicBezTo>
                <a:cubicBezTo>
                  <a:pt x="42129" y="157639"/>
                  <a:pt x="20031" y="172688"/>
                  <a:pt x="2220" y="193929"/>
                </a:cubicBezTo>
                <a:cubicBezTo>
                  <a:pt x="600" y="195834"/>
                  <a:pt x="-162" y="198405"/>
                  <a:pt x="29" y="200882"/>
                </a:cubicBezTo>
                <a:cubicBezTo>
                  <a:pt x="219" y="203359"/>
                  <a:pt x="1457" y="205740"/>
                  <a:pt x="3362" y="207359"/>
                </a:cubicBezTo>
                <a:cubicBezTo>
                  <a:pt x="5267" y="208979"/>
                  <a:pt x="7839" y="209740"/>
                  <a:pt x="10316" y="209550"/>
                </a:cubicBezTo>
                <a:cubicBezTo>
                  <a:pt x="12792" y="209359"/>
                  <a:pt x="15173" y="208121"/>
                  <a:pt x="16793" y="206216"/>
                </a:cubicBezTo>
                <a:cubicBezTo>
                  <a:pt x="40700" y="177641"/>
                  <a:pt x="73657" y="162020"/>
                  <a:pt x="109471" y="162020"/>
                </a:cubicBezTo>
                <a:cubicBezTo>
                  <a:pt x="145285" y="162020"/>
                  <a:pt x="178241" y="177736"/>
                  <a:pt x="202149" y="206216"/>
                </a:cubicBezTo>
                <a:cubicBezTo>
                  <a:pt x="203769" y="208121"/>
                  <a:pt x="206150" y="209359"/>
                  <a:pt x="208626" y="209550"/>
                </a:cubicBezTo>
                <a:cubicBezTo>
                  <a:pt x="211103" y="209740"/>
                  <a:pt x="213674" y="208979"/>
                  <a:pt x="215579" y="207359"/>
                </a:cubicBezTo>
                <a:cubicBezTo>
                  <a:pt x="217484" y="205740"/>
                  <a:pt x="218723" y="203359"/>
                  <a:pt x="218913" y="200882"/>
                </a:cubicBezTo>
                <a:cubicBezTo>
                  <a:pt x="219104" y="198405"/>
                  <a:pt x="218342" y="195834"/>
                  <a:pt x="216722" y="193929"/>
                </a:cubicBezTo>
                <a:cubicBezTo>
                  <a:pt x="198911" y="172783"/>
                  <a:pt x="176813" y="157734"/>
                  <a:pt x="152238" y="14963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25" lIns="91425" spcFirstLastPara="1" rIns="914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40"/>
          <p:cNvSpPr txBox="1"/>
          <p:nvPr/>
        </p:nvSpPr>
        <p:spPr>
          <a:xfrm>
            <a:off x="13897618" y="3836388"/>
            <a:ext cx="349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Advisor CEO</a:t>
            </a:r>
            <a:r>
              <a:rPr b="0" i="0" lang="pt-BR" sz="17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  <a:r>
              <a:rPr b="0" i="0" lang="pt-BR" sz="14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(pontual)</a:t>
            </a:r>
            <a:endParaRPr b="0" i="0" sz="1400" u="none" cap="none" strike="noStrike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489" name="Google Shape;489;p40"/>
          <p:cNvSpPr/>
          <p:nvPr/>
        </p:nvSpPr>
        <p:spPr>
          <a:xfrm>
            <a:off x="1441650" y="8640000"/>
            <a:ext cx="2016000" cy="432000"/>
          </a:xfrm>
          <a:prstGeom prst="roundRect">
            <a:avLst>
              <a:gd fmla="val 50000" name="adj"/>
            </a:avLst>
          </a:prstGeom>
          <a:solidFill>
            <a:srgbClr val="D8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CASOS DE USO</a:t>
            </a:r>
            <a:endParaRPr b="1" i="0" sz="1400" u="none" cap="none" strike="noStrike">
              <a:solidFill>
                <a:srgbClr val="000000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90" name="Google Shape;490;p40"/>
          <p:cNvSpPr/>
          <p:nvPr/>
        </p:nvSpPr>
        <p:spPr>
          <a:xfrm>
            <a:off x="5472000" y="8640000"/>
            <a:ext cx="2448000" cy="432000"/>
          </a:xfrm>
          <a:prstGeom prst="roundRect">
            <a:avLst>
              <a:gd fmla="val 50000" name="adj"/>
            </a:avLst>
          </a:prstGeom>
          <a:solidFill>
            <a:srgbClr val="D8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CASOS x DADOS</a:t>
            </a:r>
            <a:endParaRPr b="1" i="0" sz="1400" u="none" cap="none" strike="noStrike">
              <a:solidFill>
                <a:srgbClr val="000000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91" name="Google Shape;491;p40"/>
          <p:cNvSpPr/>
          <p:nvPr/>
        </p:nvSpPr>
        <p:spPr>
          <a:xfrm>
            <a:off x="3600000" y="8640000"/>
            <a:ext cx="1728000" cy="432000"/>
          </a:xfrm>
          <a:prstGeom prst="roundRect">
            <a:avLst>
              <a:gd fmla="val 50000" name="adj"/>
            </a:avLst>
          </a:prstGeom>
          <a:solidFill>
            <a:srgbClr val="D8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DADOS</a:t>
            </a:r>
            <a:endParaRPr b="1" i="0" sz="1400" u="none" cap="none" strike="noStrike">
              <a:solidFill>
                <a:srgbClr val="000000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92" name="Google Shape;492;p40"/>
          <p:cNvSpPr txBox="1"/>
          <p:nvPr/>
        </p:nvSpPr>
        <p:spPr>
          <a:xfrm>
            <a:off x="1440000" y="8208000"/>
            <a:ext cx="6480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INCUBAÇÃO</a:t>
            </a:r>
            <a:endParaRPr b="0" i="0" sz="1700" u="none" cap="none" strike="noStrike">
              <a:solidFill>
                <a:srgbClr val="00000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493" name="Google Shape;493;p40"/>
          <p:cNvSpPr/>
          <p:nvPr/>
        </p:nvSpPr>
        <p:spPr>
          <a:xfrm>
            <a:off x="8525450" y="4111194"/>
            <a:ext cx="292321" cy="345472"/>
          </a:xfrm>
          <a:custGeom>
            <a:rect b="b" l="l" r="r" t="t"/>
            <a:pathLst>
              <a:path extrusionOk="0" h="247650" w="209549">
                <a:moveTo>
                  <a:pt x="57150" y="47625"/>
                </a:moveTo>
                <a:cubicBezTo>
                  <a:pt x="57150" y="45053"/>
                  <a:pt x="58198" y="42672"/>
                  <a:pt x="59912" y="40862"/>
                </a:cubicBezTo>
                <a:cubicBezTo>
                  <a:pt x="61722" y="39053"/>
                  <a:pt x="64103" y="38100"/>
                  <a:pt x="66675" y="38100"/>
                </a:cubicBezTo>
                <a:lnTo>
                  <a:pt x="142875" y="38100"/>
                </a:lnTo>
                <a:cubicBezTo>
                  <a:pt x="145447" y="38100"/>
                  <a:pt x="147828" y="39148"/>
                  <a:pt x="149638" y="40862"/>
                </a:cubicBezTo>
                <a:cubicBezTo>
                  <a:pt x="151447" y="42672"/>
                  <a:pt x="152400" y="45053"/>
                  <a:pt x="152400" y="47625"/>
                </a:cubicBezTo>
                <a:cubicBezTo>
                  <a:pt x="152400" y="50197"/>
                  <a:pt x="151352" y="52578"/>
                  <a:pt x="149638" y="54388"/>
                </a:cubicBezTo>
                <a:cubicBezTo>
                  <a:pt x="147828" y="56197"/>
                  <a:pt x="145447" y="57150"/>
                  <a:pt x="142875" y="57150"/>
                </a:cubicBezTo>
                <a:lnTo>
                  <a:pt x="66675" y="57150"/>
                </a:lnTo>
                <a:cubicBezTo>
                  <a:pt x="64103" y="57150"/>
                  <a:pt x="61722" y="56102"/>
                  <a:pt x="59912" y="54388"/>
                </a:cubicBezTo>
                <a:cubicBezTo>
                  <a:pt x="58103" y="52578"/>
                  <a:pt x="57150" y="50197"/>
                  <a:pt x="57150" y="47625"/>
                </a:cubicBezTo>
                <a:close/>
                <a:moveTo>
                  <a:pt x="190500" y="228600"/>
                </a:moveTo>
                <a:lnTo>
                  <a:pt x="19050" y="228600"/>
                </a:lnTo>
                <a:lnTo>
                  <a:pt x="19050" y="19050"/>
                </a:lnTo>
                <a:lnTo>
                  <a:pt x="190500" y="19050"/>
                </a:lnTo>
                <a:lnTo>
                  <a:pt x="190500" y="228600"/>
                </a:lnTo>
                <a:close/>
                <a:moveTo>
                  <a:pt x="190500" y="0"/>
                </a:moveTo>
                <a:lnTo>
                  <a:pt x="19050" y="0"/>
                </a:lnTo>
                <a:cubicBezTo>
                  <a:pt x="14002" y="0"/>
                  <a:pt x="9144" y="2000"/>
                  <a:pt x="5620" y="5620"/>
                </a:cubicBezTo>
                <a:cubicBezTo>
                  <a:pt x="2095" y="9239"/>
                  <a:pt x="0" y="14002"/>
                  <a:pt x="0" y="19050"/>
                </a:cubicBezTo>
                <a:lnTo>
                  <a:pt x="0" y="228600"/>
                </a:lnTo>
                <a:cubicBezTo>
                  <a:pt x="0" y="233648"/>
                  <a:pt x="2000" y="238506"/>
                  <a:pt x="5620" y="242030"/>
                </a:cubicBezTo>
                <a:cubicBezTo>
                  <a:pt x="9239" y="245554"/>
                  <a:pt x="14002" y="247650"/>
                  <a:pt x="19050" y="247650"/>
                </a:cubicBezTo>
                <a:lnTo>
                  <a:pt x="190500" y="247650"/>
                </a:lnTo>
                <a:cubicBezTo>
                  <a:pt x="195548" y="247650"/>
                  <a:pt x="200406" y="245650"/>
                  <a:pt x="203930" y="242030"/>
                </a:cubicBezTo>
                <a:cubicBezTo>
                  <a:pt x="207455" y="238411"/>
                  <a:pt x="209550" y="233648"/>
                  <a:pt x="209550" y="228600"/>
                </a:cubicBezTo>
                <a:lnTo>
                  <a:pt x="209550" y="19050"/>
                </a:lnTo>
                <a:cubicBezTo>
                  <a:pt x="209550" y="14002"/>
                  <a:pt x="207550" y="9144"/>
                  <a:pt x="203930" y="5620"/>
                </a:cubicBezTo>
                <a:cubicBezTo>
                  <a:pt x="200311" y="2096"/>
                  <a:pt x="195548" y="0"/>
                  <a:pt x="190500" y="0"/>
                </a:cubicBezTo>
                <a:close/>
                <a:moveTo>
                  <a:pt x="104775" y="104775"/>
                </a:moveTo>
                <a:cubicBezTo>
                  <a:pt x="110395" y="104775"/>
                  <a:pt x="115919" y="106489"/>
                  <a:pt x="120682" y="109633"/>
                </a:cubicBezTo>
                <a:cubicBezTo>
                  <a:pt x="125349" y="112776"/>
                  <a:pt x="129064" y="117253"/>
                  <a:pt x="131159" y="122492"/>
                </a:cubicBezTo>
                <a:cubicBezTo>
                  <a:pt x="133350" y="127730"/>
                  <a:pt x="133922" y="133445"/>
                  <a:pt x="132779" y="138970"/>
                </a:cubicBezTo>
                <a:cubicBezTo>
                  <a:pt x="131636" y="144494"/>
                  <a:pt x="128969" y="149638"/>
                  <a:pt x="124968" y="153638"/>
                </a:cubicBezTo>
                <a:cubicBezTo>
                  <a:pt x="120968" y="157639"/>
                  <a:pt x="115919" y="160401"/>
                  <a:pt x="110299" y="161449"/>
                </a:cubicBezTo>
                <a:cubicBezTo>
                  <a:pt x="104775" y="162592"/>
                  <a:pt x="98965" y="162020"/>
                  <a:pt x="93821" y="159829"/>
                </a:cubicBezTo>
                <a:cubicBezTo>
                  <a:pt x="88678" y="157639"/>
                  <a:pt x="84106" y="154019"/>
                  <a:pt x="80962" y="149352"/>
                </a:cubicBezTo>
                <a:cubicBezTo>
                  <a:pt x="77819" y="144685"/>
                  <a:pt x="76105" y="139160"/>
                  <a:pt x="76105" y="133445"/>
                </a:cubicBezTo>
                <a:cubicBezTo>
                  <a:pt x="76105" y="125825"/>
                  <a:pt x="79153" y="118586"/>
                  <a:pt x="84487" y="113252"/>
                </a:cubicBezTo>
                <a:cubicBezTo>
                  <a:pt x="89821" y="107918"/>
                  <a:pt x="97155" y="104870"/>
                  <a:pt x="104680" y="104870"/>
                </a:cubicBezTo>
                <a:close/>
                <a:moveTo>
                  <a:pt x="41910" y="207645"/>
                </a:moveTo>
                <a:cubicBezTo>
                  <a:pt x="42862" y="208407"/>
                  <a:pt x="44006" y="208979"/>
                  <a:pt x="45244" y="209264"/>
                </a:cubicBezTo>
                <a:cubicBezTo>
                  <a:pt x="46482" y="209550"/>
                  <a:pt x="47720" y="209645"/>
                  <a:pt x="48959" y="209455"/>
                </a:cubicBezTo>
                <a:cubicBezTo>
                  <a:pt x="50197" y="209264"/>
                  <a:pt x="51435" y="208883"/>
                  <a:pt x="52483" y="208217"/>
                </a:cubicBezTo>
                <a:cubicBezTo>
                  <a:pt x="53531" y="207550"/>
                  <a:pt x="54483" y="206693"/>
                  <a:pt x="55245" y="205740"/>
                </a:cubicBezTo>
                <a:cubicBezTo>
                  <a:pt x="61055" y="198025"/>
                  <a:pt x="68485" y="191834"/>
                  <a:pt x="77057" y="187547"/>
                </a:cubicBezTo>
                <a:cubicBezTo>
                  <a:pt x="85630" y="183261"/>
                  <a:pt x="95155" y="180975"/>
                  <a:pt x="104775" y="180975"/>
                </a:cubicBezTo>
                <a:cubicBezTo>
                  <a:pt x="114395" y="180975"/>
                  <a:pt x="123825" y="183166"/>
                  <a:pt x="132493" y="187547"/>
                </a:cubicBezTo>
                <a:cubicBezTo>
                  <a:pt x="141065" y="191834"/>
                  <a:pt x="148590" y="198120"/>
                  <a:pt x="154305" y="205740"/>
                </a:cubicBezTo>
                <a:cubicBezTo>
                  <a:pt x="155067" y="206788"/>
                  <a:pt x="156020" y="207550"/>
                  <a:pt x="157067" y="208217"/>
                </a:cubicBezTo>
                <a:cubicBezTo>
                  <a:pt x="158115" y="208883"/>
                  <a:pt x="159353" y="209264"/>
                  <a:pt x="160592" y="209455"/>
                </a:cubicBezTo>
                <a:cubicBezTo>
                  <a:pt x="161830" y="209645"/>
                  <a:pt x="163068" y="209550"/>
                  <a:pt x="164306" y="209264"/>
                </a:cubicBezTo>
                <a:cubicBezTo>
                  <a:pt x="165545" y="208979"/>
                  <a:pt x="166688" y="208407"/>
                  <a:pt x="167640" y="207645"/>
                </a:cubicBezTo>
                <a:cubicBezTo>
                  <a:pt x="168593" y="206883"/>
                  <a:pt x="169450" y="205930"/>
                  <a:pt x="170117" y="204883"/>
                </a:cubicBezTo>
                <a:cubicBezTo>
                  <a:pt x="170783" y="203835"/>
                  <a:pt x="171164" y="202597"/>
                  <a:pt x="171355" y="201359"/>
                </a:cubicBezTo>
                <a:cubicBezTo>
                  <a:pt x="171545" y="200120"/>
                  <a:pt x="171450" y="198882"/>
                  <a:pt x="171164" y="197644"/>
                </a:cubicBezTo>
                <a:cubicBezTo>
                  <a:pt x="170879" y="196405"/>
                  <a:pt x="170307" y="195263"/>
                  <a:pt x="169545" y="194310"/>
                </a:cubicBezTo>
                <a:cubicBezTo>
                  <a:pt x="161068" y="182975"/>
                  <a:pt x="149828" y="174117"/>
                  <a:pt x="136970" y="168497"/>
                </a:cubicBezTo>
                <a:cubicBezTo>
                  <a:pt x="144018" y="162020"/>
                  <a:pt x="149066" y="153543"/>
                  <a:pt x="151257" y="144209"/>
                </a:cubicBezTo>
                <a:cubicBezTo>
                  <a:pt x="153448" y="134874"/>
                  <a:pt x="152781" y="125063"/>
                  <a:pt x="149257" y="116110"/>
                </a:cubicBezTo>
                <a:cubicBezTo>
                  <a:pt x="145828" y="107156"/>
                  <a:pt x="139732" y="99441"/>
                  <a:pt x="131731" y="94012"/>
                </a:cubicBezTo>
                <a:cubicBezTo>
                  <a:pt x="123825" y="88583"/>
                  <a:pt x="114395" y="85725"/>
                  <a:pt x="104870" y="85725"/>
                </a:cubicBezTo>
                <a:cubicBezTo>
                  <a:pt x="95345" y="85725"/>
                  <a:pt x="85916" y="88583"/>
                  <a:pt x="78010" y="94012"/>
                </a:cubicBezTo>
                <a:cubicBezTo>
                  <a:pt x="70104" y="99441"/>
                  <a:pt x="64008" y="107156"/>
                  <a:pt x="60484" y="116110"/>
                </a:cubicBezTo>
                <a:cubicBezTo>
                  <a:pt x="57055" y="125063"/>
                  <a:pt x="56293" y="134874"/>
                  <a:pt x="58484" y="144209"/>
                </a:cubicBezTo>
                <a:cubicBezTo>
                  <a:pt x="60674" y="153543"/>
                  <a:pt x="65627" y="162020"/>
                  <a:pt x="72771" y="168497"/>
                </a:cubicBezTo>
                <a:cubicBezTo>
                  <a:pt x="59817" y="174117"/>
                  <a:pt x="48578" y="182975"/>
                  <a:pt x="40100" y="194310"/>
                </a:cubicBezTo>
                <a:cubicBezTo>
                  <a:pt x="38576" y="196310"/>
                  <a:pt x="37910" y="198882"/>
                  <a:pt x="38291" y="201359"/>
                </a:cubicBezTo>
                <a:cubicBezTo>
                  <a:pt x="38672" y="203835"/>
                  <a:pt x="40005" y="206121"/>
                  <a:pt x="42005" y="20764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25" lIns="91475" spcFirstLastPara="1" rIns="9147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40"/>
          <p:cNvSpPr txBox="1"/>
          <p:nvPr/>
        </p:nvSpPr>
        <p:spPr>
          <a:xfrm>
            <a:off x="8933398" y="4548176"/>
            <a:ext cx="374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75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pt-BR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Arquiteto de Soluções</a:t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5" name="Google Shape;495;p40"/>
          <p:cNvSpPr/>
          <p:nvPr/>
        </p:nvSpPr>
        <p:spPr>
          <a:xfrm>
            <a:off x="8525450" y="4526769"/>
            <a:ext cx="292321" cy="345472"/>
          </a:xfrm>
          <a:custGeom>
            <a:rect b="b" l="l" r="r" t="t"/>
            <a:pathLst>
              <a:path extrusionOk="0" h="247650" w="209549">
                <a:moveTo>
                  <a:pt x="57150" y="47625"/>
                </a:moveTo>
                <a:cubicBezTo>
                  <a:pt x="57150" y="45053"/>
                  <a:pt x="58198" y="42672"/>
                  <a:pt x="59912" y="40862"/>
                </a:cubicBezTo>
                <a:cubicBezTo>
                  <a:pt x="61722" y="39053"/>
                  <a:pt x="64103" y="38100"/>
                  <a:pt x="66675" y="38100"/>
                </a:cubicBezTo>
                <a:lnTo>
                  <a:pt x="142875" y="38100"/>
                </a:lnTo>
                <a:cubicBezTo>
                  <a:pt x="145447" y="38100"/>
                  <a:pt x="147828" y="39148"/>
                  <a:pt x="149638" y="40862"/>
                </a:cubicBezTo>
                <a:cubicBezTo>
                  <a:pt x="151447" y="42672"/>
                  <a:pt x="152400" y="45053"/>
                  <a:pt x="152400" y="47625"/>
                </a:cubicBezTo>
                <a:cubicBezTo>
                  <a:pt x="152400" y="50197"/>
                  <a:pt x="151352" y="52578"/>
                  <a:pt x="149638" y="54388"/>
                </a:cubicBezTo>
                <a:cubicBezTo>
                  <a:pt x="147828" y="56197"/>
                  <a:pt x="145447" y="57150"/>
                  <a:pt x="142875" y="57150"/>
                </a:cubicBezTo>
                <a:lnTo>
                  <a:pt x="66675" y="57150"/>
                </a:lnTo>
                <a:cubicBezTo>
                  <a:pt x="64103" y="57150"/>
                  <a:pt x="61722" y="56102"/>
                  <a:pt x="59912" y="54388"/>
                </a:cubicBezTo>
                <a:cubicBezTo>
                  <a:pt x="58103" y="52578"/>
                  <a:pt x="57150" y="50197"/>
                  <a:pt x="57150" y="47625"/>
                </a:cubicBezTo>
                <a:close/>
                <a:moveTo>
                  <a:pt x="190500" y="228600"/>
                </a:moveTo>
                <a:lnTo>
                  <a:pt x="19050" y="228600"/>
                </a:lnTo>
                <a:lnTo>
                  <a:pt x="19050" y="19050"/>
                </a:lnTo>
                <a:lnTo>
                  <a:pt x="190500" y="19050"/>
                </a:lnTo>
                <a:lnTo>
                  <a:pt x="190500" y="228600"/>
                </a:lnTo>
                <a:close/>
                <a:moveTo>
                  <a:pt x="190500" y="0"/>
                </a:moveTo>
                <a:lnTo>
                  <a:pt x="19050" y="0"/>
                </a:lnTo>
                <a:cubicBezTo>
                  <a:pt x="14002" y="0"/>
                  <a:pt x="9144" y="2000"/>
                  <a:pt x="5620" y="5620"/>
                </a:cubicBezTo>
                <a:cubicBezTo>
                  <a:pt x="2095" y="9239"/>
                  <a:pt x="0" y="14002"/>
                  <a:pt x="0" y="19050"/>
                </a:cubicBezTo>
                <a:lnTo>
                  <a:pt x="0" y="228600"/>
                </a:lnTo>
                <a:cubicBezTo>
                  <a:pt x="0" y="233648"/>
                  <a:pt x="2000" y="238506"/>
                  <a:pt x="5620" y="242030"/>
                </a:cubicBezTo>
                <a:cubicBezTo>
                  <a:pt x="9239" y="245554"/>
                  <a:pt x="14002" y="247650"/>
                  <a:pt x="19050" y="247650"/>
                </a:cubicBezTo>
                <a:lnTo>
                  <a:pt x="190500" y="247650"/>
                </a:lnTo>
                <a:cubicBezTo>
                  <a:pt x="195548" y="247650"/>
                  <a:pt x="200406" y="245650"/>
                  <a:pt x="203930" y="242030"/>
                </a:cubicBezTo>
                <a:cubicBezTo>
                  <a:pt x="207455" y="238411"/>
                  <a:pt x="209550" y="233648"/>
                  <a:pt x="209550" y="228600"/>
                </a:cubicBezTo>
                <a:lnTo>
                  <a:pt x="209550" y="19050"/>
                </a:lnTo>
                <a:cubicBezTo>
                  <a:pt x="209550" y="14002"/>
                  <a:pt x="207550" y="9144"/>
                  <a:pt x="203930" y="5620"/>
                </a:cubicBezTo>
                <a:cubicBezTo>
                  <a:pt x="200311" y="2096"/>
                  <a:pt x="195548" y="0"/>
                  <a:pt x="190500" y="0"/>
                </a:cubicBezTo>
                <a:close/>
                <a:moveTo>
                  <a:pt x="104775" y="104775"/>
                </a:moveTo>
                <a:cubicBezTo>
                  <a:pt x="110395" y="104775"/>
                  <a:pt x="115919" y="106489"/>
                  <a:pt x="120682" y="109633"/>
                </a:cubicBezTo>
                <a:cubicBezTo>
                  <a:pt x="125349" y="112776"/>
                  <a:pt x="129064" y="117253"/>
                  <a:pt x="131159" y="122492"/>
                </a:cubicBezTo>
                <a:cubicBezTo>
                  <a:pt x="133350" y="127730"/>
                  <a:pt x="133922" y="133445"/>
                  <a:pt x="132779" y="138970"/>
                </a:cubicBezTo>
                <a:cubicBezTo>
                  <a:pt x="131636" y="144494"/>
                  <a:pt x="128969" y="149638"/>
                  <a:pt x="124968" y="153638"/>
                </a:cubicBezTo>
                <a:cubicBezTo>
                  <a:pt x="120968" y="157639"/>
                  <a:pt x="115919" y="160401"/>
                  <a:pt x="110299" y="161449"/>
                </a:cubicBezTo>
                <a:cubicBezTo>
                  <a:pt x="104775" y="162592"/>
                  <a:pt x="98965" y="162020"/>
                  <a:pt x="93821" y="159829"/>
                </a:cubicBezTo>
                <a:cubicBezTo>
                  <a:pt x="88678" y="157639"/>
                  <a:pt x="84106" y="154019"/>
                  <a:pt x="80962" y="149352"/>
                </a:cubicBezTo>
                <a:cubicBezTo>
                  <a:pt x="77819" y="144685"/>
                  <a:pt x="76105" y="139160"/>
                  <a:pt x="76105" y="133445"/>
                </a:cubicBezTo>
                <a:cubicBezTo>
                  <a:pt x="76105" y="125825"/>
                  <a:pt x="79153" y="118586"/>
                  <a:pt x="84487" y="113252"/>
                </a:cubicBezTo>
                <a:cubicBezTo>
                  <a:pt x="89821" y="107918"/>
                  <a:pt x="97155" y="104870"/>
                  <a:pt x="104680" y="104870"/>
                </a:cubicBezTo>
                <a:close/>
                <a:moveTo>
                  <a:pt x="41910" y="207645"/>
                </a:moveTo>
                <a:cubicBezTo>
                  <a:pt x="42862" y="208407"/>
                  <a:pt x="44006" y="208979"/>
                  <a:pt x="45244" y="209264"/>
                </a:cubicBezTo>
                <a:cubicBezTo>
                  <a:pt x="46482" y="209550"/>
                  <a:pt x="47720" y="209645"/>
                  <a:pt x="48959" y="209455"/>
                </a:cubicBezTo>
                <a:cubicBezTo>
                  <a:pt x="50197" y="209264"/>
                  <a:pt x="51435" y="208883"/>
                  <a:pt x="52483" y="208217"/>
                </a:cubicBezTo>
                <a:cubicBezTo>
                  <a:pt x="53531" y="207550"/>
                  <a:pt x="54483" y="206693"/>
                  <a:pt x="55245" y="205740"/>
                </a:cubicBezTo>
                <a:cubicBezTo>
                  <a:pt x="61055" y="198025"/>
                  <a:pt x="68485" y="191834"/>
                  <a:pt x="77057" y="187547"/>
                </a:cubicBezTo>
                <a:cubicBezTo>
                  <a:pt x="85630" y="183261"/>
                  <a:pt x="95155" y="180975"/>
                  <a:pt x="104775" y="180975"/>
                </a:cubicBezTo>
                <a:cubicBezTo>
                  <a:pt x="114395" y="180975"/>
                  <a:pt x="123825" y="183166"/>
                  <a:pt x="132493" y="187547"/>
                </a:cubicBezTo>
                <a:cubicBezTo>
                  <a:pt x="141065" y="191834"/>
                  <a:pt x="148590" y="198120"/>
                  <a:pt x="154305" y="205740"/>
                </a:cubicBezTo>
                <a:cubicBezTo>
                  <a:pt x="155067" y="206788"/>
                  <a:pt x="156020" y="207550"/>
                  <a:pt x="157067" y="208217"/>
                </a:cubicBezTo>
                <a:cubicBezTo>
                  <a:pt x="158115" y="208883"/>
                  <a:pt x="159353" y="209264"/>
                  <a:pt x="160592" y="209455"/>
                </a:cubicBezTo>
                <a:cubicBezTo>
                  <a:pt x="161830" y="209645"/>
                  <a:pt x="163068" y="209550"/>
                  <a:pt x="164306" y="209264"/>
                </a:cubicBezTo>
                <a:cubicBezTo>
                  <a:pt x="165545" y="208979"/>
                  <a:pt x="166688" y="208407"/>
                  <a:pt x="167640" y="207645"/>
                </a:cubicBezTo>
                <a:cubicBezTo>
                  <a:pt x="168593" y="206883"/>
                  <a:pt x="169450" y="205930"/>
                  <a:pt x="170117" y="204883"/>
                </a:cubicBezTo>
                <a:cubicBezTo>
                  <a:pt x="170783" y="203835"/>
                  <a:pt x="171164" y="202597"/>
                  <a:pt x="171355" y="201359"/>
                </a:cubicBezTo>
                <a:cubicBezTo>
                  <a:pt x="171545" y="200120"/>
                  <a:pt x="171450" y="198882"/>
                  <a:pt x="171164" y="197644"/>
                </a:cubicBezTo>
                <a:cubicBezTo>
                  <a:pt x="170879" y="196405"/>
                  <a:pt x="170307" y="195263"/>
                  <a:pt x="169545" y="194310"/>
                </a:cubicBezTo>
                <a:cubicBezTo>
                  <a:pt x="161068" y="182975"/>
                  <a:pt x="149828" y="174117"/>
                  <a:pt x="136970" y="168497"/>
                </a:cubicBezTo>
                <a:cubicBezTo>
                  <a:pt x="144018" y="162020"/>
                  <a:pt x="149066" y="153543"/>
                  <a:pt x="151257" y="144209"/>
                </a:cubicBezTo>
                <a:cubicBezTo>
                  <a:pt x="153448" y="134874"/>
                  <a:pt x="152781" y="125063"/>
                  <a:pt x="149257" y="116110"/>
                </a:cubicBezTo>
                <a:cubicBezTo>
                  <a:pt x="145828" y="107156"/>
                  <a:pt x="139732" y="99441"/>
                  <a:pt x="131731" y="94012"/>
                </a:cubicBezTo>
                <a:cubicBezTo>
                  <a:pt x="123825" y="88583"/>
                  <a:pt x="114395" y="85725"/>
                  <a:pt x="104870" y="85725"/>
                </a:cubicBezTo>
                <a:cubicBezTo>
                  <a:pt x="95345" y="85725"/>
                  <a:pt x="85916" y="88583"/>
                  <a:pt x="78010" y="94012"/>
                </a:cubicBezTo>
                <a:cubicBezTo>
                  <a:pt x="70104" y="99441"/>
                  <a:pt x="64008" y="107156"/>
                  <a:pt x="60484" y="116110"/>
                </a:cubicBezTo>
                <a:cubicBezTo>
                  <a:pt x="57055" y="125063"/>
                  <a:pt x="56293" y="134874"/>
                  <a:pt x="58484" y="144209"/>
                </a:cubicBezTo>
                <a:cubicBezTo>
                  <a:pt x="60674" y="153543"/>
                  <a:pt x="65627" y="162020"/>
                  <a:pt x="72771" y="168497"/>
                </a:cubicBezTo>
                <a:cubicBezTo>
                  <a:pt x="59817" y="174117"/>
                  <a:pt x="48578" y="182975"/>
                  <a:pt x="40100" y="194310"/>
                </a:cubicBezTo>
                <a:cubicBezTo>
                  <a:pt x="38576" y="196310"/>
                  <a:pt x="37910" y="198882"/>
                  <a:pt x="38291" y="201359"/>
                </a:cubicBezTo>
                <a:cubicBezTo>
                  <a:pt x="38672" y="203835"/>
                  <a:pt x="40005" y="206121"/>
                  <a:pt x="42005" y="20764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25" lIns="91475" spcFirstLastPara="1" rIns="9147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40"/>
          <p:cNvSpPr txBox="1"/>
          <p:nvPr/>
        </p:nvSpPr>
        <p:spPr>
          <a:xfrm>
            <a:off x="8933398" y="4130031"/>
            <a:ext cx="374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7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pt-BR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Engenheiro de Dados</a:t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7" name="Google Shape;497;p40"/>
          <p:cNvSpPr/>
          <p:nvPr/>
        </p:nvSpPr>
        <p:spPr>
          <a:xfrm>
            <a:off x="8525450" y="4942369"/>
            <a:ext cx="292321" cy="345472"/>
          </a:xfrm>
          <a:custGeom>
            <a:rect b="b" l="l" r="r" t="t"/>
            <a:pathLst>
              <a:path extrusionOk="0" h="247650" w="209549">
                <a:moveTo>
                  <a:pt x="57150" y="47625"/>
                </a:moveTo>
                <a:cubicBezTo>
                  <a:pt x="57150" y="45053"/>
                  <a:pt x="58198" y="42672"/>
                  <a:pt x="59912" y="40862"/>
                </a:cubicBezTo>
                <a:cubicBezTo>
                  <a:pt x="61722" y="39053"/>
                  <a:pt x="64103" y="38100"/>
                  <a:pt x="66675" y="38100"/>
                </a:cubicBezTo>
                <a:lnTo>
                  <a:pt x="142875" y="38100"/>
                </a:lnTo>
                <a:cubicBezTo>
                  <a:pt x="145447" y="38100"/>
                  <a:pt x="147828" y="39148"/>
                  <a:pt x="149638" y="40862"/>
                </a:cubicBezTo>
                <a:cubicBezTo>
                  <a:pt x="151447" y="42672"/>
                  <a:pt x="152400" y="45053"/>
                  <a:pt x="152400" y="47625"/>
                </a:cubicBezTo>
                <a:cubicBezTo>
                  <a:pt x="152400" y="50197"/>
                  <a:pt x="151352" y="52578"/>
                  <a:pt x="149638" y="54388"/>
                </a:cubicBezTo>
                <a:cubicBezTo>
                  <a:pt x="147828" y="56197"/>
                  <a:pt x="145447" y="57150"/>
                  <a:pt x="142875" y="57150"/>
                </a:cubicBezTo>
                <a:lnTo>
                  <a:pt x="66675" y="57150"/>
                </a:lnTo>
                <a:cubicBezTo>
                  <a:pt x="64103" y="57150"/>
                  <a:pt x="61722" y="56102"/>
                  <a:pt x="59912" y="54388"/>
                </a:cubicBezTo>
                <a:cubicBezTo>
                  <a:pt x="58103" y="52578"/>
                  <a:pt x="57150" y="50197"/>
                  <a:pt x="57150" y="47625"/>
                </a:cubicBezTo>
                <a:close/>
                <a:moveTo>
                  <a:pt x="190500" y="228600"/>
                </a:moveTo>
                <a:lnTo>
                  <a:pt x="19050" y="228600"/>
                </a:lnTo>
                <a:lnTo>
                  <a:pt x="19050" y="19050"/>
                </a:lnTo>
                <a:lnTo>
                  <a:pt x="190500" y="19050"/>
                </a:lnTo>
                <a:lnTo>
                  <a:pt x="190500" y="228600"/>
                </a:lnTo>
                <a:close/>
                <a:moveTo>
                  <a:pt x="190500" y="0"/>
                </a:moveTo>
                <a:lnTo>
                  <a:pt x="19050" y="0"/>
                </a:lnTo>
                <a:cubicBezTo>
                  <a:pt x="14002" y="0"/>
                  <a:pt x="9144" y="2000"/>
                  <a:pt x="5620" y="5620"/>
                </a:cubicBezTo>
                <a:cubicBezTo>
                  <a:pt x="2095" y="9239"/>
                  <a:pt x="0" y="14002"/>
                  <a:pt x="0" y="19050"/>
                </a:cubicBezTo>
                <a:lnTo>
                  <a:pt x="0" y="228600"/>
                </a:lnTo>
                <a:cubicBezTo>
                  <a:pt x="0" y="233648"/>
                  <a:pt x="2000" y="238506"/>
                  <a:pt x="5620" y="242030"/>
                </a:cubicBezTo>
                <a:cubicBezTo>
                  <a:pt x="9239" y="245554"/>
                  <a:pt x="14002" y="247650"/>
                  <a:pt x="19050" y="247650"/>
                </a:cubicBezTo>
                <a:lnTo>
                  <a:pt x="190500" y="247650"/>
                </a:lnTo>
                <a:cubicBezTo>
                  <a:pt x="195548" y="247650"/>
                  <a:pt x="200406" y="245650"/>
                  <a:pt x="203930" y="242030"/>
                </a:cubicBezTo>
                <a:cubicBezTo>
                  <a:pt x="207455" y="238411"/>
                  <a:pt x="209550" y="233648"/>
                  <a:pt x="209550" y="228600"/>
                </a:cubicBezTo>
                <a:lnTo>
                  <a:pt x="209550" y="19050"/>
                </a:lnTo>
                <a:cubicBezTo>
                  <a:pt x="209550" y="14002"/>
                  <a:pt x="207550" y="9144"/>
                  <a:pt x="203930" y="5620"/>
                </a:cubicBezTo>
                <a:cubicBezTo>
                  <a:pt x="200311" y="2096"/>
                  <a:pt x="195548" y="0"/>
                  <a:pt x="190500" y="0"/>
                </a:cubicBezTo>
                <a:close/>
                <a:moveTo>
                  <a:pt x="104775" y="104775"/>
                </a:moveTo>
                <a:cubicBezTo>
                  <a:pt x="110395" y="104775"/>
                  <a:pt x="115919" y="106489"/>
                  <a:pt x="120682" y="109633"/>
                </a:cubicBezTo>
                <a:cubicBezTo>
                  <a:pt x="125349" y="112776"/>
                  <a:pt x="129064" y="117253"/>
                  <a:pt x="131159" y="122492"/>
                </a:cubicBezTo>
                <a:cubicBezTo>
                  <a:pt x="133350" y="127730"/>
                  <a:pt x="133922" y="133445"/>
                  <a:pt x="132779" y="138970"/>
                </a:cubicBezTo>
                <a:cubicBezTo>
                  <a:pt x="131636" y="144494"/>
                  <a:pt x="128969" y="149638"/>
                  <a:pt x="124968" y="153638"/>
                </a:cubicBezTo>
                <a:cubicBezTo>
                  <a:pt x="120968" y="157639"/>
                  <a:pt x="115919" y="160401"/>
                  <a:pt x="110299" y="161449"/>
                </a:cubicBezTo>
                <a:cubicBezTo>
                  <a:pt x="104775" y="162592"/>
                  <a:pt x="98965" y="162020"/>
                  <a:pt x="93821" y="159829"/>
                </a:cubicBezTo>
                <a:cubicBezTo>
                  <a:pt x="88678" y="157639"/>
                  <a:pt x="84106" y="154019"/>
                  <a:pt x="80962" y="149352"/>
                </a:cubicBezTo>
                <a:cubicBezTo>
                  <a:pt x="77819" y="144685"/>
                  <a:pt x="76105" y="139160"/>
                  <a:pt x="76105" y="133445"/>
                </a:cubicBezTo>
                <a:cubicBezTo>
                  <a:pt x="76105" y="125825"/>
                  <a:pt x="79153" y="118586"/>
                  <a:pt x="84487" y="113252"/>
                </a:cubicBezTo>
                <a:cubicBezTo>
                  <a:pt x="89821" y="107918"/>
                  <a:pt x="97155" y="104870"/>
                  <a:pt x="104680" y="104870"/>
                </a:cubicBezTo>
                <a:close/>
                <a:moveTo>
                  <a:pt x="41910" y="207645"/>
                </a:moveTo>
                <a:cubicBezTo>
                  <a:pt x="42862" y="208407"/>
                  <a:pt x="44006" y="208979"/>
                  <a:pt x="45244" y="209264"/>
                </a:cubicBezTo>
                <a:cubicBezTo>
                  <a:pt x="46482" y="209550"/>
                  <a:pt x="47720" y="209645"/>
                  <a:pt x="48959" y="209455"/>
                </a:cubicBezTo>
                <a:cubicBezTo>
                  <a:pt x="50197" y="209264"/>
                  <a:pt x="51435" y="208883"/>
                  <a:pt x="52483" y="208217"/>
                </a:cubicBezTo>
                <a:cubicBezTo>
                  <a:pt x="53531" y="207550"/>
                  <a:pt x="54483" y="206693"/>
                  <a:pt x="55245" y="205740"/>
                </a:cubicBezTo>
                <a:cubicBezTo>
                  <a:pt x="61055" y="198025"/>
                  <a:pt x="68485" y="191834"/>
                  <a:pt x="77057" y="187547"/>
                </a:cubicBezTo>
                <a:cubicBezTo>
                  <a:pt x="85630" y="183261"/>
                  <a:pt x="95155" y="180975"/>
                  <a:pt x="104775" y="180975"/>
                </a:cubicBezTo>
                <a:cubicBezTo>
                  <a:pt x="114395" y="180975"/>
                  <a:pt x="123825" y="183166"/>
                  <a:pt x="132493" y="187547"/>
                </a:cubicBezTo>
                <a:cubicBezTo>
                  <a:pt x="141065" y="191834"/>
                  <a:pt x="148590" y="198120"/>
                  <a:pt x="154305" y="205740"/>
                </a:cubicBezTo>
                <a:cubicBezTo>
                  <a:pt x="155067" y="206788"/>
                  <a:pt x="156020" y="207550"/>
                  <a:pt x="157067" y="208217"/>
                </a:cubicBezTo>
                <a:cubicBezTo>
                  <a:pt x="158115" y="208883"/>
                  <a:pt x="159353" y="209264"/>
                  <a:pt x="160592" y="209455"/>
                </a:cubicBezTo>
                <a:cubicBezTo>
                  <a:pt x="161830" y="209645"/>
                  <a:pt x="163068" y="209550"/>
                  <a:pt x="164306" y="209264"/>
                </a:cubicBezTo>
                <a:cubicBezTo>
                  <a:pt x="165545" y="208979"/>
                  <a:pt x="166688" y="208407"/>
                  <a:pt x="167640" y="207645"/>
                </a:cubicBezTo>
                <a:cubicBezTo>
                  <a:pt x="168593" y="206883"/>
                  <a:pt x="169450" y="205930"/>
                  <a:pt x="170117" y="204883"/>
                </a:cubicBezTo>
                <a:cubicBezTo>
                  <a:pt x="170783" y="203835"/>
                  <a:pt x="171164" y="202597"/>
                  <a:pt x="171355" y="201359"/>
                </a:cubicBezTo>
                <a:cubicBezTo>
                  <a:pt x="171545" y="200120"/>
                  <a:pt x="171450" y="198882"/>
                  <a:pt x="171164" y="197644"/>
                </a:cubicBezTo>
                <a:cubicBezTo>
                  <a:pt x="170879" y="196405"/>
                  <a:pt x="170307" y="195263"/>
                  <a:pt x="169545" y="194310"/>
                </a:cubicBezTo>
                <a:cubicBezTo>
                  <a:pt x="161068" y="182975"/>
                  <a:pt x="149828" y="174117"/>
                  <a:pt x="136970" y="168497"/>
                </a:cubicBezTo>
                <a:cubicBezTo>
                  <a:pt x="144018" y="162020"/>
                  <a:pt x="149066" y="153543"/>
                  <a:pt x="151257" y="144209"/>
                </a:cubicBezTo>
                <a:cubicBezTo>
                  <a:pt x="153448" y="134874"/>
                  <a:pt x="152781" y="125063"/>
                  <a:pt x="149257" y="116110"/>
                </a:cubicBezTo>
                <a:cubicBezTo>
                  <a:pt x="145828" y="107156"/>
                  <a:pt x="139732" y="99441"/>
                  <a:pt x="131731" y="94012"/>
                </a:cubicBezTo>
                <a:cubicBezTo>
                  <a:pt x="123825" y="88583"/>
                  <a:pt x="114395" y="85725"/>
                  <a:pt x="104870" y="85725"/>
                </a:cubicBezTo>
                <a:cubicBezTo>
                  <a:pt x="95345" y="85725"/>
                  <a:pt x="85916" y="88583"/>
                  <a:pt x="78010" y="94012"/>
                </a:cubicBezTo>
                <a:cubicBezTo>
                  <a:pt x="70104" y="99441"/>
                  <a:pt x="64008" y="107156"/>
                  <a:pt x="60484" y="116110"/>
                </a:cubicBezTo>
                <a:cubicBezTo>
                  <a:pt x="57055" y="125063"/>
                  <a:pt x="56293" y="134874"/>
                  <a:pt x="58484" y="144209"/>
                </a:cubicBezTo>
                <a:cubicBezTo>
                  <a:pt x="60674" y="153543"/>
                  <a:pt x="65627" y="162020"/>
                  <a:pt x="72771" y="168497"/>
                </a:cubicBezTo>
                <a:cubicBezTo>
                  <a:pt x="59817" y="174117"/>
                  <a:pt x="48578" y="182975"/>
                  <a:pt x="40100" y="194310"/>
                </a:cubicBezTo>
                <a:cubicBezTo>
                  <a:pt x="38576" y="196310"/>
                  <a:pt x="37910" y="198882"/>
                  <a:pt x="38291" y="201359"/>
                </a:cubicBezTo>
                <a:cubicBezTo>
                  <a:pt x="38672" y="203835"/>
                  <a:pt x="40005" y="206121"/>
                  <a:pt x="42005" y="20764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25" lIns="91475" spcFirstLastPara="1" rIns="9147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40"/>
          <p:cNvSpPr txBox="1"/>
          <p:nvPr/>
        </p:nvSpPr>
        <p:spPr>
          <a:xfrm>
            <a:off x="8933398" y="4966296"/>
            <a:ext cx="374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7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pt-BR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Engenheiro de Machine Learning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99" name="Google Shape;499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70225" y="2354350"/>
            <a:ext cx="2987559" cy="38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1"/>
          <p:cNvSpPr txBox="1"/>
          <p:nvPr/>
        </p:nvSpPr>
        <p:spPr>
          <a:xfrm>
            <a:off x="1571625" y="361950"/>
            <a:ext cx="857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pt-BR" sz="825" u="none" cap="none" strike="noStrike">
                <a:solidFill>
                  <a:srgbClr val="34343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EMPOWERING PEOPLE THROUGH DATA</a:t>
            </a:r>
            <a:endParaRPr b="0" i="0" sz="8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41"/>
          <p:cNvSpPr txBox="1"/>
          <p:nvPr/>
        </p:nvSpPr>
        <p:spPr>
          <a:xfrm>
            <a:off x="1571625" y="1238250"/>
            <a:ext cx="1619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Responsabilidades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tmp/claude-0/-home-claude/13ae847d-f382-5450-9da1-84664dc5272b/scratchpad/deck/assets/logo-a3data.png" id="506" name="Google Shape;506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050" y="9877425"/>
            <a:ext cx="838200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1"/>
          <p:cNvSpPr txBox="1"/>
          <p:nvPr/>
        </p:nvSpPr>
        <p:spPr>
          <a:xfrm>
            <a:off x="1533525" y="98679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Arial"/>
              <a:buNone/>
            </a:pPr>
            <a:r>
              <a:rPr b="0" i="0" lang="pt-BR" sz="788" u="none" cap="none" strike="noStrike">
                <a:solidFill>
                  <a:srgbClr val="34343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LOUCOS POR DADOS APAIXONADOS POR GENTE</a:t>
            </a:r>
            <a:endParaRPr b="0" i="0" sz="78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41"/>
          <p:cNvSpPr txBox="1"/>
          <p:nvPr/>
        </p:nvSpPr>
        <p:spPr>
          <a:xfrm>
            <a:off x="8572500" y="9848850"/>
            <a:ext cx="9048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r>
              <a:rPr b="0" i="0" lang="pt-BR" sz="1013" u="none" cap="none" strike="noStrike">
                <a:solidFill>
                  <a:srgbClr val="4D4D4D"/>
                </a:solidFill>
                <a:latin typeface="Lato"/>
                <a:ea typeface="Lato"/>
                <a:cs typeface="Lato"/>
                <a:sym typeface="Lato"/>
              </a:rPr>
              <a:t>R = executa  ·  A = aprova  ·  C = consultado  ·  I = informado</a:t>
            </a:r>
            <a:endParaRPr b="0" i="0" sz="101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09" name="Google Shape;509;p41"/>
          <p:cNvGraphicFramePr/>
          <p:nvPr/>
        </p:nvGraphicFramePr>
        <p:xfrm>
          <a:off x="1571625" y="266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{E140436C-0A80-415A-A230-E58032394CD3}</a:tableStyleId>
              </a:tblPr>
              <a:tblGrid>
                <a:gridCol w="4000500"/>
                <a:gridCol w="1619250"/>
                <a:gridCol w="2000250"/>
                <a:gridCol w="2381250"/>
                <a:gridCol w="2190750"/>
                <a:gridCol w="3857625"/>
              </a:tblGrid>
              <a:tr h="723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1" lang="pt-BR" sz="1275" u="none" cap="none" strike="noStrike">
                          <a:solidFill>
                            <a:srgbClr val="00186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Etapa</a:t>
                      </a:r>
                      <a:endParaRPr sz="1275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9C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1" lang="pt-BR" sz="1275" u="none" cap="none" strike="noStrike">
                          <a:solidFill>
                            <a:srgbClr val="00186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A3Data</a:t>
                      </a:r>
                      <a:endParaRPr sz="1275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9C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1" lang="pt-BR" sz="1275" u="none" cap="none" strike="noStrike">
                          <a:solidFill>
                            <a:srgbClr val="00186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Dados e BI Direcional</a:t>
                      </a:r>
                      <a:endParaRPr sz="1275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9C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1" lang="pt-BR" sz="1275" u="none" cap="none" strike="noStrike">
                          <a:solidFill>
                            <a:srgbClr val="00186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Negócio (Comercial e Planejamento)</a:t>
                      </a:r>
                      <a:endParaRPr sz="1275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9C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1" lang="pt-BR" sz="1275" u="none" cap="none" strike="noStrike">
                          <a:solidFill>
                            <a:srgbClr val="00186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Superintendência</a:t>
                      </a:r>
                      <a:endParaRPr sz="1275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9C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1" lang="pt-BR" sz="1275" u="none" cap="none" strike="noStrike">
                          <a:solidFill>
                            <a:srgbClr val="00186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 que precisamos da Direcional</a:t>
                      </a:r>
                      <a:endParaRPr sz="1275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9C4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pt-BR" sz="1350" u="none" cap="none" strike="noStrike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Kick-off e plano</a:t>
                      </a:r>
                      <a:endParaRPr sz="135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pt-BR" sz="1350" u="none" cap="none" strike="noStrike">
                          <a:solidFill>
                            <a:srgbClr val="00186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</a:t>
                      </a:r>
                      <a:endParaRPr sz="135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9C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pt-BR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</a:t>
                      </a:r>
                      <a:endParaRPr sz="135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pt-BR" sz="1350" u="none" cap="none" strike="noStrike">
                          <a:solidFill>
                            <a:srgbClr val="00186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</a:t>
                      </a:r>
                      <a:endParaRPr sz="135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B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pt-BR" sz="1350" u="none" cap="none" strike="noStrike">
                          <a:solidFill>
                            <a:srgbClr val="7A7A7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</a:t>
                      </a:r>
                      <a:endParaRPr sz="135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pt-BR" sz="1350" u="none" cap="none" strike="noStrike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Pontos focais definidos e agenda das entrevistas</a:t>
                      </a:r>
                      <a:endParaRPr sz="135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pt-BR" sz="1350" u="none" cap="none" strike="noStrike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Acessos e inventário das fontes</a:t>
                      </a:r>
                      <a:endParaRPr sz="135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pt-BR" sz="1350" u="none" cap="none" strike="noStrike">
                          <a:solidFill>
                            <a:srgbClr val="00186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</a:t>
                      </a:r>
                      <a:endParaRPr sz="135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9C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pt-BR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</a:t>
                      </a:r>
                      <a:endParaRPr sz="135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pt-BR" sz="1350" u="none" cap="none" strike="noStrike">
                          <a:solidFill>
                            <a:srgbClr val="7A7A7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</a:t>
                      </a:r>
                      <a:endParaRPr sz="135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pt-BR" sz="1350" u="none" cap="none" strike="noStrike">
                          <a:solidFill>
                            <a:srgbClr val="7A7A7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</a:t>
                      </a:r>
                      <a:endParaRPr sz="135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pt-BR" sz="1350" u="none" cap="none" strike="noStrike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Leitura no Data Lake e planilhas regionais na S1</a:t>
                      </a:r>
                      <a:endParaRPr sz="135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pt-BR" sz="1350" u="none" cap="none" strike="noStrike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Entrevistas de processo</a:t>
                      </a:r>
                      <a:endParaRPr sz="135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pt-BR" sz="1350" u="none" cap="none" strike="noStrike">
                          <a:solidFill>
                            <a:srgbClr val="00186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</a:t>
                      </a:r>
                      <a:endParaRPr sz="135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9C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pt-BR" sz="1350" u="none" cap="none" strike="noStrike">
                          <a:solidFill>
                            <a:srgbClr val="00186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</a:t>
                      </a:r>
                      <a:endParaRPr sz="135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B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pt-BR" sz="1350" u="none" cap="none" strike="noStrike">
                          <a:solidFill>
                            <a:srgbClr val="00186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</a:t>
                      </a:r>
                      <a:endParaRPr sz="135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B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pt-BR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</a:t>
                      </a:r>
                      <a:endParaRPr sz="135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pt-BR" sz="1350" u="none" cap="none" strike="noStrike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Disponibilidade de regionais e superintendência</a:t>
                      </a:r>
                      <a:endParaRPr sz="135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pt-BR" sz="1350" u="none" cap="none" strike="noStrike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Análise exploratória e veredito</a:t>
                      </a:r>
                      <a:endParaRPr sz="135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pt-BR" sz="1350" u="none" cap="none" strike="noStrike">
                          <a:solidFill>
                            <a:srgbClr val="00186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</a:t>
                      </a:r>
                      <a:endParaRPr sz="135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9C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pt-BR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</a:t>
                      </a:r>
                      <a:endParaRPr sz="135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pt-BR" sz="1350" u="none" cap="none" strike="noStrike">
                          <a:solidFill>
                            <a:srgbClr val="00186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</a:t>
                      </a:r>
                      <a:endParaRPr sz="135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B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pt-BR" sz="1350" u="none" cap="none" strike="noStrike">
                          <a:solidFill>
                            <a:srgbClr val="7A7A7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</a:t>
                      </a:r>
                      <a:endParaRPr sz="135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pt-BR" sz="1350" u="none" cap="none" strike="noStrike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Esclarecer regras de negócio e dúvidas sobre as bases</a:t>
                      </a:r>
                      <a:endParaRPr sz="135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pt-BR" sz="1350" u="none" cap="none" strike="noStrike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Hero KPI e baseline</a:t>
                      </a:r>
                      <a:endParaRPr sz="135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pt-BR" sz="1350" u="none" cap="none" strike="noStrike">
                          <a:solidFill>
                            <a:srgbClr val="00186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</a:t>
                      </a:r>
                      <a:endParaRPr sz="135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9C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pt-BR" sz="1350" u="none" cap="none" strike="noStrike">
                          <a:solidFill>
                            <a:srgbClr val="00186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</a:t>
                      </a:r>
                      <a:endParaRPr sz="135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B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pt-BR" sz="1350" u="none" cap="none" strike="noStrike">
                          <a:solidFill>
                            <a:srgbClr val="00186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</a:t>
                      </a:r>
                      <a:endParaRPr sz="135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B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pt-BR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</a:t>
                      </a:r>
                      <a:endParaRPr sz="135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pt-BR" sz="1350" u="none" cap="none" strike="noStrike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Atestar o baseline e o critério de valor da POC</a:t>
                      </a:r>
                      <a:endParaRPr sz="135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pt-BR" sz="1350" u="none" cap="none" strike="noStrike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Leitura histórica e elasticidade</a:t>
                      </a:r>
                      <a:endParaRPr sz="135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pt-BR" sz="1350" u="none" cap="none" strike="noStrike">
                          <a:solidFill>
                            <a:srgbClr val="00186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</a:t>
                      </a:r>
                      <a:endParaRPr sz="135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9C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pt-BR" sz="1350" u="none" cap="none" strike="noStrike">
                          <a:solidFill>
                            <a:srgbClr val="00186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</a:t>
                      </a:r>
                      <a:endParaRPr sz="135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B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pt-BR" sz="1350" u="none" cap="none" strike="noStrike">
                          <a:solidFill>
                            <a:srgbClr val="00186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</a:t>
                      </a:r>
                      <a:endParaRPr sz="135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B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pt-BR" sz="1350" u="none" cap="none" strike="noStrike">
                          <a:solidFill>
                            <a:srgbClr val="7A7A7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</a:t>
                      </a:r>
                      <a:endParaRPr sz="135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pt-BR" sz="1350" u="none" cap="none" strike="noStrike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Validar variáveis e resultados intermediários</a:t>
                      </a:r>
                      <a:endParaRPr sz="135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pt-BR" sz="1350" u="none" cap="none" strike="noStrike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Simulação "e se" da margem</a:t>
                      </a:r>
                      <a:endParaRPr sz="135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pt-BR" sz="1350" u="none" cap="none" strike="noStrike">
                          <a:solidFill>
                            <a:srgbClr val="00186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</a:t>
                      </a:r>
                      <a:endParaRPr sz="135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9C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pt-BR" sz="1350" u="none" cap="none" strike="noStrike">
                          <a:solidFill>
                            <a:srgbClr val="00186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</a:t>
                      </a:r>
                      <a:endParaRPr sz="135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B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pt-BR" sz="1350" u="none" cap="none" strike="noStrike">
                          <a:solidFill>
                            <a:srgbClr val="00186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</a:t>
                      </a:r>
                      <a:endParaRPr sz="135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B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pt-BR" sz="1350" u="none" cap="none" strike="noStrike">
                          <a:solidFill>
                            <a:srgbClr val="7A7A7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</a:t>
                      </a:r>
                      <a:endParaRPr sz="135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pt-BR" sz="1350" u="none" cap="none" strike="noStrike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Definir os limites de preço e margem a respeitar</a:t>
                      </a:r>
                      <a:endParaRPr sz="135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pt-BR" sz="1350" u="none" cap="none" strike="noStrike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Resultado e aceite da POC</a:t>
                      </a:r>
                      <a:endParaRPr sz="135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pt-BR" sz="1350" u="none" cap="none" strike="noStrike">
                          <a:solidFill>
                            <a:srgbClr val="00186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</a:t>
                      </a:r>
                      <a:endParaRPr sz="135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9C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pt-BR" sz="1350" u="none" cap="none" strike="noStrike">
                          <a:solidFill>
                            <a:srgbClr val="00186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</a:t>
                      </a:r>
                      <a:endParaRPr sz="135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B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pt-BR" sz="1350" u="none" cap="none" strike="noStrike">
                          <a:solidFill>
                            <a:srgbClr val="00186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</a:t>
                      </a:r>
                      <a:endParaRPr sz="135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B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pt-BR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</a:t>
                      </a:r>
                      <a:endParaRPr sz="135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pt-BR" sz="1350" u="none" cap="none" strike="noStrike">
                          <a:solidFill>
                            <a:srgbClr val="1A1A1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Sessão de apresentação e aceite formal</a:t>
                      </a:r>
                      <a:endParaRPr sz="135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14300" marB="114300" marR="114300" marL="114300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42"/>
          <p:cNvSpPr txBox="1"/>
          <p:nvPr/>
        </p:nvSpPr>
        <p:spPr>
          <a:xfrm>
            <a:off x="1571625" y="361950"/>
            <a:ext cx="8572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pt-BR" sz="825" u="none" cap="none" strike="noStrike">
                <a:solidFill>
                  <a:srgbClr val="34343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EMPOWERING PEOPLE THROUGH DATA</a:t>
            </a:r>
            <a:endParaRPr b="0" i="0" sz="8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42"/>
          <p:cNvSpPr txBox="1"/>
          <p:nvPr/>
        </p:nvSpPr>
        <p:spPr>
          <a:xfrm>
            <a:off x="1571625" y="1238250"/>
            <a:ext cx="1619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latin typeface="Lato"/>
                <a:ea typeface="Lato"/>
                <a:cs typeface="Lato"/>
                <a:sym typeface="Lato"/>
              </a:rPr>
              <a:t>Premissas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tmp/claude-0/-home-claude/13ae847d-f382-5450-9da1-84664dc5272b/scratchpad/deck/assets/logo-a3data.png" id="516" name="Google Shape;51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050" y="9877425"/>
            <a:ext cx="838200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42"/>
          <p:cNvSpPr txBox="1"/>
          <p:nvPr/>
        </p:nvSpPr>
        <p:spPr>
          <a:xfrm>
            <a:off x="1533525" y="98679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Arial"/>
              <a:buNone/>
            </a:pPr>
            <a:r>
              <a:rPr b="0" i="0" lang="pt-BR" sz="788" u="none" cap="none" strike="noStrike">
                <a:solidFill>
                  <a:srgbClr val="34343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LOUCOS POR DADOS APAIXONADOS POR GENTE</a:t>
            </a:r>
            <a:endParaRPr b="0" i="0" sz="78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42"/>
          <p:cNvSpPr txBox="1"/>
          <p:nvPr/>
        </p:nvSpPr>
        <p:spPr>
          <a:xfrm>
            <a:off x="1571625" y="2031350"/>
            <a:ext cx="14671800" cy="70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Dados e acesso</a:t>
            </a:r>
            <a:endParaRPr b="1"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Char char="●"/>
            </a:pPr>
            <a:r>
              <a:rPr lang="pt-BR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Acesso de leitura ao Data Lake, às fontes e às planilhas regionais liberado na S1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Char char="●"/>
            </a:pPr>
            <a:r>
              <a:rPr lang="pt-BR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Perfil de acesso dedicado ao time A3Data, criado pela Direcional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Char char="●"/>
            </a:pPr>
            <a:r>
              <a:rPr lang="pt-BR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 POC roda em conta AWS da Direcional, definida no kick-off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Char char="●"/>
            </a:pPr>
            <a:r>
              <a:rPr lang="pt-BR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Dados pessoais de compradores pseudonimizados ou excluídos (LGPD)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Char char="●"/>
            </a:pPr>
            <a:r>
              <a:rPr lang="pt-BR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Dados de concorrência e de mercado fornecidos pela Direcional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Char char="●"/>
            </a:pPr>
            <a:r>
              <a:rPr lang="pt-BR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 qualidade e o histórico das bases são da Direcional; a POC trabalha com o dado como ele existe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Negócio e decisão</a:t>
            </a:r>
            <a:endParaRPr b="1"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Char char="●"/>
            </a:pPr>
            <a:r>
              <a:rPr lang="pt-BR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Comercial, Planejamento e regionais disponíveis 2 horas  por semana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Char char="●"/>
            </a:pPr>
            <a:r>
              <a:rPr lang="pt-BR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 superintendência atesta o Hero KPI, o baseline e o resultado final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Char char="●"/>
            </a:pPr>
            <a:r>
              <a:rPr lang="pt-BR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Recorte (regional e empreendimentos) definido até o fim da S2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Char char="●"/>
            </a:pPr>
            <a:r>
              <a:rPr lang="pt-BR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Aprovação humana: a POC não altera preço em nenhum sistema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Escopo, prazo e funding</a:t>
            </a:r>
            <a:endParaRPr b="1"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Char char="●"/>
            </a:pPr>
            <a:r>
              <a:rPr lang="pt-BR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Perguntas sem dado suficiente saem da POC no aceite do Assessment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Char char="●"/>
            </a:pPr>
            <a:r>
              <a:rPr lang="pt-BR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Elasticidade só onde houver variação de preço no histórico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Char char="●"/>
            </a:pPr>
            <a:r>
              <a:rPr lang="pt-BR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Atrasos de acesso, dados ou validação por parte da Direcional deslocam o cronograma na mesma proporção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Char char="●"/>
            </a:pPr>
            <a:r>
              <a:rPr lang="pt-BR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Funding AWS confirmado antes do kick-off, com aceite formal dos entregáveis</a:t>
            </a:r>
            <a:endParaRPr sz="24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3"/>
          <p:cNvSpPr txBox="1"/>
          <p:nvPr/>
        </p:nvSpPr>
        <p:spPr>
          <a:xfrm>
            <a:off x="1571625" y="361950"/>
            <a:ext cx="8572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pt-BR" sz="825" u="none" cap="none" strike="noStrike">
                <a:solidFill>
                  <a:srgbClr val="34343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EMPOWERING PEOPLE THROUGH DATA</a:t>
            </a:r>
            <a:endParaRPr b="0" i="0" sz="8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43"/>
          <p:cNvSpPr txBox="1"/>
          <p:nvPr/>
        </p:nvSpPr>
        <p:spPr>
          <a:xfrm>
            <a:off x="1571625" y="1238250"/>
            <a:ext cx="1619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Fora de Escopo 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tmp/claude-0/-home-claude/13ae847d-f382-5450-9da1-84664dc5272b/scratchpad/deck/assets/logo-a3data.png" id="525" name="Google Shape;52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050" y="9877425"/>
            <a:ext cx="838200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43"/>
          <p:cNvSpPr txBox="1"/>
          <p:nvPr/>
        </p:nvSpPr>
        <p:spPr>
          <a:xfrm>
            <a:off x="1533525" y="98679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Arial"/>
              <a:buNone/>
            </a:pPr>
            <a:r>
              <a:rPr b="0" i="0" lang="pt-BR" sz="788" u="none" cap="none" strike="noStrike">
                <a:solidFill>
                  <a:srgbClr val="34343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LOUCOS POR DADOS APAIXONADOS POR GENTE</a:t>
            </a:r>
            <a:endParaRPr b="0" i="0" sz="78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43"/>
          <p:cNvSpPr txBox="1"/>
          <p:nvPr/>
        </p:nvSpPr>
        <p:spPr>
          <a:xfrm>
            <a:off x="1571625" y="2715875"/>
            <a:ext cx="146718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</a:pPr>
            <a:r>
              <a:rPr lang="pt-BR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Previsão de vendas futuras e otimização de preço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</a:pPr>
            <a:r>
              <a:rPr lang="pt-BR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Piloto em lançamento real (previsto para 2027)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</a:pPr>
            <a:r>
              <a:rPr lang="pt-BR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Agente de IA e camada de IA generativa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</a:pPr>
            <a:r>
              <a:rPr lang="pt-BR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Alteração automática de preços nos sistemas da Direcional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</a:pPr>
            <a:r>
              <a:rPr lang="pt-BR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Integrações de escrita com Salesforce, </a:t>
            </a:r>
            <a:r>
              <a:rPr lang="pt-BR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ERP ou SAP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</a:pPr>
            <a:r>
              <a:rPr lang="pt-BR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Desenvolvimento e evolução do painel da Direcional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</a:pPr>
            <a:r>
              <a:rPr lang="pt-BR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Saneamento ou correção de dados nos sistemas de origem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</a:pPr>
            <a:r>
              <a:rPr lang="pt-BR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Reconstrução de histórico que não exista nos sistemas, como a trilha de alteração de preço por unidade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</a:pPr>
            <a:r>
              <a:rPr lang="pt-BR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Construção do Data Lake além das tabelas usadas na POC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</a:pPr>
            <a:r>
              <a:rPr lang="pt-BR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Demais regionais e empreendimentos fora do recorte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</a:pPr>
            <a:r>
              <a:rPr lang="pt-BR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Novos casos de uso além das perguntas priorizadas no Assessment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</a:pPr>
            <a:r>
              <a:rPr lang="pt-BR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Compra de bases externas e dados pagos de concorrência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</a:pPr>
            <a:r>
              <a:rPr lang="pt-BR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Produção, MLOps e sustentação após a entrega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</a:pPr>
            <a:r>
              <a:rPr lang="pt-BR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Licenças de terceiros e consumo de nuvem não cobertos pelo funding AWS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8" name="Google Shape;528;p43"/>
          <p:cNvSpPr txBox="1"/>
          <p:nvPr/>
        </p:nvSpPr>
        <p:spPr>
          <a:xfrm>
            <a:off x="4863600" y="9685350"/>
            <a:ext cx="9048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Tudo o que ficar fora entra no roadmap com nova estimativa. Mudança de escopo ou de recorte após o aceite do Assessment segue controle de mudança. </a:t>
            </a:r>
            <a:endParaRPr i="1"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44"/>
          <p:cNvSpPr/>
          <p:nvPr/>
        </p:nvSpPr>
        <p:spPr>
          <a:xfrm flipH="1">
            <a:off x="0" y="7416000"/>
            <a:ext cx="18288000" cy="28710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35" name="Google Shape;53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96252" y="8044803"/>
            <a:ext cx="683521" cy="1152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6000" y="8044803"/>
            <a:ext cx="1152000" cy="115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16124" y="8044803"/>
            <a:ext cx="1152000" cy="1152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44"/>
          <p:cNvSpPr txBox="1"/>
          <p:nvPr/>
        </p:nvSpPr>
        <p:spPr>
          <a:xfrm>
            <a:off x="1441650" y="1008000"/>
            <a:ext cx="7854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65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6000"/>
              <a:buFont typeface="Lato Black"/>
              <a:buNone/>
            </a:pPr>
            <a:r>
              <a:rPr b="0" i="0" lang="pt-BR" sz="41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Contatos:</a:t>
            </a:r>
            <a:endParaRPr b="0" i="0" sz="4100" u="none" cap="none" strike="noStrike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pic>
        <p:nvPicPr>
          <p:cNvPr descr="preencoded.png" id="539" name="Google Shape;539;p44"/>
          <p:cNvPicPr preferRelativeResize="0"/>
          <p:nvPr/>
        </p:nvPicPr>
        <p:blipFill rotWithShape="1">
          <a:blip r:embed="rId6">
            <a:alphaModFix/>
          </a:blip>
          <a:srcRect b="65608" l="0" r="50911" t="431"/>
          <a:stretch/>
        </p:blipFill>
        <p:spPr>
          <a:xfrm>
            <a:off x="10607898" y="7992000"/>
            <a:ext cx="2833553" cy="124792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preencoded.png" id="540" name="Google Shape;540;p44"/>
          <p:cNvPicPr preferRelativeResize="0"/>
          <p:nvPr/>
        </p:nvPicPr>
        <p:blipFill rotWithShape="1">
          <a:blip r:embed="rId6">
            <a:alphaModFix/>
          </a:blip>
          <a:srcRect b="65608" l="50786" r="118" t="431"/>
          <a:stretch/>
        </p:blipFill>
        <p:spPr>
          <a:xfrm>
            <a:off x="13869577" y="7992001"/>
            <a:ext cx="2833605" cy="124792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541" name="Google Shape;541;p44"/>
          <p:cNvGrpSpPr/>
          <p:nvPr/>
        </p:nvGrpSpPr>
        <p:grpSpPr>
          <a:xfrm>
            <a:off x="1440358" y="8424006"/>
            <a:ext cx="1728078" cy="323996"/>
            <a:chOff x="2716728" y="4386757"/>
            <a:chExt cx="2400109" cy="450558"/>
          </a:xfrm>
        </p:grpSpPr>
        <p:sp>
          <p:nvSpPr>
            <p:cNvPr id="542" name="Google Shape;542;p44"/>
            <p:cNvSpPr/>
            <p:nvPr/>
          </p:nvSpPr>
          <p:spPr>
            <a:xfrm>
              <a:off x="4494569" y="4561350"/>
              <a:ext cx="232791" cy="268795"/>
            </a:xfrm>
            <a:custGeom>
              <a:rect b="b" l="l" r="r" t="t"/>
              <a:pathLst>
                <a:path extrusionOk="0" h="268795" w="232791">
                  <a:moveTo>
                    <a:pt x="232791" y="268796"/>
                  </a:moveTo>
                  <a:lnTo>
                    <a:pt x="77629" y="268796"/>
                  </a:lnTo>
                  <a:lnTo>
                    <a:pt x="0" y="134398"/>
                  </a:lnTo>
                  <a:lnTo>
                    <a:pt x="77629" y="0"/>
                  </a:lnTo>
                  <a:lnTo>
                    <a:pt x="232791" y="268796"/>
                  </a:lnTo>
                  <a:close/>
                </a:path>
              </a:pathLst>
            </a:custGeom>
            <a:solidFill>
              <a:srgbClr val="001863"/>
            </a:solidFill>
            <a:ln>
              <a:noFill/>
            </a:ln>
          </p:spPr>
          <p:txBody>
            <a:bodyPr anchorCtr="0" anchor="ctr" bIns="45725" lIns="91425" spcFirstLastPara="1" rIns="91425" wrap="square" tIns="4572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" name="Google Shape;543;p44"/>
            <p:cNvSpPr/>
            <p:nvPr/>
          </p:nvSpPr>
          <p:spPr>
            <a:xfrm>
              <a:off x="4690022" y="4561826"/>
              <a:ext cx="232791" cy="268795"/>
            </a:xfrm>
            <a:custGeom>
              <a:rect b="b" l="l" r="r" t="t"/>
              <a:pathLst>
                <a:path extrusionOk="0" h="268795" w="232791">
                  <a:moveTo>
                    <a:pt x="232791" y="268796"/>
                  </a:moveTo>
                  <a:lnTo>
                    <a:pt x="77629" y="268796"/>
                  </a:lnTo>
                  <a:lnTo>
                    <a:pt x="0" y="134398"/>
                  </a:lnTo>
                  <a:lnTo>
                    <a:pt x="77629" y="0"/>
                  </a:lnTo>
                  <a:lnTo>
                    <a:pt x="232791" y="268796"/>
                  </a:lnTo>
                  <a:close/>
                </a:path>
              </a:pathLst>
            </a:custGeom>
            <a:solidFill>
              <a:srgbClr val="0033FF"/>
            </a:solidFill>
            <a:ln>
              <a:noFill/>
            </a:ln>
          </p:spPr>
          <p:txBody>
            <a:bodyPr anchorCtr="0" anchor="ctr" bIns="45725" lIns="91425" spcFirstLastPara="1" rIns="91425" wrap="square" tIns="4572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" name="Google Shape;544;p44"/>
            <p:cNvSpPr/>
            <p:nvPr/>
          </p:nvSpPr>
          <p:spPr>
            <a:xfrm>
              <a:off x="4884046" y="4561826"/>
              <a:ext cx="232791" cy="268795"/>
            </a:xfrm>
            <a:custGeom>
              <a:rect b="b" l="l" r="r" t="t"/>
              <a:pathLst>
                <a:path extrusionOk="0" h="268795" w="232791">
                  <a:moveTo>
                    <a:pt x="232791" y="268796"/>
                  </a:moveTo>
                  <a:lnTo>
                    <a:pt x="77533" y="268796"/>
                  </a:lnTo>
                  <a:lnTo>
                    <a:pt x="0" y="134398"/>
                  </a:lnTo>
                  <a:lnTo>
                    <a:pt x="77533" y="0"/>
                  </a:lnTo>
                  <a:lnTo>
                    <a:pt x="232791" y="268796"/>
                  </a:lnTo>
                  <a:close/>
                </a:path>
              </a:pathLst>
            </a:custGeom>
            <a:solidFill>
              <a:srgbClr val="EC2890"/>
            </a:solidFill>
            <a:ln>
              <a:noFill/>
            </a:ln>
          </p:spPr>
          <p:txBody>
            <a:bodyPr anchorCtr="0" anchor="ctr" bIns="45725" lIns="91425" spcFirstLastPara="1" rIns="91425" wrap="square" tIns="4572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" name="Google Shape;545;p44"/>
            <p:cNvSpPr/>
            <p:nvPr/>
          </p:nvSpPr>
          <p:spPr>
            <a:xfrm>
              <a:off x="3298038" y="4392567"/>
              <a:ext cx="324135" cy="437959"/>
            </a:xfrm>
            <a:custGeom>
              <a:rect b="b" l="l" r="r" t="t"/>
              <a:pathLst>
                <a:path extrusionOk="0" h="437959" w="324135">
                  <a:moveTo>
                    <a:pt x="263747" y="63151"/>
                  </a:moveTo>
                  <a:cubicBezTo>
                    <a:pt x="223552" y="21050"/>
                    <a:pt x="173355" y="0"/>
                    <a:pt x="113348" y="0"/>
                  </a:cubicBezTo>
                  <a:lnTo>
                    <a:pt x="51721" y="0"/>
                  </a:lnTo>
                  <a:cubicBezTo>
                    <a:pt x="51721" y="0"/>
                    <a:pt x="51149" y="286"/>
                    <a:pt x="51149" y="572"/>
                  </a:cubicBezTo>
                  <a:lnTo>
                    <a:pt x="51149" y="81344"/>
                  </a:lnTo>
                  <a:cubicBezTo>
                    <a:pt x="51149" y="82105"/>
                    <a:pt x="51721" y="82677"/>
                    <a:pt x="52483" y="82677"/>
                  </a:cubicBezTo>
                  <a:lnTo>
                    <a:pt x="113443" y="82677"/>
                  </a:lnTo>
                  <a:cubicBezTo>
                    <a:pt x="151352" y="82677"/>
                    <a:pt x="182213" y="95250"/>
                    <a:pt x="206026" y="120491"/>
                  </a:cubicBezTo>
                  <a:cubicBezTo>
                    <a:pt x="229743" y="145733"/>
                    <a:pt x="241649" y="178594"/>
                    <a:pt x="241649" y="218980"/>
                  </a:cubicBezTo>
                  <a:cubicBezTo>
                    <a:pt x="241649" y="259366"/>
                    <a:pt x="229743" y="292322"/>
                    <a:pt x="206026" y="317468"/>
                  </a:cubicBezTo>
                  <a:cubicBezTo>
                    <a:pt x="182309" y="342710"/>
                    <a:pt x="151352" y="355283"/>
                    <a:pt x="113443" y="355283"/>
                  </a:cubicBezTo>
                  <a:lnTo>
                    <a:pt x="56198" y="355283"/>
                  </a:lnTo>
                  <a:cubicBezTo>
                    <a:pt x="34576" y="422910"/>
                    <a:pt x="0" y="437960"/>
                    <a:pt x="0" y="437960"/>
                  </a:cubicBezTo>
                  <a:lnTo>
                    <a:pt x="113348" y="437960"/>
                  </a:lnTo>
                  <a:cubicBezTo>
                    <a:pt x="173355" y="437960"/>
                    <a:pt x="223552" y="416909"/>
                    <a:pt x="263747" y="374714"/>
                  </a:cubicBezTo>
                  <a:cubicBezTo>
                    <a:pt x="303943" y="332613"/>
                    <a:pt x="324136" y="280702"/>
                    <a:pt x="324136" y="218980"/>
                  </a:cubicBezTo>
                  <a:cubicBezTo>
                    <a:pt x="324136" y="157258"/>
                    <a:pt x="303943" y="105347"/>
                    <a:pt x="263747" y="6315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91425" spcFirstLastPara="1" rIns="91425" wrap="square" tIns="4572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6" name="Google Shape;546;p44"/>
            <p:cNvSpPr/>
            <p:nvPr/>
          </p:nvSpPr>
          <p:spPr>
            <a:xfrm>
              <a:off x="3635604" y="4488484"/>
              <a:ext cx="284416" cy="348519"/>
            </a:xfrm>
            <a:custGeom>
              <a:rect b="b" l="l" r="r" t="t"/>
              <a:pathLst>
                <a:path extrusionOk="0" h="348519" w="284416">
                  <a:moveTo>
                    <a:pt x="278416" y="118015"/>
                  </a:moveTo>
                  <a:cubicBezTo>
                    <a:pt x="278416" y="38576"/>
                    <a:pt x="236887" y="0"/>
                    <a:pt x="151543" y="0"/>
                  </a:cubicBezTo>
                  <a:cubicBezTo>
                    <a:pt x="87154" y="0"/>
                    <a:pt x="42481" y="22384"/>
                    <a:pt x="14954" y="68485"/>
                  </a:cubicBezTo>
                  <a:lnTo>
                    <a:pt x="13430" y="71152"/>
                  </a:lnTo>
                  <a:lnTo>
                    <a:pt x="73628" y="108490"/>
                  </a:lnTo>
                  <a:lnTo>
                    <a:pt x="75248" y="105823"/>
                  </a:lnTo>
                  <a:cubicBezTo>
                    <a:pt x="93536" y="76771"/>
                    <a:pt x="114871" y="64294"/>
                    <a:pt x="146494" y="64294"/>
                  </a:cubicBezTo>
                  <a:cubicBezTo>
                    <a:pt x="166497" y="64294"/>
                    <a:pt x="179546" y="68390"/>
                    <a:pt x="187547" y="77057"/>
                  </a:cubicBezTo>
                  <a:cubicBezTo>
                    <a:pt x="195739" y="85916"/>
                    <a:pt x="198787" y="100013"/>
                    <a:pt x="197263" y="121063"/>
                  </a:cubicBezTo>
                  <a:cubicBezTo>
                    <a:pt x="144018" y="131350"/>
                    <a:pt x="90297" y="143542"/>
                    <a:pt x="55912" y="162687"/>
                  </a:cubicBezTo>
                  <a:cubicBezTo>
                    <a:pt x="17812" y="184118"/>
                    <a:pt x="0" y="213836"/>
                    <a:pt x="0" y="256318"/>
                  </a:cubicBezTo>
                  <a:cubicBezTo>
                    <a:pt x="0" y="313182"/>
                    <a:pt x="35338" y="348520"/>
                    <a:pt x="92202" y="348520"/>
                  </a:cubicBezTo>
                  <a:cubicBezTo>
                    <a:pt x="129159" y="348520"/>
                    <a:pt x="164687" y="334994"/>
                    <a:pt x="197929" y="308324"/>
                  </a:cubicBezTo>
                  <a:lnTo>
                    <a:pt x="203168" y="342233"/>
                  </a:lnTo>
                  <a:lnTo>
                    <a:pt x="284417" y="342233"/>
                  </a:lnTo>
                  <a:lnTo>
                    <a:pt x="278416" y="279749"/>
                  </a:lnTo>
                  <a:lnTo>
                    <a:pt x="278416" y="118015"/>
                  </a:lnTo>
                  <a:close/>
                  <a:moveTo>
                    <a:pt x="194500" y="176117"/>
                  </a:moveTo>
                  <a:lnTo>
                    <a:pt x="194500" y="250031"/>
                  </a:lnTo>
                  <a:cubicBezTo>
                    <a:pt x="175546" y="270986"/>
                    <a:pt x="148685" y="283464"/>
                    <a:pt x="122492" y="283464"/>
                  </a:cubicBezTo>
                  <a:cubicBezTo>
                    <a:pt x="98774" y="283464"/>
                    <a:pt x="84582" y="269272"/>
                    <a:pt x="84582" y="245554"/>
                  </a:cubicBezTo>
                  <a:cubicBezTo>
                    <a:pt x="84582" y="225838"/>
                    <a:pt x="92583" y="210884"/>
                    <a:pt x="107632" y="202216"/>
                  </a:cubicBezTo>
                  <a:cubicBezTo>
                    <a:pt x="127540" y="191357"/>
                    <a:pt x="151829" y="184976"/>
                    <a:pt x="194596" y="17611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91425" spcFirstLastPara="1" rIns="91425" wrap="square" tIns="4572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7" name="Google Shape;547;p44"/>
            <p:cNvSpPr/>
            <p:nvPr/>
          </p:nvSpPr>
          <p:spPr>
            <a:xfrm>
              <a:off x="3937261" y="4386757"/>
              <a:ext cx="198882" cy="448913"/>
            </a:xfrm>
            <a:custGeom>
              <a:rect b="b" l="l" r="r" t="t"/>
              <a:pathLst>
                <a:path extrusionOk="0" h="448913" w="198882">
                  <a:moveTo>
                    <a:pt x="131254" y="0"/>
                  </a:moveTo>
                  <a:lnTo>
                    <a:pt x="48006" y="0"/>
                  </a:lnTo>
                  <a:lnTo>
                    <a:pt x="48006" y="109252"/>
                  </a:lnTo>
                  <a:lnTo>
                    <a:pt x="0" y="109252"/>
                  </a:lnTo>
                  <a:lnTo>
                    <a:pt x="0" y="174879"/>
                  </a:lnTo>
                  <a:lnTo>
                    <a:pt x="48006" y="174879"/>
                  </a:lnTo>
                  <a:lnTo>
                    <a:pt x="48006" y="349853"/>
                  </a:lnTo>
                  <a:cubicBezTo>
                    <a:pt x="48006" y="423005"/>
                    <a:pt x="71438" y="448913"/>
                    <a:pt x="137636" y="448913"/>
                  </a:cubicBezTo>
                  <a:cubicBezTo>
                    <a:pt x="160115" y="448913"/>
                    <a:pt x="179832" y="446056"/>
                    <a:pt x="196310" y="443198"/>
                  </a:cubicBezTo>
                  <a:lnTo>
                    <a:pt x="198882" y="442722"/>
                  </a:lnTo>
                  <a:lnTo>
                    <a:pt x="198882" y="373571"/>
                  </a:lnTo>
                  <a:lnTo>
                    <a:pt x="194977" y="374523"/>
                  </a:lnTo>
                  <a:cubicBezTo>
                    <a:pt x="183166" y="377476"/>
                    <a:pt x="172117" y="378809"/>
                    <a:pt x="160401" y="378809"/>
                  </a:cubicBezTo>
                  <a:cubicBezTo>
                    <a:pt x="139446" y="378809"/>
                    <a:pt x="131350" y="369094"/>
                    <a:pt x="131350" y="344043"/>
                  </a:cubicBezTo>
                  <a:lnTo>
                    <a:pt x="131350" y="174879"/>
                  </a:lnTo>
                  <a:lnTo>
                    <a:pt x="198882" y="174879"/>
                  </a:lnTo>
                  <a:lnTo>
                    <a:pt x="198882" y="109252"/>
                  </a:lnTo>
                  <a:lnTo>
                    <a:pt x="131350" y="109252"/>
                  </a:lnTo>
                  <a:lnTo>
                    <a:pt x="13135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91425" spcFirstLastPara="1" rIns="91425" wrap="square" tIns="4572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" name="Google Shape;548;p44"/>
            <p:cNvSpPr/>
            <p:nvPr/>
          </p:nvSpPr>
          <p:spPr>
            <a:xfrm>
              <a:off x="4165670" y="4488484"/>
              <a:ext cx="284416" cy="348519"/>
            </a:xfrm>
            <a:custGeom>
              <a:rect b="b" l="l" r="r" t="t"/>
              <a:pathLst>
                <a:path extrusionOk="0" h="348519" w="284416">
                  <a:moveTo>
                    <a:pt x="278416" y="279654"/>
                  </a:moveTo>
                  <a:lnTo>
                    <a:pt x="278416" y="118015"/>
                  </a:lnTo>
                  <a:cubicBezTo>
                    <a:pt x="278416" y="38576"/>
                    <a:pt x="236887" y="0"/>
                    <a:pt x="151543" y="0"/>
                  </a:cubicBezTo>
                  <a:cubicBezTo>
                    <a:pt x="87154" y="0"/>
                    <a:pt x="42482" y="22384"/>
                    <a:pt x="14954" y="68485"/>
                  </a:cubicBezTo>
                  <a:lnTo>
                    <a:pt x="13430" y="71152"/>
                  </a:lnTo>
                  <a:lnTo>
                    <a:pt x="73628" y="108490"/>
                  </a:lnTo>
                  <a:lnTo>
                    <a:pt x="75248" y="105823"/>
                  </a:lnTo>
                  <a:cubicBezTo>
                    <a:pt x="93536" y="76771"/>
                    <a:pt x="114871" y="64294"/>
                    <a:pt x="146495" y="64294"/>
                  </a:cubicBezTo>
                  <a:cubicBezTo>
                    <a:pt x="166497" y="64294"/>
                    <a:pt x="179546" y="68390"/>
                    <a:pt x="187547" y="77057"/>
                  </a:cubicBezTo>
                  <a:cubicBezTo>
                    <a:pt x="195739" y="85916"/>
                    <a:pt x="198787" y="100013"/>
                    <a:pt x="197263" y="121063"/>
                  </a:cubicBezTo>
                  <a:cubicBezTo>
                    <a:pt x="144018" y="131350"/>
                    <a:pt x="90297" y="143542"/>
                    <a:pt x="55912" y="162687"/>
                  </a:cubicBezTo>
                  <a:cubicBezTo>
                    <a:pt x="17812" y="184118"/>
                    <a:pt x="0" y="213836"/>
                    <a:pt x="0" y="256318"/>
                  </a:cubicBezTo>
                  <a:cubicBezTo>
                    <a:pt x="0" y="313182"/>
                    <a:pt x="35338" y="348520"/>
                    <a:pt x="92202" y="348520"/>
                  </a:cubicBezTo>
                  <a:cubicBezTo>
                    <a:pt x="129159" y="348520"/>
                    <a:pt x="164687" y="334994"/>
                    <a:pt x="197929" y="308324"/>
                  </a:cubicBezTo>
                  <a:lnTo>
                    <a:pt x="203168" y="342233"/>
                  </a:lnTo>
                  <a:lnTo>
                    <a:pt x="284417" y="342233"/>
                  </a:lnTo>
                  <a:lnTo>
                    <a:pt x="278416" y="279749"/>
                  </a:lnTo>
                  <a:close/>
                  <a:moveTo>
                    <a:pt x="194500" y="176117"/>
                  </a:moveTo>
                  <a:lnTo>
                    <a:pt x="194500" y="250031"/>
                  </a:lnTo>
                  <a:cubicBezTo>
                    <a:pt x="175546" y="270986"/>
                    <a:pt x="148685" y="283464"/>
                    <a:pt x="122492" y="283464"/>
                  </a:cubicBezTo>
                  <a:cubicBezTo>
                    <a:pt x="98774" y="283464"/>
                    <a:pt x="84582" y="269272"/>
                    <a:pt x="84582" y="245554"/>
                  </a:cubicBezTo>
                  <a:cubicBezTo>
                    <a:pt x="84582" y="225838"/>
                    <a:pt x="92583" y="210884"/>
                    <a:pt x="107633" y="202216"/>
                  </a:cubicBezTo>
                  <a:cubicBezTo>
                    <a:pt x="127540" y="191357"/>
                    <a:pt x="151829" y="184976"/>
                    <a:pt x="194596" y="17611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91425" spcFirstLastPara="1" rIns="91425" wrap="square" tIns="4572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49" name="Google Shape;549;p44"/>
            <p:cNvGrpSpPr/>
            <p:nvPr/>
          </p:nvGrpSpPr>
          <p:grpSpPr>
            <a:xfrm>
              <a:off x="2716728" y="4391709"/>
              <a:ext cx="602932" cy="445606"/>
              <a:chOff x="2716728" y="4391709"/>
              <a:chExt cx="602932" cy="445606"/>
            </a:xfrm>
          </p:grpSpPr>
          <p:sp>
            <p:nvSpPr>
              <p:cNvPr id="550" name="Google Shape;550;p44"/>
              <p:cNvSpPr/>
              <p:nvPr/>
            </p:nvSpPr>
            <p:spPr>
              <a:xfrm>
                <a:off x="2716728" y="4391709"/>
                <a:ext cx="415480" cy="438816"/>
              </a:xfrm>
              <a:custGeom>
                <a:rect b="b" l="l" r="r" t="t"/>
                <a:pathLst>
                  <a:path extrusionOk="0" h="438816" w="415480">
                    <a:moveTo>
                      <a:pt x="415481" y="438817"/>
                    </a:moveTo>
                    <a:lnTo>
                      <a:pt x="254318" y="2286"/>
                    </a:lnTo>
                    <a:cubicBezTo>
                      <a:pt x="253841" y="953"/>
                      <a:pt x="252508" y="0"/>
                      <a:pt x="251079" y="0"/>
                    </a:cubicBezTo>
                    <a:lnTo>
                      <a:pt x="161735" y="0"/>
                    </a:lnTo>
                    <a:lnTo>
                      <a:pt x="161735" y="10001"/>
                    </a:lnTo>
                    <a:lnTo>
                      <a:pt x="0" y="438817"/>
                    </a:lnTo>
                    <a:lnTo>
                      <a:pt x="93440" y="438817"/>
                    </a:lnTo>
                    <a:lnTo>
                      <a:pt x="123158" y="348139"/>
                    </a:lnTo>
                    <a:lnTo>
                      <a:pt x="293561" y="348139"/>
                    </a:lnTo>
                    <a:lnTo>
                      <a:pt x="327850" y="438817"/>
                    </a:lnTo>
                    <a:lnTo>
                      <a:pt x="415481" y="438817"/>
                    </a:lnTo>
                    <a:close/>
                    <a:moveTo>
                      <a:pt x="271367" y="278892"/>
                    </a:moveTo>
                    <a:lnTo>
                      <a:pt x="145352" y="278892"/>
                    </a:lnTo>
                    <a:lnTo>
                      <a:pt x="204406" y="95726"/>
                    </a:lnTo>
                    <a:lnTo>
                      <a:pt x="204406" y="92393"/>
                    </a:lnTo>
                    <a:lnTo>
                      <a:pt x="211836" y="92393"/>
                    </a:lnTo>
                    <a:lnTo>
                      <a:pt x="211836" y="95726"/>
                    </a:lnTo>
                    <a:lnTo>
                      <a:pt x="271463" y="27898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91425" spcFirstLastPara="1" rIns="91425" wrap="square" tIns="45725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" name="Google Shape;551;p44"/>
              <p:cNvSpPr/>
              <p:nvPr/>
            </p:nvSpPr>
            <p:spPr>
              <a:xfrm>
                <a:off x="3015327" y="4391805"/>
                <a:ext cx="304333" cy="445510"/>
              </a:xfrm>
              <a:custGeom>
                <a:rect b="b" l="l" r="r" t="t"/>
                <a:pathLst>
                  <a:path extrusionOk="0" h="445510" w="304333">
                    <a:moveTo>
                      <a:pt x="218227" y="174593"/>
                    </a:moveTo>
                    <a:lnTo>
                      <a:pt x="288331" y="84201"/>
                    </a:lnTo>
                    <a:cubicBezTo>
                      <a:pt x="288903" y="83534"/>
                      <a:pt x="289188" y="82582"/>
                      <a:pt x="289188" y="81725"/>
                    </a:cubicBezTo>
                    <a:lnTo>
                      <a:pt x="289188" y="762"/>
                    </a:lnTo>
                    <a:cubicBezTo>
                      <a:pt x="289188" y="762"/>
                      <a:pt x="288807" y="0"/>
                      <a:pt x="288426" y="0"/>
                    </a:cubicBezTo>
                    <a:lnTo>
                      <a:pt x="581" y="381"/>
                    </a:lnTo>
                    <a:cubicBezTo>
                      <a:pt x="581" y="381"/>
                      <a:pt x="-86" y="762"/>
                      <a:pt x="9" y="1238"/>
                    </a:cubicBezTo>
                    <a:lnTo>
                      <a:pt x="24870" y="70199"/>
                    </a:lnTo>
                    <a:lnTo>
                      <a:pt x="210607" y="70199"/>
                    </a:lnTo>
                    <a:lnTo>
                      <a:pt x="195081" y="81915"/>
                    </a:lnTo>
                    <a:lnTo>
                      <a:pt x="192986" y="84392"/>
                    </a:lnTo>
                    <a:lnTo>
                      <a:pt x="104022" y="200501"/>
                    </a:lnTo>
                    <a:cubicBezTo>
                      <a:pt x="103260" y="201454"/>
                      <a:pt x="103070" y="202692"/>
                      <a:pt x="103546" y="203835"/>
                    </a:cubicBezTo>
                    <a:lnTo>
                      <a:pt x="119643" y="248888"/>
                    </a:lnTo>
                    <a:cubicBezTo>
                      <a:pt x="120977" y="252603"/>
                      <a:pt x="124977" y="254222"/>
                      <a:pt x="128406" y="252222"/>
                    </a:cubicBezTo>
                    <a:cubicBezTo>
                      <a:pt x="140979" y="245174"/>
                      <a:pt x="156124" y="242126"/>
                      <a:pt x="172221" y="245269"/>
                    </a:cubicBezTo>
                    <a:cubicBezTo>
                      <a:pt x="197748" y="250222"/>
                      <a:pt x="217179" y="269272"/>
                      <a:pt x="222323" y="294799"/>
                    </a:cubicBezTo>
                    <a:cubicBezTo>
                      <a:pt x="230324" y="334518"/>
                      <a:pt x="201463" y="369475"/>
                      <a:pt x="163744" y="371856"/>
                    </a:cubicBezTo>
                    <a:cubicBezTo>
                      <a:pt x="162411" y="371856"/>
                      <a:pt x="161077" y="372047"/>
                      <a:pt x="159744" y="372047"/>
                    </a:cubicBezTo>
                    <a:cubicBezTo>
                      <a:pt x="148599" y="372047"/>
                      <a:pt x="138027" y="369189"/>
                      <a:pt x="128883" y="364141"/>
                    </a:cubicBezTo>
                    <a:cubicBezTo>
                      <a:pt x="128883" y="364141"/>
                      <a:pt x="158029" y="445294"/>
                      <a:pt x="158124" y="445389"/>
                    </a:cubicBezTo>
                    <a:cubicBezTo>
                      <a:pt x="168792" y="445865"/>
                      <a:pt x="179175" y="444913"/>
                      <a:pt x="189176" y="443008"/>
                    </a:cubicBezTo>
                    <a:cubicBezTo>
                      <a:pt x="254708" y="430816"/>
                      <a:pt x="304333" y="373475"/>
                      <a:pt x="304333" y="304419"/>
                    </a:cubicBezTo>
                    <a:cubicBezTo>
                      <a:pt x="304333" y="246126"/>
                      <a:pt x="268995" y="196120"/>
                      <a:pt x="218513" y="17459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91425" spcFirstLastPara="1" rIns="91425" wrap="square" tIns="45725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52" name="Google Shape;552;p44"/>
          <p:cNvSpPr txBox="1"/>
          <p:nvPr/>
        </p:nvSpPr>
        <p:spPr>
          <a:xfrm>
            <a:off x="3585948" y="8352000"/>
            <a:ext cx="2205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Loucos por dados,</a:t>
            </a:r>
            <a:endParaRPr b="1" i="0" sz="17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apaixonados por gente.</a:t>
            </a:r>
            <a:endParaRPr b="1" i="0" sz="17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3" name="Google Shape;553;p44"/>
          <p:cNvSpPr txBox="1"/>
          <p:nvPr>
            <p:ph idx="4294967295" type="sldNum"/>
          </p:nvPr>
        </p:nvSpPr>
        <p:spPr>
          <a:xfrm>
            <a:off x="17113568" y="9499702"/>
            <a:ext cx="10977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pt-BR" sz="1400"/>
              <a:t>‹#›</a:t>
            </a:fld>
            <a:endParaRPr sz="1400"/>
          </a:p>
        </p:txBody>
      </p:sp>
      <p:graphicFrame>
        <p:nvGraphicFramePr>
          <p:cNvPr id="554" name="Google Shape;554;p44"/>
          <p:cNvGraphicFramePr/>
          <p:nvPr/>
        </p:nvGraphicFramePr>
        <p:xfrm>
          <a:off x="3676200" y="230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{7F2615E1-BFC9-46CB-AD60-8D5C7FC21417}</a:tableStyleId>
              </a:tblPr>
              <a:tblGrid>
                <a:gridCol w="4320000"/>
              </a:tblGrid>
              <a:tr h="100025">
                <a:tc>
                  <a:txBody>
                    <a:bodyPr/>
                    <a:lstStyle/>
                    <a:p>
                      <a:pPr indent="0" lvl="0" marL="1524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>
                          <a:solidFill>
                            <a:srgbClr val="000000"/>
                          </a:solidFill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PAULO LAURENTYS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Lato Black"/>
                        <a:ea typeface="Lato Black"/>
                        <a:cs typeface="Lato Black"/>
                        <a:sym typeface="Lato Black"/>
                      </a:endParaRPr>
                    </a:p>
                  </a:txBody>
                  <a:tcPr marT="144000" marB="144000" marR="144000" marL="144000" anchor="ctr">
                    <a:lnL cap="flat" cmpd="sng" w="9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367175">
                <a:tc>
                  <a:txBody>
                    <a:bodyPr/>
                    <a:lstStyle/>
                    <a:p>
                      <a:pPr indent="0" lvl="0" marL="1524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700" u="none" cap="none" strike="noStrike">
                          <a:solidFill>
                            <a:srgbClr val="000000"/>
                          </a:solidFill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Diretor de Operações</a:t>
                      </a:r>
                      <a:endParaRPr sz="1700" u="none" cap="none" strike="noStrike">
                        <a:solidFill>
                          <a:srgbClr val="000000"/>
                        </a:solidFill>
                        <a:latin typeface="Lato Black"/>
                        <a:ea typeface="Lato Black"/>
                        <a:cs typeface="Lato Black"/>
                        <a:sym typeface="Lato Black"/>
                      </a:endParaRPr>
                    </a:p>
                  </a:txBody>
                  <a:tcPr marT="144000" marB="144000" marR="144000" marL="144000" anchor="ctr">
                    <a:lnL cap="flat" cmpd="sng" w="9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94575">
                <a:tc>
                  <a:txBody>
                    <a:bodyPr/>
                    <a:lstStyle/>
                    <a:p>
                      <a:pPr indent="0" lvl="0" marL="1524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7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paulo.laurentys@a3data.com.br</a:t>
                      </a:r>
                      <a:endParaRPr sz="1700" u="none" cap="none" strike="noStrike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75" marB="91475" marR="91475" marL="91475" anchor="ctr">
                    <a:lnL cap="flat" cmpd="sng" w="9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</a:tr>
              <a:tr h="294575">
                <a:tc>
                  <a:txBody>
                    <a:bodyPr/>
                    <a:lstStyle/>
                    <a:p>
                      <a:pPr indent="0" lvl="0" marL="1524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7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+55 (31) 9 9998-1983</a:t>
                      </a:r>
                      <a:endParaRPr sz="1700" u="none" cap="none" strike="noStrike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75" marB="91475" marR="91475" marL="91475" anchor="ctr">
                    <a:lnL cap="flat" cmpd="sng" w="9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pic>
        <p:nvPicPr>
          <p:cNvPr id="555" name="Google Shape;555;p44"/>
          <p:cNvPicPr preferRelativeResize="0"/>
          <p:nvPr/>
        </p:nvPicPr>
        <p:blipFill rotWithShape="1">
          <a:blip r:embed="rId7">
            <a:alphaModFix/>
          </a:blip>
          <a:srcRect b="13165" l="26863" r="24304" t="13084"/>
          <a:stretch/>
        </p:blipFill>
        <p:spPr>
          <a:xfrm>
            <a:off x="1517850" y="2369700"/>
            <a:ext cx="1728000" cy="1793400"/>
          </a:xfrm>
          <a:prstGeom prst="ellipse">
            <a:avLst/>
          </a:prstGeom>
          <a:noFill/>
          <a:ln>
            <a:noFill/>
          </a:ln>
        </p:spPr>
      </p:pic>
      <p:graphicFrame>
        <p:nvGraphicFramePr>
          <p:cNvPr id="556" name="Google Shape;556;p44"/>
          <p:cNvGraphicFramePr/>
          <p:nvPr/>
        </p:nvGraphicFramePr>
        <p:xfrm>
          <a:off x="10703675" y="2279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{7F2615E1-BFC9-46CB-AD60-8D5C7FC21417}</a:tableStyleId>
              </a:tblPr>
              <a:tblGrid>
                <a:gridCol w="4320000"/>
              </a:tblGrid>
              <a:tr h="100025">
                <a:tc>
                  <a:txBody>
                    <a:bodyPr/>
                    <a:lstStyle/>
                    <a:p>
                      <a:pPr indent="0" lvl="0" marL="1524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>
                          <a:solidFill>
                            <a:srgbClr val="000000"/>
                          </a:solidFill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MARCELO FANTINI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Lato Black"/>
                        <a:ea typeface="Lato Black"/>
                        <a:cs typeface="Lato Black"/>
                        <a:sym typeface="Lato Black"/>
                      </a:endParaRPr>
                    </a:p>
                  </a:txBody>
                  <a:tcPr marT="144000" marB="144000" marR="144000" marL="144000" anchor="ctr">
                    <a:lnL cap="flat" cmpd="sng" w="9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367175">
                <a:tc>
                  <a:txBody>
                    <a:bodyPr/>
                    <a:lstStyle/>
                    <a:p>
                      <a:pPr indent="0" lvl="0" marL="1524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700" u="none" cap="none" strike="noStrike">
                          <a:solidFill>
                            <a:srgbClr val="000000"/>
                          </a:solidFill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Chief Commercial Officer</a:t>
                      </a:r>
                      <a:endParaRPr sz="1700" u="none" cap="none" strike="noStrike">
                        <a:solidFill>
                          <a:srgbClr val="000000"/>
                        </a:solidFill>
                        <a:latin typeface="Lato Black"/>
                        <a:ea typeface="Lato Black"/>
                        <a:cs typeface="Lato Black"/>
                        <a:sym typeface="Lato Black"/>
                      </a:endParaRPr>
                    </a:p>
                  </a:txBody>
                  <a:tcPr marT="144000" marB="144000" marR="144000" marL="144000" anchor="ctr">
                    <a:lnL cap="flat" cmpd="sng" w="9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94575">
                <a:tc>
                  <a:txBody>
                    <a:bodyPr/>
                    <a:lstStyle/>
                    <a:p>
                      <a:pPr indent="0" lvl="0" marL="1524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7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marcelo.fantini@a3data.com.br</a:t>
                      </a:r>
                      <a:endParaRPr sz="1700" u="none" cap="none" strike="noStrike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75" marB="91475" marR="91475" marL="91475" anchor="ctr">
                    <a:lnL cap="flat" cmpd="sng" w="9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</a:tr>
              <a:tr h="294575">
                <a:tc>
                  <a:txBody>
                    <a:bodyPr/>
                    <a:lstStyle/>
                    <a:p>
                      <a:pPr indent="0" lvl="0" marL="1524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7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+55 (31) 9 9984-8500</a:t>
                      </a:r>
                      <a:endParaRPr sz="1700" u="none" cap="none" strike="noStrike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75" marB="91475" marR="91475" marL="91475" anchor="ctr">
                    <a:lnL cap="flat" cmpd="sng" w="9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pic>
        <p:nvPicPr>
          <p:cNvPr id="557" name="Google Shape;557;p44"/>
          <p:cNvPicPr preferRelativeResize="0"/>
          <p:nvPr/>
        </p:nvPicPr>
        <p:blipFill rotWithShape="1">
          <a:blip r:embed="rId8">
            <a:alphaModFix/>
          </a:blip>
          <a:srcRect b="0" l="15376" r="0" t="0"/>
          <a:stretch/>
        </p:blipFill>
        <p:spPr>
          <a:xfrm>
            <a:off x="8631250" y="2421730"/>
            <a:ext cx="1728000" cy="17304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58" name="Google Shape;558;p44" title="WhatsApp Image 2026-06-09 at 14.33.54.jpeg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463763" y="4892938"/>
            <a:ext cx="1728000" cy="1728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  <p:graphicFrame>
        <p:nvGraphicFramePr>
          <p:cNvPr id="559" name="Google Shape;559;p44"/>
          <p:cNvGraphicFramePr/>
          <p:nvPr/>
        </p:nvGraphicFramePr>
        <p:xfrm>
          <a:off x="3622113" y="4748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{7F2615E1-BFC9-46CB-AD60-8D5C7FC21417}</a:tableStyleId>
              </a:tblPr>
              <a:tblGrid>
                <a:gridCol w="4320000"/>
              </a:tblGrid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 ÍCARO ALMEIDA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Lato Black"/>
                        <a:ea typeface="Lato Black"/>
                        <a:cs typeface="Lato Black"/>
                        <a:sym typeface="Lato Black"/>
                      </a:endParaRPr>
                    </a:p>
                  </a:txBody>
                  <a:tcPr marT="144000" marB="144000" marR="144000" marL="1440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367125">
                <a:tc>
                  <a:txBody>
                    <a:bodyPr/>
                    <a:lstStyle/>
                    <a:p>
                      <a:pPr indent="0" lvl="0" marL="152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700">
                          <a:solidFill>
                            <a:srgbClr val="000000"/>
                          </a:solidFill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Solution Architect</a:t>
                      </a:r>
                      <a:endParaRPr sz="1700" u="none" cap="none" strike="noStrike">
                        <a:solidFill>
                          <a:srgbClr val="000000"/>
                        </a:solidFill>
                        <a:latin typeface="Lato Black"/>
                        <a:ea typeface="Lato Black"/>
                        <a:cs typeface="Lato Black"/>
                        <a:sym typeface="Lato Black"/>
                      </a:endParaRPr>
                    </a:p>
                  </a:txBody>
                  <a:tcPr marT="144000" marB="144000" marR="144000" marL="1440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94575">
                <a:tc>
                  <a:txBody>
                    <a:bodyPr/>
                    <a:lstStyle/>
                    <a:p>
                      <a:pPr indent="0" lvl="0" marL="1524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700">
                          <a:latin typeface="Lato"/>
                          <a:ea typeface="Lato"/>
                          <a:cs typeface="Lato"/>
                          <a:sym typeface="Lato"/>
                        </a:rPr>
                        <a:t>icaro.almeida</a:t>
                      </a:r>
                      <a:r>
                        <a:rPr lang="pt-BR" sz="17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@a3data.com.br</a:t>
                      </a:r>
                      <a:endParaRPr sz="1700" u="none" cap="none" strike="noStrike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</a:tr>
              <a:tr h="294575">
                <a:tc>
                  <a:txBody>
                    <a:bodyPr/>
                    <a:lstStyle/>
                    <a:p>
                      <a:pPr indent="0" lvl="0" marL="1524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7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+55 (11) 9 9</a:t>
                      </a:r>
                      <a:r>
                        <a:rPr lang="pt-BR" sz="1700">
                          <a:latin typeface="Lato"/>
                          <a:ea typeface="Lato"/>
                          <a:cs typeface="Lato"/>
                          <a:sym typeface="Lato"/>
                        </a:rPr>
                        <a:t>6982-8622</a:t>
                      </a:r>
                      <a:endParaRPr sz="1700" u="none" cap="none" strike="noStrike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4" name="Google Shape;564;p45"/>
          <p:cNvGrpSpPr/>
          <p:nvPr/>
        </p:nvGrpSpPr>
        <p:grpSpPr>
          <a:xfrm>
            <a:off x="7992668" y="4608000"/>
            <a:ext cx="2302665" cy="431995"/>
            <a:chOff x="2716728" y="4386757"/>
            <a:chExt cx="2400109" cy="450558"/>
          </a:xfrm>
        </p:grpSpPr>
        <p:sp>
          <p:nvSpPr>
            <p:cNvPr id="565" name="Google Shape;565;p45"/>
            <p:cNvSpPr/>
            <p:nvPr/>
          </p:nvSpPr>
          <p:spPr>
            <a:xfrm>
              <a:off x="4494569" y="4561350"/>
              <a:ext cx="232791" cy="268795"/>
            </a:xfrm>
            <a:custGeom>
              <a:rect b="b" l="l" r="r" t="t"/>
              <a:pathLst>
                <a:path extrusionOk="0" h="268795" w="232791">
                  <a:moveTo>
                    <a:pt x="232791" y="268796"/>
                  </a:moveTo>
                  <a:lnTo>
                    <a:pt x="77629" y="268796"/>
                  </a:lnTo>
                  <a:lnTo>
                    <a:pt x="0" y="134398"/>
                  </a:lnTo>
                  <a:lnTo>
                    <a:pt x="77629" y="0"/>
                  </a:lnTo>
                  <a:lnTo>
                    <a:pt x="232791" y="268796"/>
                  </a:lnTo>
                  <a:close/>
                </a:path>
              </a:pathLst>
            </a:custGeom>
            <a:solidFill>
              <a:srgbClr val="001863"/>
            </a:solidFill>
            <a:ln>
              <a:noFill/>
            </a:ln>
          </p:spPr>
          <p:txBody>
            <a:bodyPr anchorCtr="0" anchor="ctr" bIns="45725" lIns="91425" spcFirstLastPara="1" rIns="91425" wrap="square" tIns="4572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" name="Google Shape;566;p45"/>
            <p:cNvSpPr/>
            <p:nvPr/>
          </p:nvSpPr>
          <p:spPr>
            <a:xfrm>
              <a:off x="4690022" y="4561826"/>
              <a:ext cx="232791" cy="268795"/>
            </a:xfrm>
            <a:custGeom>
              <a:rect b="b" l="l" r="r" t="t"/>
              <a:pathLst>
                <a:path extrusionOk="0" h="268795" w="232791">
                  <a:moveTo>
                    <a:pt x="232791" y="268796"/>
                  </a:moveTo>
                  <a:lnTo>
                    <a:pt x="77629" y="268796"/>
                  </a:lnTo>
                  <a:lnTo>
                    <a:pt x="0" y="134398"/>
                  </a:lnTo>
                  <a:lnTo>
                    <a:pt x="77629" y="0"/>
                  </a:lnTo>
                  <a:lnTo>
                    <a:pt x="232791" y="268796"/>
                  </a:lnTo>
                  <a:close/>
                </a:path>
              </a:pathLst>
            </a:custGeom>
            <a:solidFill>
              <a:srgbClr val="0033FF"/>
            </a:solidFill>
            <a:ln>
              <a:noFill/>
            </a:ln>
          </p:spPr>
          <p:txBody>
            <a:bodyPr anchorCtr="0" anchor="ctr" bIns="45725" lIns="91425" spcFirstLastPara="1" rIns="91425" wrap="square" tIns="4572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7" name="Google Shape;567;p45"/>
            <p:cNvSpPr/>
            <p:nvPr/>
          </p:nvSpPr>
          <p:spPr>
            <a:xfrm>
              <a:off x="4884046" y="4561826"/>
              <a:ext cx="232791" cy="268795"/>
            </a:xfrm>
            <a:custGeom>
              <a:rect b="b" l="l" r="r" t="t"/>
              <a:pathLst>
                <a:path extrusionOk="0" h="268795" w="232791">
                  <a:moveTo>
                    <a:pt x="232791" y="268796"/>
                  </a:moveTo>
                  <a:lnTo>
                    <a:pt x="77533" y="268796"/>
                  </a:lnTo>
                  <a:lnTo>
                    <a:pt x="0" y="134398"/>
                  </a:lnTo>
                  <a:lnTo>
                    <a:pt x="77533" y="0"/>
                  </a:lnTo>
                  <a:lnTo>
                    <a:pt x="232791" y="268796"/>
                  </a:lnTo>
                  <a:close/>
                </a:path>
              </a:pathLst>
            </a:custGeom>
            <a:solidFill>
              <a:srgbClr val="EC2890"/>
            </a:solidFill>
            <a:ln>
              <a:noFill/>
            </a:ln>
          </p:spPr>
          <p:txBody>
            <a:bodyPr anchorCtr="0" anchor="ctr" bIns="45725" lIns="91425" spcFirstLastPara="1" rIns="91425" wrap="square" tIns="4572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" name="Google Shape;568;p45"/>
            <p:cNvSpPr/>
            <p:nvPr/>
          </p:nvSpPr>
          <p:spPr>
            <a:xfrm>
              <a:off x="3298038" y="4392567"/>
              <a:ext cx="324135" cy="437959"/>
            </a:xfrm>
            <a:custGeom>
              <a:rect b="b" l="l" r="r" t="t"/>
              <a:pathLst>
                <a:path extrusionOk="0" h="437959" w="324135">
                  <a:moveTo>
                    <a:pt x="263747" y="63151"/>
                  </a:moveTo>
                  <a:cubicBezTo>
                    <a:pt x="223552" y="21050"/>
                    <a:pt x="173355" y="0"/>
                    <a:pt x="113348" y="0"/>
                  </a:cubicBezTo>
                  <a:lnTo>
                    <a:pt x="51721" y="0"/>
                  </a:lnTo>
                  <a:cubicBezTo>
                    <a:pt x="51721" y="0"/>
                    <a:pt x="51149" y="286"/>
                    <a:pt x="51149" y="572"/>
                  </a:cubicBezTo>
                  <a:lnTo>
                    <a:pt x="51149" y="81344"/>
                  </a:lnTo>
                  <a:cubicBezTo>
                    <a:pt x="51149" y="82105"/>
                    <a:pt x="51721" y="82677"/>
                    <a:pt x="52483" y="82677"/>
                  </a:cubicBezTo>
                  <a:lnTo>
                    <a:pt x="113443" y="82677"/>
                  </a:lnTo>
                  <a:cubicBezTo>
                    <a:pt x="151352" y="82677"/>
                    <a:pt x="182213" y="95250"/>
                    <a:pt x="206026" y="120491"/>
                  </a:cubicBezTo>
                  <a:cubicBezTo>
                    <a:pt x="229743" y="145733"/>
                    <a:pt x="241649" y="178594"/>
                    <a:pt x="241649" y="218980"/>
                  </a:cubicBezTo>
                  <a:cubicBezTo>
                    <a:pt x="241649" y="259366"/>
                    <a:pt x="229743" y="292322"/>
                    <a:pt x="206026" y="317468"/>
                  </a:cubicBezTo>
                  <a:cubicBezTo>
                    <a:pt x="182309" y="342710"/>
                    <a:pt x="151352" y="355283"/>
                    <a:pt x="113443" y="355283"/>
                  </a:cubicBezTo>
                  <a:lnTo>
                    <a:pt x="56198" y="355283"/>
                  </a:lnTo>
                  <a:cubicBezTo>
                    <a:pt x="34576" y="422910"/>
                    <a:pt x="0" y="437960"/>
                    <a:pt x="0" y="437960"/>
                  </a:cubicBezTo>
                  <a:lnTo>
                    <a:pt x="113348" y="437960"/>
                  </a:lnTo>
                  <a:cubicBezTo>
                    <a:pt x="173355" y="437960"/>
                    <a:pt x="223552" y="416909"/>
                    <a:pt x="263747" y="374714"/>
                  </a:cubicBezTo>
                  <a:cubicBezTo>
                    <a:pt x="303943" y="332613"/>
                    <a:pt x="324136" y="280702"/>
                    <a:pt x="324136" y="218980"/>
                  </a:cubicBezTo>
                  <a:cubicBezTo>
                    <a:pt x="324136" y="157258"/>
                    <a:pt x="303943" y="105347"/>
                    <a:pt x="263747" y="6315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91425" spcFirstLastPara="1" rIns="91425" wrap="square" tIns="4572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9" name="Google Shape;569;p45"/>
            <p:cNvSpPr/>
            <p:nvPr/>
          </p:nvSpPr>
          <p:spPr>
            <a:xfrm>
              <a:off x="3635604" y="4488484"/>
              <a:ext cx="284416" cy="348519"/>
            </a:xfrm>
            <a:custGeom>
              <a:rect b="b" l="l" r="r" t="t"/>
              <a:pathLst>
                <a:path extrusionOk="0" h="348519" w="284416">
                  <a:moveTo>
                    <a:pt x="278416" y="118015"/>
                  </a:moveTo>
                  <a:cubicBezTo>
                    <a:pt x="278416" y="38576"/>
                    <a:pt x="236887" y="0"/>
                    <a:pt x="151543" y="0"/>
                  </a:cubicBezTo>
                  <a:cubicBezTo>
                    <a:pt x="87154" y="0"/>
                    <a:pt x="42481" y="22384"/>
                    <a:pt x="14954" y="68485"/>
                  </a:cubicBezTo>
                  <a:lnTo>
                    <a:pt x="13430" y="71152"/>
                  </a:lnTo>
                  <a:lnTo>
                    <a:pt x="73628" y="108490"/>
                  </a:lnTo>
                  <a:lnTo>
                    <a:pt x="75248" y="105823"/>
                  </a:lnTo>
                  <a:cubicBezTo>
                    <a:pt x="93536" y="76771"/>
                    <a:pt x="114871" y="64294"/>
                    <a:pt x="146494" y="64294"/>
                  </a:cubicBezTo>
                  <a:cubicBezTo>
                    <a:pt x="166497" y="64294"/>
                    <a:pt x="179546" y="68390"/>
                    <a:pt x="187547" y="77057"/>
                  </a:cubicBezTo>
                  <a:cubicBezTo>
                    <a:pt x="195739" y="85916"/>
                    <a:pt x="198787" y="100013"/>
                    <a:pt x="197263" y="121063"/>
                  </a:cubicBezTo>
                  <a:cubicBezTo>
                    <a:pt x="144018" y="131350"/>
                    <a:pt x="90297" y="143542"/>
                    <a:pt x="55912" y="162687"/>
                  </a:cubicBezTo>
                  <a:cubicBezTo>
                    <a:pt x="17812" y="184118"/>
                    <a:pt x="0" y="213836"/>
                    <a:pt x="0" y="256318"/>
                  </a:cubicBezTo>
                  <a:cubicBezTo>
                    <a:pt x="0" y="313182"/>
                    <a:pt x="35338" y="348520"/>
                    <a:pt x="92202" y="348520"/>
                  </a:cubicBezTo>
                  <a:cubicBezTo>
                    <a:pt x="129159" y="348520"/>
                    <a:pt x="164687" y="334994"/>
                    <a:pt x="197929" y="308324"/>
                  </a:cubicBezTo>
                  <a:lnTo>
                    <a:pt x="203168" y="342233"/>
                  </a:lnTo>
                  <a:lnTo>
                    <a:pt x="284417" y="342233"/>
                  </a:lnTo>
                  <a:lnTo>
                    <a:pt x="278416" y="279749"/>
                  </a:lnTo>
                  <a:lnTo>
                    <a:pt x="278416" y="118015"/>
                  </a:lnTo>
                  <a:close/>
                  <a:moveTo>
                    <a:pt x="194500" y="176117"/>
                  </a:moveTo>
                  <a:lnTo>
                    <a:pt x="194500" y="250031"/>
                  </a:lnTo>
                  <a:cubicBezTo>
                    <a:pt x="175546" y="270986"/>
                    <a:pt x="148685" y="283464"/>
                    <a:pt x="122492" y="283464"/>
                  </a:cubicBezTo>
                  <a:cubicBezTo>
                    <a:pt x="98774" y="283464"/>
                    <a:pt x="84582" y="269272"/>
                    <a:pt x="84582" y="245554"/>
                  </a:cubicBezTo>
                  <a:cubicBezTo>
                    <a:pt x="84582" y="225838"/>
                    <a:pt x="92583" y="210884"/>
                    <a:pt x="107632" y="202216"/>
                  </a:cubicBezTo>
                  <a:cubicBezTo>
                    <a:pt x="127540" y="191357"/>
                    <a:pt x="151829" y="184976"/>
                    <a:pt x="194596" y="17611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91425" spcFirstLastPara="1" rIns="91425" wrap="square" tIns="4572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0" name="Google Shape;570;p45"/>
            <p:cNvSpPr/>
            <p:nvPr/>
          </p:nvSpPr>
          <p:spPr>
            <a:xfrm>
              <a:off x="3937261" y="4386757"/>
              <a:ext cx="198882" cy="448913"/>
            </a:xfrm>
            <a:custGeom>
              <a:rect b="b" l="l" r="r" t="t"/>
              <a:pathLst>
                <a:path extrusionOk="0" h="448913" w="198882">
                  <a:moveTo>
                    <a:pt x="131254" y="0"/>
                  </a:moveTo>
                  <a:lnTo>
                    <a:pt x="48006" y="0"/>
                  </a:lnTo>
                  <a:lnTo>
                    <a:pt x="48006" y="109252"/>
                  </a:lnTo>
                  <a:lnTo>
                    <a:pt x="0" y="109252"/>
                  </a:lnTo>
                  <a:lnTo>
                    <a:pt x="0" y="174879"/>
                  </a:lnTo>
                  <a:lnTo>
                    <a:pt x="48006" y="174879"/>
                  </a:lnTo>
                  <a:lnTo>
                    <a:pt x="48006" y="349853"/>
                  </a:lnTo>
                  <a:cubicBezTo>
                    <a:pt x="48006" y="423005"/>
                    <a:pt x="71438" y="448913"/>
                    <a:pt x="137636" y="448913"/>
                  </a:cubicBezTo>
                  <a:cubicBezTo>
                    <a:pt x="160115" y="448913"/>
                    <a:pt x="179832" y="446056"/>
                    <a:pt x="196310" y="443198"/>
                  </a:cubicBezTo>
                  <a:lnTo>
                    <a:pt x="198882" y="442722"/>
                  </a:lnTo>
                  <a:lnTo>
                    <a:pt x="198882" y="373571"/>
                  </a:lnTo>
                  <a:lnTo>
                    <a:pt x="194977" y="374523"/>
                  </a:lnTo>
                  <a:cubicBezTo>
                    <a:pt x="183166" y="377476"/>
                    <a:pt x="172117" y="378809"/>
                    <a:pt x="160401" y="378809"/>
                  </a:cubicBezTo>
                  <a:cubicBezTo>
                    <a:pt x="139446" y="378809"/>
                    <a:pt x="131350" y="369094"/>
                    <a:pt x="131350" y="344043"/>
                  </a:cubicBezTo>
                  <a:lnTo>
                    <a:pt x="131350" y="174879"/>
                  </a:lnTo>
                  <a:lnTo>
                    <a:pt x="198882" y="174879"/>
                  </a:lnTo>
                  <a:lnTo>
                    <a:pt x="198882" y="109252"/>
                  </a:lnTo>
                  <a:lnTo>
                    <a:pt x="131350" y="109252"/>
                  </a:lnTo>
                  <a:lnTo>
                    <a:pt x="13135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91425" spcFirstLastPara="1" rIns="91425" wrap="square" tIns="4572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1" name="Google Shape;571;p45"/>
            <p:cNvSpPr/>
            <p:nvPr/>
          </p:nvSpPr>
          <p:spPr>
            <a:xfrm>
              <a:off x="4165670" y="4488484"/>
              <a:ext cx="284416" cy="348519"/>
            </a:xfrm>
            <a:custGeom>
              <a:rect b="b" l="l" r="r" t="t"/>
              <a:pathLst>
                <a:path extrusionOk="0" h="348519" w="284416">
                  <a:moveTo>
                    <a:pt x="278416" y="279654"/>
                  </a:moveTo>
                  <a:lnTo>
                    <a:pt x="278416" y="118015"/>
                  </a:lnTo>
                  <a:cubicBezTo>
                    <a:pt x="278416" y="38576"/>
                    <a:pt x="236887" y="0"/>
                    <a:pt x="151543" y="0"/>
                  </a:cubicBezTo>
                  <a:cubicBezTo>
                    <a:pt x="87154" y="0"/>
                    <a:pt x="42482" y="22384"/>
                    <a:pt x="14954" y="68485"/>
                  </a:cubicBezTo>
                  <a:lnTo>
                    <a:pt x="13430" y="71152"/>
                  </a:lnTo>
                  <a:lnTo>
                    <a:pt x="73628" y="108490"/>
                  </a:lnTo>
                  <a:lnTo>
                    <a:pt x="75248" y="105823"/>
                  </a:lnTo>
                  <a:cubicBezTo>
                    <a:pt x="93536" y="76771"/>
                    <a:pt x="114871" y="64294"/>
                    <a:pt x="146495" y="64294"/>
                  </a:cubicBezTo>
                  <a:cubicBezTo>
                    <a:pt x="166497" y="64294"/>
                    <a:pt x="179546" y="68390"/>
                    <a:pt x="187547" y="77057"/>
                  </a:cubicBezTo>
                  <a:cubicBezTo>
                    <a:pt x="195739" y="85916"/>
                    <a:pt x="198787" y="100013"/>
                    <a:pt x="197263" y="121063"/>
                  </a:cubicBezTo>
                  <a:cubicBezTo>
                    <a:pt x="144018" y="131350"/>
                    <a:pt x="90297" y="143542"/>
                    <a:pt x="55912" y="162687"/>
                  </a:cubicBezTo>
                  <a:cubicBezTo>
                    <a:pt x="17812" y="184118"/>
                    <a:pt x="0" y="213836"/>
                    <a:pt x="0" y="256318"/>
                  </a:cubicBezTo>
                  <a:cubicBezTo>
                    <a:pt x="0" y="313182"/>
                    <a:pt x="35338" y="348520"/>
                    <a:pt x="92202" y="348520"/>
                  </a:cubicBezTo>
                  <a:cubicBezTo>
                    <a:pt x="129159" y="348520"/>
                    <a:pt x="164687" y="334994"/>
                    <a:pt x="197929" y="308324"/>
                  </a:cubicBezTo>
                  <a:lnTo>
                    <a:pt x="203168" y="342233"/>
                  </a:lnTo>
                  <a:lnTo>
                    <a:pt x="284417" y="342233"/>
                  </a:lnTo>
                  <a:lnTo>
                    <a:pt x="278416" y="279749"/>
                  </a:lnTo>
                  <a:close/>
                  <a:moveTo>
                    <a:pt x="194500" y="176117"/>
                  </a:moveTo>
                  <a:lnTo>
                    <a:pt x="194500" y="250031"/>
                  </a:lnTo>
                  <a:cubicBezTo>
                    <a:pt x="175546" y="270986"/>
                    <a:pt x="148685" y="283464"/>
                    <a:pt x="122492" y="283464"/>
                  </a:cubicBezTo>
                  <a:cubicBezTo>
                    <a:pt x="98774" y="283464"/>
                    <a:pt x="84582" y="269272"/>
                    <a:pt x="84582" y="245554"/>
                  </a:cubicBezTo>
                  <a:cubicBezTo>
                    <a:pt x="84582" y="225838"/>
                    <a:pt x="92583" y="210884"/>
                    <a:pt x="107633" y="202216"/>
                  </a:cubicBezTo>
                  <a:cubicBezTo>
                    <a:pt x="127540" y="191357"/>
                    <a:pt x="151829" y="184976"/>
                    <a:pt x="194596" y="17611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91425" spcFirstLastPara="1" rIns="91425" wrap="square" tIns="4572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72" name="Google Shape;572;p45"/>
            <p:cNvGrpSpPr/>
            <p:nvPr/>
          </p:nvGrpSpPr>
          <p:grpSpPr>
            <a:xfrm>
              <a:off x="2716728" y="4391709"/>
              <a:ext cx="602932" cy="445606"/>
              <a:chOff x="2716728" y="4391709"/>
              <a:chExt cx="602932" cy="445606"/>
            </a:xfrm>
          </p:grpSpPr>
          <p:sp>
            <p:nvSpPr>
              <p:cNvPr id="573" name="Google Shape;573;p45"/>
              <p:cNvSpPr/>
              <p:nvPr/>
            </p:nvSpPr>
            <p:spPr>
              <a:xfrm>
                <a:off x="2716728" y="4391709"/>
                <a:ext cx="415480" cy="438816"/>
              </a:xfrm>
              <a:custGeom>
                <a:rect b="b" l="l" r="r" t="t"/>
                <a:pathLst>
                  <a:path extrusionOk="0" h="438816" w="415480">
                    <a:moveTo>
                      <a:pt x="415481" y="438817"/>
                    </a:moveTo>
                    <a:lnTo>
                      <a:pt x="254318" y="2286"/>
                    </a:lnTo>
                    <a:cubicBezTo>
                      <a:pt x="253841" y="953"/>
                      <a:pt x="252508" y="0"/>
                      <a:pt x="251079" y="0"/>
                    </a:cubicBezTo>
                    <a:lnTo>
                      <a:pt x="161735" y="0"/>
                    </a:lnTo>
                    <a:lnTo>
                      <a:pt x="161735" y="10001"/>
                    </a:lnTo>
                    <a:lnTo>
                      <a:pt x="0" y="438817"/>
                    </a:lnTo>
                    <a:lnTo>
                      <a:pt x="93440" y="438817"/>
                    </a:lnTo>
                    <a:lnTo>
                      <a:pt x="123158" y="348139"/>
                    </a:lnTo>
                    <a:lnTo>
                      <a:pt x="293561" y="348139"/>
                    </a:lnTo>
                    <a:lnTo>
                      <a:pt x="327850" y="438817"/>
                    </a:lnTo>
                    <a:lnTo>
                      <a:pt x="415481" y="438817"/>
                    </a:lnTo>
                    <a:close/>
                    <a:moveTo>
                      <a:pt x="271367" y="278892"/>
                    </a:moveTo>
                    <a:lnTo>
                      <a:pt x="145352" y="278892"/>
                    </a:lnTo>
                    <a:lnTo>
                      <a:pt x="204406" y="95726"/>
                    </a:lnTo>
                    <a:lnTo>
                      <a:pt x="204406" y="92393"/>
                    </a:lnTo>
                    <a:lnTo>
                      <a:pt x="211836" y="92393"/>
                    </a:lnTo>
                    <a:lnTo>
                      <a:pt x="211836" y="95726"/>
                    </a:lnTo>
                    <a:lnTo>
                      <a:pt x="271463" y="27898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91425" spcFirstLastPara="1" rIns="91425" wrap="square" tIns="45725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" name="Google Shape;574;p45"/>
              <p:cNvSpPr/>
              <p:nvPr/>
            </p:nvSpPr>
            <p:spPr>
              <a:xfrm>
                <a:off x="3015327" y="4391805"/>
                <a:ext cx="304333" cy="445510"/>
              </a:xfrm>
              <a:custGeom>
                <a:rect b="b" l="l" r="r" t="t"/>
                <a:pathLst>
                  <a:path extrusionOk="0" h="445510" w="304333">
                    <a:moveTo>
                      <a:pt x="218227" y="174593"/>
                    </a:moveTo>
                    <a:lnTo>
                      <a:pt x="288331" y="84201"/>
                    </a:lnTo>
                    <a:cubicBezTo>
                      <a:pt x="288903" y="83534"/>
                      <a:pt x="289188" y="82582"/>
                      <a:pt x="289188" y="81725"/>
                    </a:cubicBezTo>
                    <a:lnTo>
                      <a:pt x="289188" y="762"/>
                    </a:lnTo>
                    <a:cubicBezTo>
                      <a:pt x="289188" y="762"/>
                      <a:pt x="288807" y="0"/>
                      <a:pt x="288426" y="0"/>
                    </a:cubicBezTo>
                    <a:lnTo>
                      <a:pt x="581" y="381"/>
                    </a:lnTo>
                    <a:cubicBezTo>
                      <a:pt x="581" y="381"/>
                      <a:pt x="-86" y="762"/>
                      <a:pt x="9" y="1238"/>
                    </a:cubicBezTo>
                    <a:lnTo>
                      <a:pt x="24870" y="70199"/>
                    </a:lnTo>
                    <a:lnTo>
                      <a:pt x="210607" y="70199"/>
                    </a:lnTo>
                    <a:lnTo>
                      <a:pt x="195081" y="81915"/>
                    </a:lnTo>
                    <a:lnTo>
                      <a:pt x="192986" y="84392"/>
                    </a:lnTo>
                    <a:lnTo>
                      <a:pt x="104022" y="200501"/>
                    </a:lnTo>
                    <a:cubicBezTo>
                      <a:pt x="103260" y="201454"/>
                      <a:pt x="103070" y="202692"/>
                      <a:pt x="103546" y="203835"/>
                    </a:cubicBezTo>
                    <a:lnTo>
                      <a:pt x="119643" y="248888"/>
                    </a:lnTo>
                    <a:cubicBezTo>
                      <a:pt x="120977" y="252603"/>
                      <a:pt x="124977" y="254222"/>
                      <a:pt x="128406" y="252222"/>
                    </a:cubicBezTo>
                    <a:cubicBezTo>
                      <a:pt x="140979" y="245174"/>
                      <a:pt x="156124" y="242126"/>
                      <a:pt x="172221" y="245269"/>
                    </a:cubicBezTo>
                    <a:cubicBezTo>
                      <a:pt x="197748" y="250222"/>
                      <a:pt x="217179" y="269272"/>
                      <a:pt x="222323" y="294799"/>
                    </a:cubicBezTo>
                    <a:cubicBezTo>
                      <a:pt x="230324" y="334518"/>
                      <a:pt x="201463" y="369475"/>
                      <a:pt x="163744" y="371856"/>
                    </a:cubicBezTo>
                    <a:cubicBezTo>
                      <a:pt x="162411" y="371856"/>
                      <a:pt x="161077" y="372047"/>
                      <a:pt x="159744" y="372047"/>
                    </a:cubicBezTo>
                    <a:cubicBezTo>
                      <a:pt x="148599" y="372047"/>
                      <a:pt x="138027" y="369189"/>
                      <a:pt x="128883" y="364141"/>
                    </a:cubicBezTo>
                    <a:cubicBezTo>
                      <a:pt x="128883" y="364141"/>
                      <a:pt x="158029" y="445294"/>
                      <a:pt x="158124" y="445389"/>
                    </a:cubicBezTo>
                    <a:cubicBezTo>
                      <a:pt x="168792" y="445865"/>
                      <a:pt x="179175" y="444913"/>
                      <a:pt x="189176" y="443008"/>
                    </a:cubicBezTo>
                    <a:cubicBezTo>
                      <a:pt x="254708" y="430816"/>
                      <a:pt x="304333" y="373475"/>
                      <a:pt x="304333" y="304419"/>
                    </a:cubicBezTo>
                    <a:cubicBezTo>
                      <a:pt x="304333" y="246126"/>
                      <a:pt x="268995" y="196120"/>
                      <a:pt x="218513" y="17459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91425" spcFirstLastPara="1" rIns="91425" wrap="square" tIns="45725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75" name="Google Shape;575;p45"/>
          <p:cNvGrpSpPr/>
          <p:nvPr/>
        </p:nvGrpSpPr>
        <p:grpSpPr>
          <a:xfrm>
            <a:off x="6188173" y="9875975"/>
            <a:ext cx="5911653" cy="123025"/>
            <a:chOff x="1441647" y="9875975"/>
            <a:chExt cx="5911653" cy="123025"/>
          </a:xfrm>
        </p:grpSpPr>
        <p:sp>
          <p:nvSpPr>
            <p:cNvPr id="576" name="Google Shape;576;p45"/>
            <p:cNvSpPr txBox="1"/>
            <p:nvPr/>
          </p:nvSpPr>
          <p:spPr>
            <a:xfrm>
              <a:off x="1441647" y="9875975"/>
              <a:ext cx="18903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68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pt-BR" sz="8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© </a:t>
              </a:r>
              <a:r>
                <a:rPr lang="pt-BR" sz="800">
                  <a:latin typeface="Poppins"/>
                  <a:ea typeface="Poppins"/>
                  <a:cs typeface="Poppins"/>
                  <a:sym typeface="Poppins"/>
                </a:rPr>
                <a:t>2026</a:t>
              </a:r>
              <a:r>
                <a:rPr b="0" i="0" lang="pt-BR" sz="8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· A3DATA CONSULTORIA S/A.</a:t>
              </a:r>
              <a:endPara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77" name="Google Shape;577;p45"/>
            <p:cNvSpPr txBox="1"/>
            <p:nvPr/>
          </p:nvSpPr>
          <p:spPr>
            <a:xfrm>
              <a:off x="3585947" y="9876000"/>
              <a:ext cx="24657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1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pt-BR" sz="8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LOUCOS POR DADOS APAIXONADOS POR GENTE</a:t>
              </a:r>
              <a:endPara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78" name="Google Shape;578;p45"/>
            <p:cNvSpPr txBox="1"/>
            <p:nvPr/>
          </p:nvSpPr>
          <p:spPr>
            <a:xfrm>
              <a:off x="6480000" y="9876000"/>
              <a:ext cx="8733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1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pt-BR" sz="8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A3DATA.COM.BR</a:t>
              </a:r>
              <a:endPara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