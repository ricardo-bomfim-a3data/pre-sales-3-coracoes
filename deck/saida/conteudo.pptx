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3C quer trocar a escolha manual de SKUs por recomendação algorítmica por cliente, nas três mecânicas que já usa, e quer medir o ganho com um teste A/B.
Pontos a confirmar: se o Sírius aceita SKU diferente por cliente dentro da mesma campanha.
[Sources] Especificação técnica da 3C: pedido (seções 1 e 2), requisitos de execução 4.4.1 a 4.4.3 e dashboard RNF02.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rodada tem quatro etapas. Três acontecem no ambiente da 3C (Snowflake, Airflow e BI); só o cálculo da recomendação acontece na AWS.
Pontos a confirmar: aceite da 3C para o motor rodar na AWS, já que a especificação cita Snowflake e Airflow.
[Sources] Arquitetura proposta v4, aba 2 e aba 3 (docs/01-arquitetura).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os dados e a decisão ficam no Snowflake da 3C; a AWS (N. Virgínia) só calcula as recomendações e devolve arquivos.
Pontos a confirmar: região do Snowflake da 3C; se a organização AWS da 3C bloqueia regiões fora do Brasil; integração de armazenamento do Snowflake com o S3.
[Sources] Arquitetura proposta v4 (docs/01-arquitetura), ADR-003; disponibilidade do Personalize por região (documentação AWS, consultada em 26/10/2026).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rodada semanal começa no Snowflake, passa pela AWS para o cálculo e volta ao Snowflake, onde a Inteligência Comercial decide e o teste A/B é medido.
Pontos a confirmar: quem cria a integração de armazenamento do Snowflake com o S3 (3C); onde roda o Airflow e se ele consegue listar o stage do Snowflake.
[Sources] Arquitetura proposta v4, aba 3 (Desenho 1, passos 1 a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cada mecânica usa o método que responde à sua pergunta. O Personalize cobre as três: desconto, mais por menos e a cesta de compras (combos). Na cesta, cada pedido entra como um "usuário" no Personalize (receita SIMS), que devolve os itens mais associados a cada item; o Glue calcula suporte, confiança e lift desses pares, por canal e região, com a mesma tabela de pedidos. Direção do Ricardo em 28/10/2026, com base em uma POC anterior de um cientista de dados da A3 para a mesma 3C, na qual as métricas de suporte, confiança e lift saíram do próprio Personalize, com a unidade sendo o pedido. O desenho oficial usa só o Personalize como motor.
Pontos a confirmar: o recurso do Personalize que gera as regras de cesta não está na documentação pública consultada em 27/10/2026 e o projeto da POC anterior foi apagado; por isso os testes de aceite do NBO e do MBA com pedidos reais rodam já na W1, antes de fixar o desenho; se a cesta não for confirmada, o plano é o piso em SQL e nova decisão com a 3C. O lote da SIMS devolve só a lista de itens, sem pontuação; por isso as três métricas são calculadas no Glue, e não lidas do Personalize. Também confirmar se o Personalize usa o cadastro de clientes (canal, região, área) e a janela de histórico (uma só).
[Sources] Documentação AWS: Personalize (receitas, filtros, lote, afinidade com item), consultada em 26 e 27/10/2026; relato verbal do cientista de dados da A3 (sem evidência anexada).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teste A/B 50/50 é a prova de que a recomendação melhora faturamento e margem em relação ao processo atual.
Pontos a confirmar: definição de margem (com ou sem frete e comissão); se o Sírius registra a exposição; quando a carga diária de vendas estará disponível.
[Sources] Especificação técnica da 3C (KPIs da seção 6, dashboard RNF02); arquitetura proposta v4, aba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os dados reais ficam no Snowflake; para a AWS vai só o necessário, com o código do cliente no lugar do CNPJ, acesso nominal e retenção de 30 dias.
Pontos a confirmar: posição do jurídico e do encarregado de dados; contrato de operador; se MEI e empresa individual podem ficar nas cópias.
[Sources] ADR-003 e arquitetura proposta v4 (docs/02-adrs, docs/01-arquitetura); documentação AWS de disponibilidade regional do Personalize (26/10/2026).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antes de escalar, uma POC pequena mostra se a recomendação supera um piso simples, com critério combinado antes dos resultados.
Pontos a confirmar: filial e famílias do recorte; prazo; critério de aceite offline.
[Sources] Arquitetura proposta v4, seção 4.8 e aba 7 do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projeto cabe em sete semanas, da W0 à W6, dentro dos dois meses, com folga de 0,6 semana. A W0 é a semana de alinhamentos, liberação de acessos e contrato de operador. Os testes de aceite do NBO e do MBA no Personalize rodam já na W1, com uma amostra de pedidos reais, em paralelo à carga no Snowflake e ao pipeline AWS (ambos de 2 semanas, W1 e W2). A primeira rodada, o painel e os grupos do teste correm juntos na W3; as campanhas ocupam a W4 e a W5, com o ajuste dos modelos na W4; o resultado e a transferência de conhecimento levam 2 dias no início da W6.
Equipe: arquiteto na W0 e na W1 (apoia os testes de aceite e o desenho do pipeline); engenheiro de ML por 1 mês, de W1 a W4 (engenharia de dados e parte do trabalho do Personalize); cientista de dados por 3 semanas, do meio da W3 ao fim; CLP do início ao fim.
Pontos a confirmar: acessos e uma amostra de pedidos liberados até o fim da W0; congelamento de mudanças de TI; registro de exposição pela 3C; data da carga diária de vendas; significado e custo do perfil CLP. O engenheiro de ML concentra testes, carga e pipeline na W1: o arquiteto cobre essa semana.
[Sources] Durações, equipe e W0 definidas pela A3Data (Ricardo, 28/10/2026); arquitetura proposta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rodada só roda se a 3C entregar acessos, registros e decisões nos prazos; a lista mostra o que precisamos e de quem.
Pontos a confirmar: nomes dos responsáveis (a lista usa áreas); data da carga diária.
[Sources] Listas de questionamentos e lacunas (docs/04-listas): ARQ-Q43 a ARQ-Q50, ESP-Q01 a ESP-Q09.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os dois riscos altos têm tratamento definido, e há um plano alternativo se o motor não puder sair do Snowflake.
Pontos a confirmar: aceite da 3C; posição do jurídico; se o Sírius registra a exposição.
[Sources] Arquitetura proposta v4 (seções 4.7, 4.8 e 11), revisão do especialista (docs/08, seção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quatro passos levam do alinhamento à primeira rodada com teste A/B.
Pontos a confirmar: datas, responsáveis e contatos.
[Sources] Arquitetura proposta v4, aba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Contexto: Da Escolha Manual à Recomendação por Cliente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Fonte: especificação técnica da 3 Corações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5095875" cy="4476750"/>
          </a:xfrm>
          <a:prstGeom prst="roundRect">
            <a:avLst>
              <a:gd name="adj" fmla="val 2979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5095875" cy="4429125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PEDIDO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Recomendar o SKU certo para cada cliente B2B</a:t>
            </a:r>
            <a:endParaRPr lang="en-US" sz="202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4537139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Substituir a escolha manual de SKUs nas campanhas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Recomendação por cliente (próxima melhor oferta) e por combinações de itens (cesta de compras)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Três mecânicas: combos, mais por menos e desconto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48500" y="2762250"/>
            <a:ext cx="5095875" cy="4476750"/>
          </a:xfrm>
          <a:prstGeom prst="roundRect">
            <a:avLst>
              <a:gd name="adj" fmla="val 2979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8500" y="2809875"/>
            <a:ext cx="5095875" cy="4429125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72350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7372350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É HOJE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7372350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Decisão manual, da diretoria e das filiais</a:t>
            </a:r>
            <a:endParaRPr lang="en-US" sz="2025" dirty="0"/>
          </a:p>
        </p:txBody>
      </p:sp>
      <p:sp>
        <p:nvSpPr>
          <p:cNvPr id="20" name="Text 17"/>
          <p:cNvSpPr txBox="1"/>
          <p:nvPr/>
        </p:nvSpPr>
        <p:spPr>
          <a:xfrm>
            <a:off x="7372350" y="4667250"/>
            <a:ext cx="4537139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Inteligência Comercial escolhe itens e público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preço passa por aprovação antes da campanha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Sírius e B2B executam as campanhas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2525375" y="2762250"/>
            <a:ext cx="5095875" cy="4476750"/>
          </a:xfrm>
          <a:prstGeom prst="roundRect">
            <a:avLst>
              <a:gd name="adj" fmla="val 2979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2525375" y="2809875"/>
            <a:ext cx="5095875" cy="4429125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28492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284922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A 3C ESPERA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284922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Solução na stack e na rotina do cliente</a:t>
            </a:r>
            <a:endParaRPr lang="en-US" sz="2025" dirty="0"/>
          </a:p>
        </p:txBody>
      </p:sp>
      <p:sp>
        <p:nvSpPr>
          <p:cNvPr id="26" name="Text 23"/>
          <p:cNvSpPr txBox="1"/>
          <p:nvPr/>
        </p:nvSpPr>
        <p:spPr>
          <a:xfrm>
            <a:off x="12849225" y="4667250"/>
            <a:ext cx="4537139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Dados no Snowflake e rotina semanal no Airflow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Execução manual a qualquer momento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 A/B com painel de resultado diário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571625" y="7620000"/>
            <a:ext cx="16049625" cy="1809750"/>
          </a:xfrm>
          <a:prstGeom prst="roundRect">
            <a:avLst>
              <a:gd name="adj" fmla="val 736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1895475" y="786765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ESTÁ EM JOGO</a:t>
            </a:r>
            <a:endParaRPr lang="en-US" sz="1013" dirty="0"/>
          </a:p>
        </p:txBody>
      </p:sp>
      <p:sp>
        <p:nvSpPr>
          <p:cNvPr id="29" name="Text 26"/>
          <p:cNvSpPr txBox="1"/>
          <p:nvPr/>
        </p:nvSpPr>
        <p:spPr>
          <a:xfrm>
            <a:off x="1895475" y="8115300"/>
            <a:ext cx="4177665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Provar ganho, não só recomendar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6334125" y="7867650"/>
            <a:ext cx="23812" cy="131445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1512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71512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mecânicas já ativas no Sírius e no B2B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287000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50/50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10287000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 A/B contra o processo atual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85887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1x por semana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1385887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rodada de recomendação, com execução manual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Visão Geral: Uma Rodada Semanal em Quatro Etapas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Etapas 01 e 03 a 04 ficam na 3C; a etapa 02 roda na AWS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PREPARAR · SNOWFLAKE DA 3C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Preparação da rodada</a:t>
            </a:r>
            <a:endParaRPr lang="en-US" sz="187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Lê vendas, clientes, produtos e estoque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Filtra itens sem estoque e já comprados no mês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Gera relatório de qualidade e foto versionada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574357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4357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674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60674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RECOMENDAR · AWS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60674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Motor de recomendação</a:t>
            </a:r>
            <a:endParaRPr lang="en-US" sz="1875" dirty="0"/>
          </a:p>
        </p:txBody>
      </p:sp>
      <p:sp>
        <p:nvSpPr>
          <p:cNvPr id="20" name="Text 17"/>
          <p:cNvSpPr txBox="1"/>
          <p:nvPr/>
        </p:nvSpPr>
        <p:spPr>
          <a:xfrm>
            <a:off x="606742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Personalize: próxima melhor oferta e mais por menos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 e Glue: regras de cesta para os combos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Glue prepara e formata os dados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991552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91552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2393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02393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ENTREGAR · SNOWFLAKE DA 3C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02393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Tabelas de recomendação</a:t>
            </a:r>
            <a:endParaRPr lang="en-US" sz="1875" dirty="0"/>
          </a:p>
        </p:txBody>
      </p:sp>
      <p:sp>
        <p:nvSpPr>
          <p:cNvPr id="26" name="Text 23"/>
          <p:cNvSpPr txBox="1"/>
          <p:nvPr/>
        </p:nvSpPr>
        <p:spPr>
          <a:xfrm>
            <a:off x="1023937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Recomendação da semana por cliente, item e mecânica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Histórico de todas as semanas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Visões de leitura para a Inteligência Comercial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408747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408747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44113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144113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MEDIR · SNOWFLAKE E BI DA 3C</a:t>
            </a:r>
            <a:endParaRPr lang="en-US" sz="1013" dirty="0"/>
          </a:p>
        </p:txBody>
      </p:sp>
      <p:sp>
        <p:nvSpPr>
          <p:cNvPr id="31" name="Text 28"/>
          <p:cNvSpPr txBox="1"/>
          <p:nvPr/>
        </p:nvSpPr>
        <p:spPr>
          <a:xfrm>
            <a:off x="144113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Teste A/B e painel</a:t>
            </a:r>
            <a:endParaRPr lang="en-US" sz="1875" dirty="0"/>
          </a:p>
        </p:txBody>
      </p:sp>
      <p:sp>
        <p:nvSpPr>
          <p:cNvPr id="32" name="Text 29"/>
          <p:cNvSpPr txBox="1"/>
          <p:nvPr/>
        </p:nvSpPr>
        <p:spPr>
          <a:xfrm>
            <a:off x="1441132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Grupos fixos: recebe a recomendação ou segue o processo atual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de quem recebeu a oferta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de faturamento, margem e conversão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5248275" y="4762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34" name="Shape 31"/>
          <p:cNvSpPr/>
          <p:nvPr/>
        </p:nvSpPr>
        <p:spPr>
          <a:xfrm>
            <a:off x="9420225" y="4762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35" name="Shape 32"/>
          <p:cNvSpPr/>
          <p:nvPr/>
        </p:nvSpPr>
        <p:spPr>
          <a:xfrm>
            <a:off x="13592175" y="4762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36" name="Shape 33"/>
          <p:cNvSpPr/>
          <p:nvPr/>
        </p:nvSpPr>
        <p:spPr>
          <a:xfrm>
            <a:off x="1571625" y="7524750"/>
            <a:ext cx="16049625" cy="1238250"/>
          </a:xfrm>
          <a:prstGeom prst="roundRect">
            <a:avLst>
              <a:gd name="adj" fmla="val 7692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857375" y="77152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POR QUÊ</a:t>
            </a:r>
            <a:endParaRPr lang="en-US" sz="1013" dirty="0"/>
          </a:p>
        </p:txBody>
      </p:sp>
      <p:sp>
        <p:nvSpPr>
          <p:cNvPr id="38" name="Text 35"/>
          <p:cNvSpPr txBox="1"/>
          <p:nvPr/>
        </p:nvSpPr>
        <p:spPr>
          <a:xfrm>
            <a:off x="1857375" y="7962900"/>
            <a:ext cx="157876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 dados e a decisão ficam com a 3C. A AWS só calcula as recomendações e devolve as tabelas.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Arquitetura: Dados no Snowflake, Cálculo na AWS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Região AWS: N. Virgínia (us-east-1), na conta da 3C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1571625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8A8A8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71625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81175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ORIGEM NA 3C</a:t>
            </a:r>
            <a:endParaRPr lang="en-US" sz="1013" dirty="0"/>
          </a:p>
        </p:txBody>
      </p:sp>
      <p:sp>
        <p:nvSpPr>
          <p:cNvPr id="11" name="Shape 8"/>
          <p:cNvSpPr/>
          <p:nvPr/>
        </p:nvSpPr>
        <p:spPr>
          <a:xfrm>
            <a:off x="1724025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57375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SAP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57375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Pedidos, faturamento, clientes e produtos.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24025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57375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Feature Store de Clientes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57375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Visão 360° do cliente, no Snowflake.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724025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57375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Produtos e estoque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857375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Cadastros e saldo por filial.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724025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57375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Canais e regiões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857375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Hierarquias comerciais para as aberturas.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38700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38700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48250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DA 3C</a:t>
            </a:r>
            <a:endParaRPr lang="en-US" sz="1013" dirty="0"/>
          </a:p>
        </p:txBody>
      </p:sp>
      <p:sp>
        <p:nvSpPr>
          <p:cNvPr id="26" name="Shape 23"/>
          <p:cNvSpPr/>
          <p:nvPr/>
        </p:nvSpPr>
        <p:spPr>
          <a:xfrm>
            <a:off x="4991100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24450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Preparação da rodada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124450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Filtros, relatório de qualidade e foto versionada.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991100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24450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Tabelas de recomendação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124450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Semana, histórico e regras de cesta.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991100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24450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Grupos do teste A/B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124450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Fixos por campanha.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91100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24450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Medição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124450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Faturamento, margem, sortimento e frequência por grupo.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05775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105775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315325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ORQUESTRAÇÃO</a:t>
            </a:r>
            <a:endParaRPr lang="en-US" sz="1013" dirty="0"/>
          </a:p>
        </p:txBody>
      </p:sp>
      <p:sp>
        <p:nvSpPr>
          <p:cNvPr id="41" name="Shape 38"/>
          <p:cNvSpPr/>
          <p:nvPr/>
        </p:nvSpPr>
        <p:spPr>
          <a:xfrm>
            <a:off x="8258175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91525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Airflow da 3C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391525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Agenda a rodada, carrega as tabelas e roda à mão.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258175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391525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Manifesto no S3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8391525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exportação avisa que há dados novos.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58175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91525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Step Functions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8391525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Orquestra a AWS, com tentativas e alertas.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258175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391525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Arquivo de sucesso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391525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Libera a carga no Snowflake.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11372850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11372850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1582400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AWS · MOTOR</a:t>
            </a:r>
            <a:endParaRPr lang="en-US" sz="1013" dirty="0"/>
          </a:p>
        </p:txBody>
      </p:sp>
      <p:sp>
        <p:nvSpPr>
          <p:cNvPr id="56" name="Shape 53"/>
          <p:cNvSpPr/>
          <p:nvPr/>
        </p:nvSpPr>
        <p:spPr>
          <a:xfrm>
            <a:off x="11525250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57" name="Image 1" descr="assets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3429000"/>
            <a:ext cx="419100" cy="41910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12115800" y="332422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S3</a:t>
            </a:r>
            <a:endParaRPr lang="en-US" sz="1200" dirty="0"/>
          </a:p>
        </p:txBody>
      </p:sp>
      <p:sp>
        <p:nvSpPr>
          <p:cNvPr id="59" name="Text 55"/>
          <p:cNvSpPr txBox="1"/>
          <p:nvPr/>
        </p:nvSpPr>
        <p:spPr>
          <a:xfrm>
            <a:off x="12115800" y="353377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Entrada e saída, apagadas em 30 dias.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11525250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61" name="Image 2" descr="assets/icons/g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0" y="4324350"/>
            <a:ext cx="419100" cy="419100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12115800" y="421957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Glue</a:t>
            </a:r>
            <a:endParaRPr lang="en-US" sz="1200" dirty="0"/>
          </a:p>
        </p:txBody>
      </p:sp>
      <p:sp>
        <p:nvSpPr>
          <p:cNvPr id="63" name="Text 58"/>
          <p:cNvSpPr txBox="1"/>
          <p:nvPr/>
        </p:nvSpPr>
        <p:spPr>
          <a:xfrm>
            <a:off x="12115800" y="442912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Prepara, mede a cesta e formata as saídas.</a:t>
            </a:r>
            <a:endParaRPr lang="en-US" sz="1050" dirty="0"/>
          </a:p>
        </p:txBody>
      </p:sp>
      <p:sp>
        <p:nvSpPr>
          <p:cNvPr id="64" name="Shape 59"/>
          <p:cNvSpPr/>
          <p:nvPr/>
        </p:nvSpPr>
        <p:spPr>
          <a:xfrm>
            <a:off x="11525250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65" name="Image 3" descr="assets/icons/personali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0" y="5219700"/>
            <a:ext cx="419100" cy="419100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12115800" y="511492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Personalize</a:t>
            </a:r>
            <a:endParaRPr lang="en-US" sz="1200" dirty="0"/>
          </a:p>
        </p:txBody>
      </p:sp>
      <p:sp>
        <p:nvSpPr>
          <p:cNvPr id="67" name="Text 61"/>
          <p:cNvSpPr txBox="1"/>
          <p:nvPr/>
        </p:nvSpPr>
        <p:spPr>
          <a:xfrm>
            <a:off x="12115800" y="532447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Melhor oferta, mais por menos e cesta.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11525250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69" name="Image 4" descr="assets/icons/cloudtr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0" y="6115050"/>
            <a:ext cx="419100" cy="419100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12115800" y="601027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CloudTrail</a:t>
            </a:r>
            <a:endParaRPr lang="en-US" sz="1200" dirty="0"/>
          </a:p>
        </p:txBody>
      </p:sp>
      <p:sp>
        <p:nvSpPr>
          <p:cNvPr id="71" name="Text 64"/>
          <p:cNvSpPr txBox="1"/>
          <p:nvPr/>
        </p:nvSpPr>
        <p:spPr>
          <a:xfrm>
            <a:off x="12115800" y="621982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Registra quem acessou os dados.</a:t>
            </a:r>
            <a:endParaRPr lang="en-US" sz="1050" dirty="0"/>
          </a:p>
        </p:txBody>
      </p:sp>
      <p:sp>
        <p:nvSpPr>
          <p:cNvPr id="72" name="Shape 65"/>
          <p:cNvSpPr/>
          <p:nvPr/>
        </p:nvSpPr>
        <p:spPr>
          <a:xfrm>
            <a:off x="14639925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73" name="Shape 66"/>
          <p:cNvSpPr/>
          <p:nvPr/>
        </p:nvSpPr>
        <p:spPr>
          <a:xfrm>
            <a:off x="14639925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14849475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USO NA 3C</a:t>
            </a:r>
            <a:endParaRPr lang="en-US" sz="1013" dirty="0"/>
          </a:p>
        </p:txBody>
      </p:sp>
      <p:sp>
        <p:nvSpPr>
          <p:cNvPr id="75" name="Shape 68"/>
          <p:cNvSpPr/>
          <p:nvPr/>
        </p:nvSpPr>
        <p:spPr>
          <a:xfrm>
            <a:off x="14792325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14925675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Inteligência Comercial</a:t>
            </a:r>
            <a:endParaRPr lang="en-US" sz="1200" dirty="0"/>
          </a:p>
        </p:txBody>
      </p:sp>
      <p:sp>
        <p:nvSpPr>
          <p:cNvPr id="77" name="Text 70"/>
          <p:cNvSpPr txBox="1"/>
          <p:nvPr/>
        </p:nvSpPr>
        <p:spPr>
          <a:xfrm>
            <a:off x="14925675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Consulta a recomendação e aprova o preço.</a:t>
            </a:r>
            <a:endParaRPr lang="en-US" sz="1050" dirty="0"/>
          </a:p>
        </p:txBody>
      </p:sp>
      <p:sp>
        <p:nvSpPr>
          <p:cNvPr id="78" name="Shape 71"/>
          <p:cNvSpPr/>
          <p:nvPr/>
        </p:nvSpPr>
        <p:spPr>
          <a:xfrm>
            <a:off x="14792325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14925675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Sírius e B2B</a:t>
            </a:r>
            <a:endParaRPr lang="en-US" sz="1200" dirty="0"/>
          </a:p>
        </p:txBody>
      </p:sp>
      <p:sp>
        <p:nvSpPr>
          <p:cNvPr id="80" name="Text 73"/>
          <p:cNvSpPr txBox="1"/>
          <p:nvPr/>
        </p:nvSpPr>
        <p:spPr>
          <a:xfrm>
            <a:off x="14925675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Ativam combos, mais por menos e desconto.</a:t>
            </a:r>
            <a:endParaRPr lang="en-US" sz="1050" dirty="0"/>
          </a:p>
        </p:txBody>
      </p:sp>
      <p:sp>
        <p:nvSpPr>
          <p:cNvPr id="81" name="Shape 74"/>
          <p:cNvSpPr/>
          <p:nvPr/>
        </p:nvSpPr>
        <p:spPr>
          <a:xfrm>
            <a:off x="14792325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14925675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83" name="Text 76"/>
          <p:cNvSpPr txBox="1"/>
          <p:nvPr/>
        </p:nvSpPr>
        <p:spPr>
          <a:xfrm>
            <a:off x="14925675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das campanhas.</a:t>
            </a:r>
            <a:endParaRPr lang="en-US" sz="1050" dirty="0"/>
          </a:p>
        </p:txBody>
      </p:sp>
      <p:sp>
        <p:nvSpPr>
          <p:cNvPr id="84" name="Shape 77"/>
          <p:cNvSpPr/>
          <p:nvPr/>
        </p:nvSpPr>
        <p:spPr>
          <a:xfrm>
            <a:off x="14792325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14925675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BI da 3C</a:t>
            </a:r>
            <a:endParaRPr lang="en-US" sz="1200" dirty="0"/>
          </a:p>
        </p:txBody>
      </p:sp>
      <p:sp>
        <p:nvSpPr>
          <p:cNvPr id="86" name="Text 79"/>
          <p:cNvSpPr txBox="1"/>
          <p:nvPr/>
        </p:nvSpPr>
        <p:spPr>
          <a:xfrm>
            <a:off x="14925675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do teste A/B.</a:t>
            </a:r>
            <a:endParaRPr lang="en-US" sz="1050" dirty="0"/>
          </a:p>
        </p:txBody>
      </p:sp>
      <p:sp>
        <p:nvSpPr>
          <p:cNvPr id="87" name="Shape 80"/>
          <p:cNvSpPr/>
          <p:nvPr/>
        </p:nvSpPr>
        <p:spPr>
          <a:xfrm>
            <a:off x="4581525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8" name="Shape 81"/>
          <p:cNvSpPr/>
          <p:nvPr/>
        </p:nvSpPr>
        <p:spPr>
          <a:xfrm>
            <a:off x="7848600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9" name="Shape 82"/>
          <p:cNvSpPr/>
          <p:nvPr/>
        </p:nvSpPr>
        <p:spPr>
          <a:xfrm>
            <a:off x="11115675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0" name="Shape 83"/>
          <p:cNvSpPr/>
          <p:nvPr/>
        </p:nvSpPr>
        <p:spPr>
          <a:xfrm>
            <a:off x="14382750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1" name="Shape 84"/>
          <p:cNvSpPr/>
          <p:nvPr/>
        </p:nvSpPr>
        <p:spPr>
          <a:xfrm>
            <a:off x="1571625" y="7096125"/>
            <a:ext cx="16049625" cy="2333625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2" name="Text 85"/>
          <p:cNvSpPr txBox="1"/>
          <p:nvPr/>
        </p:nvSpPr>
        <p:spPr>
          <a:xfrm>
            <a:off x="1895475" y="7343775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GOVERNANÇA</a:t>
            </a:r>
            <a:endParaRPr lang="en-US" sz="1013" dirty="0"/>
          </a:p>
        </p:txBody>
      </p:sp>
      <p:sp>
        <p:nvSpPr>
          <p:cNvPr id="93" name="Text 86"/>
          <p:cNvSpPr txBox="1"/>
          <p:nvPr/>
        </p:nvSpPr>
        <p:spPr>
          <a:xfrm>
            <a:off x="1895475" y="7591425"/>
            <a:ext cx="4177665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Seguro por padrão e sob controle da 3C</a:t>
            </a:r>
            <a:endParaRPr lang="en-US" sz="1950" dirty="0"/>
          </a:p>
        </p:txBody>
      </p:sp>
      <p:sp>
        <p:nvSpPr>
          <p:cNvPr id="94" name="Shape 87"/>
          <p:cNvSpPr/>
          <p:nvPr/>
        </p:nvSpPr>
        <p:spPr>
          <a:xfrm>
            <a:off x="6334125" y="7343775"/>
            <a:ext cx="23812" cy="1838325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5" name="Text 88"/>
          <p:cNvSpPr txBox="1"/>
          <p:nvPr/>
        </p:nvSpPr>
        <p:spPr>
          <a:xfrm>
            <a:off x="6715125" y="73437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30 dias</a:t>
            </a:r>
            <a:endParaRPr lang="en-US" sz="2400" dirty="0"/>
          </a:p>
        </p:txBody>
      </p:sp>
      <p:sp>
        <p:nvSpPr>
          <p:cNvPr id="96" name="Text 89"/>
          <p:cNvSpPr txBox="1"/>
          <p:nvPr/>
        </p:nvSpPr>
        <p:spPr>
          <a:xfrm>
            <a:off x="6715125" y="7839075"/>
            <a:ext cx="34101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retenção dos arquivos na AWS; o histórico fica no Snowflake</a:t>
            </a:r>
            <a:endParaRPr lang="en-US" sz="1200" dirty="0"/>
          </a:p>
        </p:txBody>
      </p:sp>
      <p:sp>
        <p:nvSpPr>
          <p:cNvPr id="97" name="Text 90"/>
          <p:cNvSpPr txBox="1"/>
          <p:nvPr/>
        </p:nvSpPr>
        <p:spPr>
          <a:xfrm>
            <a:off x="10287000" y="73437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Código do cliente</a:t>
            </a:r>
            <a:endParaRPr lang="en-US" sz="2400" dirty="0"/>
          </a:p>
        </p:txBody>
      </p:sp>
      <p:sp>
        <p:nvSpPr>
          <p:cNvPr id="98" name="Text 91"/>
          <p:cNvSpPr txBox="1"/>
          <p:nvPr/>
        </p:nvSpPr>
        <p:spPr>
          <a:xfrm>
            <a:off x="10287000" y="7839075"/>
            <a:ext cx="34101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lugar do CNPJ nas cópias para a AWS</a:t>
            </a:r>
            <a:endParaRPr lang="en-US" sz="1200" dirty="0"/>
          </a:p>
        </p:txBody>
      </p:sp>
      <p:sp>
        <p:nvSpPr>
          <p:cNvPr id="99" name="Text 92"/>
          <p:cNvSpPr txBox="1"/>
          <p:nvPr/>
        </p:nvSpPr>
        <p:spPr>
          <a:xfrm>
            <a:off x="13858875" y="73437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Chave da 3C</a:t>
            </a:r>
            <a:endParaRPr lang="en-US" sz="2400" dirty="0"/>
          </a:p>
        </p:txBody>
      </p:sp>
      <p:sp>
        <p:nvSpPr>
          <p:cNvPr id="100" name="Text 93"/>
          <p:cNvSpPr txBox="1"/>
          <p:nvPr/>
        </p:nvSpPr>
        <p:spPr>
          <a:xfrm>
            <a:off x="13858875" y="7839075"/>
            <a:ext cx="34101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criptografia administrada pela 3C; acesso nominal e registrado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Fluxo: Da Carga do SAP ao Painel do Teste A/B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Numeração igual à do diagrama de arquitetura (passos 1 a 14)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1571625" y="2714625"/>
            <a:ext cx="16049625" cy="2047875"/>
          </a:xfrm>
          <a:prstGeom prst="roundRect">
            <a:avLst>
              <a:gd name="adj" fmla="val 6512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71625" y="2762250"/>
            <a:ext cx="16049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00225" y="3000375"/>
            <a:ext cx="1360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NA 3C</a:t>
            </a:r>
            <a:endParaRPr lang="en-US" sz="1013" dirty="0"/>
          </a:p>
        </p:txBody>
      </p:sp>
      <p:sp>
        <p:nvSpPr>
          <p:cNvPr id="11" name="Text 8"/>
          <p:cNvSpPr txBox="1"/>
          <p:nvPr/>
        </p:nvSpPr>
        <p:spPr>
          <a:xfrm>
            <a:off x="1800225" y="3228975"/>
            <a:ext cx="13601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e Airflow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571625" y="5095875"/>
            <a:ext cx="16049625" cy="2047875"/>
          </a:xfrm>
          <a:prstGeom prst="roundRect">
            <a:avLst>
              <a:gd name="adj" fmla="val 651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71625" y="5143500"/>
            <a:ext cx="16049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800225" y="5381625"/>
            <a:ext cx="1360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NA AWS</a:t>
            </a:r>
            <a:endParaRPr lang="en-US" sz="1013" dirty="0"/>
          </a:p>
        </p:txBody>
      </p:sp>
      <p:sp>
        <p:nvSpPr>
          <p:cNvPr id="15" name="Text 12"/>
          <p:cNvSpPr txBox="1"/>
          <p:nvPr/>
        </p:nvSpPr>
        <p:spPr>
          <a:xfrm>
            <a:off x="1800225" y="5610225"/>
            <a:ext cx="13601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Motor de recomendação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71625" y="7477125"/>
            <a:ext cx="16049625" cy="2047875"/>
          </a:xfrm>
          <a:prstGeom prst="roundRect">
            <a:avLst>
              <a:gd name="adj" fmla="val 6512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571625" y="7524750"/>
            <a:ext cx="16049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800225" y="7762875"/>
            <a:ext cx="1360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NA 3C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1800225" y="7991475"/>
            <a:ext cx="13601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e canais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6886575" y="30003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00875" y="30003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22" name="Shape 19"/>
          <p:cNvSpPr/>
          <p:nvPr/>
        </p:nvSpPr>
        <p:spPr>
          <a:xfrm>
            <a:off x="7038975" y="31527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38975" y="31527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1013" dirty="0"/>
          </a:p>
        </p:txBody>
      </p:sp>
      <p:sp>
        <p:nvSpPr>
          <p:cNvPr id="24" name="Text 21"/>
          <p:cNvSpPr txBox="1"/>
          <p:nvPr/>
        </p:nvSpPr>
        <p:spPr>
          <a:xfrm>
            <a:off x="7038975" y="34956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Carga do SAP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38975" y="37814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 e cadastros chegam ao Snowflake: semanal hoje, diária quando a 3C entregar a nova carga.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10582275" y="30003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696575" y="30003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28" name="Shape 25"/>
          <p:cNvSpPr/>
          <p:nvPr/>
        </p:nvSpPr>
        <p:spPr>
          <a:xfrm>
            <a:off x="10734675" y="315277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734675" y="3152775"/>
            <a:ext cx="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02·03</a:t>
            </a:r>
            <a:endParaRPr lang="en-US" sz="1013" dirty="0"/>
          </a:p>
        </p:txBody>
      </p:sp>
      <p:sp>
        <p:nvSpPr>
          <p:cNvPr id="30" name="Text 27"/>
          <p:cNvSpPr txBox="1"/>
          <p:nvPr/>
        </p:nvSpPr>
        <p:spPr>
          <a:xfrm>
            <a:off x="10734675" y="34956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Rodada e preparo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0734675" y="37814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Airflow dispara; o Snowflake lê e prepara os dados da semana.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14277975" y="30003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392275" y="30003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34" name="Shape 31"/>
          <p:cNvSpPr/>
          <p:nvPr/>
        </p:nvSpPr>
        <p:spPr>
          <a:xfrm>
            <a:off x="14430375" y="31527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4430375" y="31527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1013" dirty="0"/>
          </a:p>
        </p:txBody>
      </p:sp>
      <p:sp>
        <p:nvSpPr>
          <p:cNvPr id="36" name="Text 33"/>
          <p:cNvSpPr txBox="1"/>
          <p:nvPr/>
        </p:nvSpPr>
        <p:spPr>
          <a:xfrm>
            <a:off x="14430375" y="34956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Exporta para o S3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4430375" y="37814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Visões de exportação e manifesto vão ao S3 na conta da 3C.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142779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43922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0" name="Shape 37"/>
          <p:cNvSpPr/>
          <p:nvPr/>
        </p:nvSpPr>
        <p:spPr>
          <a:xfrm>
            <a:off x="14430375" y="553402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4430375" y="553402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05</a:t>
            </a:r>
            <a:endParaRPr lang="en-US" sz="1013" dirty="0"/>
          </a:p>
        </p:txBody>
      </p:sp>
      <p:sp>
        <p:nvSpPr>
          <p:cNvPr id="42" name="Text 39"/>
          <p:cNvSpPr txBox="1"/>
          <p:nvPr/>
        </p:nvSpPr>
        <p:spPr>
          <a:xfrm>
            <a:off x="144303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Manifesto aciona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44303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manifesto dispara o Step Functions; o Glue prepara os arquivos.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105822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6965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6" name="Shape 43"/>
          <p:cNvSpPr/>
          <p:nvPr/>
        </p:nvSpPr>
        <p:spPr>
          <a:xfrm>
            <a:off x="10734675" y="553402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0734675" y="553402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06</a:t>
            </a:r>
            <a:endParaRPr lang="en-US" sz="1013" dirty="0"/>
          </a:p>
        </p:txBody>
      </p:sp>
      <p:sp>
        <p:nvSpPr>
          <p:cNvPr id="48" name="Text 45"/>
          <p:cNvSpPr txBox="1"/>
          <p:nvPr/>
        </p:nvSpPr>
        <p:spPr>
          <a:xfrm>
            <a:off x="107346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Personalize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07346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Próxima melhor oferta e mais por menos, em lote.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68865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008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52" name="Shape 49"/>
          <p:cNvSpPr/>
          <p:nvPr/>
        </p:nvSpPr>
        <p:spPr>
          <a:xfrm>
            <a:off x="7038975" y="553402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038975" y="553402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07</a:t>
            </a:r>
            <a:endParaRPr lang="en-US" sz="1013" dirty="0"/>
          </a:p>
        </p:txBody>
      </p:sp>
      <p:sp>
        <p:nvSpPr>
          <p:cNvPr id="54" name="Text 51"/>
          <p:cNvSpPr txBox="1"/>
          <p:nvPr/>
        </p:nvSpPr>
        <p:spPr>
          <a:xfrm>
            <a:off x="70389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Personalize · cesta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70389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Pares do mesmo pedido (SIMS); o Glue calcula suporte, confiança e lift.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31908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3051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58" name="Shape 55"/>
          <p:cNvSpPr/>
          <p:nvPr/>
        </p:nvSpPr>
        <p:spPr>
          <a:xfrm>
            <a:off x="3343275" y="553402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3343275" y="5534025"/>
            <a:ext cx="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08·09</a:t>
            </a:r>
            <a:endParaRPr lang="en-US" sz="1013" dirty="0"/>
          </a:p>
        </p:txBody>
      </p:sp>
      <p:sp>
        <p:nvSpPr>
          <p:cNvPr id="60" name="Text 57"/>
          <p:cNvSpPr txBox="1"/>
          <p:nvPr/>
        </p:nvSpPr>
        <p:spPr>
          <a:xfrm>
            <a:off x="33432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Glue grava a saída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33432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Junta as saídas, aplica o filtro final e grava o arquivo de sucesso.</a:t>
            </a:r>
            <a:endParaRPr lang="en-US" sz="1125" dirty="0"/>
          </a:p>
        </p:txBody>
      </p:sp>
      <p:sp>
        <p:nvSpPr>
          <p:cNvPr id="62" name="Shape 59"/>
          <p:cNvSpPr/>
          <p:nvPr/>
        </p:nvSpPr>
        <p:spPr>
          <a:xfrm>
            <a:off x="31908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3051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64" name="Shape 61"/>
          <p:cNvSpPr/>
          <p:nvPr/>
        </p:nvSpPr>
        <p:spPr>
          <a:xfrm>
            <a:off x="3343275" y="79152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3343275" y="79152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10</a:t>
            </a:r>
            <a:endParaRPr lang="en-US" sz="1013" dirty="0"/>
          </a:p>
        </p:txBody>
      </p:sp>
      <p:sp>
        <p:nvSpPr>
          <p:cNvPr id="66" name="Text 63"/>
          <p:cNvSpPr txBox="1"/>
          <p:nvPr/>
        </p:nvSpPr>
        <p:spPr>
          <a:xfrm>
            <a:off x="33432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Carga no Snowflake</a:t>
            </a:r>
            <a:endParaRPr lang="en-US" sz="1500" dirty="0"/>
          </a:p>
        </p:txBody>
      </p:sp>
      <p:sp>
        <p:nvSpPr>
          <p:cNvPr id="67" name="Text 64"/>
          <p:cNvSpPr txBox="1"/>
          <p:nvPr/>
        </p:nvSpPr>
        <p:spPr>
          <a:xfrm>
            <a:off x="33432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Airflow vê o arquivo de sucesso e carrega as tabelas.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68865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0008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70" name="Shape 67"/>
          <p:cNvSpPr/>
          <p:nvPr/>
        </p:nvSpPr>
        <p:spPr>
          <a:xfrm>
            <a:off x="7038975" y="79152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038975" y="79152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11</a:t>
            </a:r>
            <a:endParaRPr lang="en-US" sz="1013" dirty="0"/>
          </a:p>
        </p:txBody>
      </p:sp>
      <p:sp>
        <p:nvSpPr>
          <p:cNvPr id="72" name="Text 69"/>
          <p:cNvSpPr txBox="1"/>
          <p:nvPr/>
        </p:nvSpPr>
        <p:spPr>
          <a:xfrm>
            <a:off x="70389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Consulta e aprova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70389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Inteligência Comercial consulta, escolhe e aprova o preço.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105822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6965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76" name="Shape 73"/>
          <p:cNvSpPr/>
          <p:nvPr/>
        </p:nvSpPr>
        <p:spPr>
          <a:xfrm>
            <a:off x="10734675" y="791527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10734675" y="7915275"/>
            <a:ext cx="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12·13</a:t>
            </a:r>
            <a:endParaRPr lang="en-US" sz="1013" dirty="0"/>
          </a:p>
        </p:txBody>
      </p:sp>
      <p:sp>
        <p:nvSpPr>
          <p:cNvPr id="78" name="Text 75"/>
          <p:cNvSpPr txBox="1"/>
          <p:nvPr/>
        </p:nvSpPr>
        <p:spPr>
          <a:xfrm>
            <a:off x="107346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Campanha e exposição</a:t>
            </a:r>
            <a:endParaRPr lang="en-US" sz="1500" dirty="0"/>
          </a:p>
        </p:txBody>
      </p:sp>
      <p:sp>
        <p:nvSpPr>
          <p:cNvPr id="79" name="Text 76"/>
          <p:cNvSpPr txBox="1"/>
          <p:nvPr/>
        </p:nvSpPr>
        <p:spPr>
          <a:xfrm>
            <a:off x="107346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 canais ativam a oferta e registram quem a recebeu.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142779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43922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82" name="Shape 79"/>
          <p:cNvSpPr/>
          <p:nvPr/>
        </p:nvSpPr>
        <p:spPr>
          <a:xfrm>
            <a:off x="14430375" y="79152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14430375" y="79152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14</a:t>
            </a:r>
            <a:endParaRPr lang="en-US" sz="1013" dirty="0"/>
          </a:p>
        </p:txBody>
      </p:sp>
      <p:sp>
        <p:nvSpPr>
          <p:cNvPr id="84" name="Text 81"/>
          <p:cNvSpPr txBox="1"/>
          <p:nvPr/>
        </p:nvSpPr>
        <p:spPr>
          <a:xfrm>
            <a:off x="144303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Medição e painel</a:t>
            </a:r>
            <a:endParaRPr lang="en-US" sz="1500" dirty="0"/>
          </a:p>
        </p:txBody>
      </p:sp>
      <p:sp>
        <p:nvSpPr>
          <p:cNvPr id="85" name="Text 82"/>
          <p:cNvSpPr txBox="1"/>
          <p:nvPr/>
        </p:nvSpPr>
        <p:spPr>
          <a:xfrm>
            <a:off x="144303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teste A/B é medido e vai ao painel do BI da 3C.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10134600" y="35909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7" name="Shape 84"/>
          <p:cNvSpPr/>
          <p:nvPr/>
        </p:nvSpPr>
        <p:spPr>
          <a:xfrm>
            <a:off x="13830300" y="35909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8" name="Shape 85"/>
          <p:cNvSpPr/>
          <p:nvPr/>
        </p:nvSpPr>
        <p:spPr>
          <a:xfrm>
            <a:off x="13830300" y="5972175"/>
            <a:ext cx="342900" cy="266700"/>
          </a:xfrm>
          <a:prstGeom prst="leftArrow">
            <a:avLst/>
          </a:prstGeom>
          <a:solidFill>
            <a:srgbClr val="0033FF"/>
          </a:solidFill>
          <a:ln/>
        </p:spPr>
      </p:sp>
      <p:sp>
        <p:nvSpPr>
          <p:cNvPr id="89" name="Shape 86"/>
          <p:cNvSpPr/>
          <p:nvPr/>
        </p:nvSpPr>
        <p:spPr>
          <a:xfrm>
            <a:off x="10134600" y="5972175"/>
            <a:ext cx="342900" cy="266700"/>
          </a:xfrm>
          <a:prstGeom prst="leftArrow">
            <a:avLst/>
          </a:prstGeom>
          <a:solidFill>
            <a:srgbClr val="0033FF"/>
          </a:solidFill>
          <a:ln/>
        </p:spPr>
      </p:sp>
      <p:sp>
        <p:nvSpPr>
          <p:cNvPr id="90" name="Shape 87"/>
          <p:cNvSpPr/>
          <p:nvPr/>
        </p:nvSpPr>
        <p:spPr>
          <a:xfrm>
            <a:off x="6438900" y="5972175"/>
            <a:ext cx="342900" cy="266700"/>
          </a:xfrm>
          <a:prstGeom prst="leftArrow">
            <a:avLst/>
          </a:prstGeom>
          <a:solidFill>
            <a:srgbClr val="0033FF"/>
          </a:solidFill>
          <a:ln/>
        </p:spPr>
      </p:sp>
      <p:sp>
        <p:nvSpPr>
          <p:cNvPr id="91" name="Shape 88"/>
          <p:cNvSpPr/>
          <p:nvPr/>
        </p:nvSpPr>
        <p:spPr>
          <a:xfrm>
            <a:off x="6438900" y="83534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2" name="Shape 89"/>
          <p:cNvSpPr/>
          <p:nvPr/>
        </p:nvSpPr>
        <p:spPr>
          <a:xfrm>
            <a:off x="10134600" y="83534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3" name="Shape 90"/>
          <p:cNvSpPr/>
          <p:nvPr/>
        </p:nvSpPr>
        <p:spPr>
          <a:xfrm>
            <a:off x="13830300" y="83534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4" name="Shape 91"/>
          <p:cNvSpPr/>
          <p:nvPr/>
        </p:nvSpPr>
        <p:spPr>
          <a:xfrm>
            <a:off x="15687675" y="4781550"/>
            <a:ext cx="323850" cy="295275"/>
          </a:xfrm>
          <a:prstGeom prst="downArrow">
            <a:avLst/>
          </a:prstGeom>
          <a:solidFill>
            <a:srgbClr val="0033FF"/>
          </a:solidFill>
          <a:ln/>
        </p:spPr>
      </p:sp>
      <p:sp>
        <p:nvSpPr>
          <p:cNvPr id="95" name="Shape 92"/>
          <p:cNvSpPr/>
          <p:nvPr/>
        </p:nvSpPr>
        <p:spPr>
          <a:xfrm>
            <a:off x="4600575" y="7162800"/>
            <a:ext cx="323850" cy="295275"/>
          </a:xfrm>
          <a:prstGeom prst="downArrow">
            <a:avLst/>
          </a:prstGeom>
          <a:solidFill>
            <a:srgbClr val="0033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Motor de Recomendação: Cada Mecânica Tem Seu Método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Preços e limites dos serviços conferidos na documentação AWS em 27/10/2026</a:t>
            </a:r>
            <a:endParaRPr lang="en-US" sz="1013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71625" y="2762250"/>
          <a:ext cx="16049625" cy="914400"/>
        </p:xfrm>
        <a:graphic>
          <a:graphicData uri="http://schemas.openxmlformats.org/drawingml/2006/table">
            <a:tbl>
              <a:tblPr/>
              <a:tblGrid>
                <a:gridCol w="2381250"/>
                <a:gridCol w="3810000"/>
                <a:gridCol w="4191000"/>
                <a:gridCol w="2667000"/>
                <a:gridCol w="30003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Mecânica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Pergunta que responde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Como calculamos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Serviço AWS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entra na tabela semanal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Desconto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Qual item oferecer a cada cliente?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Próxima melhor oferta: nota por cliente e item, separando itens novos e recompra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Amazon Personalize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Itens ranqueados por cliente, com nota e motivo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Mais por menos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Quais clientes devem receber a oferta de um item?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Afinidade com o item: clientes mais propensos ao SKU em oferta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Amazon Personalize (afinidade com item)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Clientes ranqueados por item em oferta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Combos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Quais itens comprados juntos formam um combo?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Pares de itens do mesmo pedido, ranqueados pelo Personalize; suporte, confiança e lift por canal e região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Amazon Personalize (SIMS) e AWS Glue (métricas)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Pares e trios de itens com as métricas da regra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As três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vale para todas?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Filtros de estoque, de itens já comprados no mês, de canal e de região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AWS Glue (apoio)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Tabela única com a mecânica, o grupo do teste e a vigência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571625" y="8096250"/>
            <a:ext cx="16049625" cy="1143000"/>
          </a:xfrm>
          <a:prstGeom prst="roundRect">
            <a:avLst>
              <a:gd name="adj" fmla="val 8333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57375" y="82867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REGRA DE NEGÓCIO</a:t>
            </a:r>
            <a:endParaRPr lang="en-US" sz="1013" dirty="0"/>
          </a:p>
        </p:txBody>
      </p:sp>
      <p:sp>
        <p:nvSpPr>
          <p:cNvPr id="11" name="Text 7"/>
          <p:cNvSpPr txBox="1"/>
          <p:nvPr/>
        </p:nvSpPr>
        <p:spPr>
          <a:xfrm>
            <a:off x="1857375" y="8534400"/>
            <a:ext cx="157876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Estoque e itens já comprados no mês são filtrados na preparação e conferidos de novo na saída, antes de publicar.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Teste A/B: Prova do Ganho em Faturamento e Margem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Fonte: especificação técnica da 3 Corações (KPIs e dashboard)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7905750" cy="4762500"/>
          </a:xfrm>
          <a:prstGeom prst="roundRect">
            <a:avLst>
              <a:gd name="adj" fmla="val 2800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7905750" cy="4714875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0990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O TESTE FUNCIONA</a:t>
            </a:r>
            <a:endParaRPr lang="en-US" sz="1013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39090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667000" y="340995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Grupos fixos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667000" y="371475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 cliente fica em "recebe a recomendação" ou "segue o processo atual", por campanha.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1895475" y="440055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667000" y="441960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Oferta ativada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2667000" y="472440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Sírius e B2B ativam a campanha para o grupo de teste, depois da aprovação de preço.</a:t>
            </a:r>
            <a:endParaRPr lang="en-US" sz="1275" dirty="0"/>
          </a:p>
        </p:txBody>
      </p:sp>
      <p:sp>
        <p:nvSpPr>
          <p:cNvPr id="18" name="Text 15"/>
          <p:cNvSpPr txBox="1"/>
          <p:nvPr/>
        </p:nvSpPr>
        <p:spPr>
          <a:xfrm>
            <a:off x="1895475" y="541020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2667000" y="542925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Exposição registrada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2667000" y="573405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Fica gravado quem recebeu qual oferta, por cliente, item, canal e data.</a:t>
            </a:r>
            <a:endParaRPr lang="en-US" sz="1275" dirty="0"/>
          </a:p>
        </p:txBody>
      </p:sp>
      <p:sp>
        <p:nvSpPr>
          <p:cNvPr id="21" name="Text 18"/>
          <p:cNvSpPr txBox="1"/>
          <p:nvPr/>
        </p:nvSpPr>
        <p:spPr>
          <a:xfrm>
            <a:off x="1895475" y="641985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2667000" y="643890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Medição por grupo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2667000" y="674370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Vendas, grupos e exposição se cruzam e alimentam o painel.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9715500" y="2762250"/>
            <a:ext cx="7905750" cy="4762500"/>
          </a:xfrm>
          <a:prstGeom prst="roundRect">
            <a:avLst>
              <a:gd name="adj" fmla="val 2800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715500" y="2809875"/>
            <a:ext cx="7905750" cy="4714875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039350" y="300990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MEDIMOS EM CADA GRUPO</a:t>
            </a:r>
            <a:endParaRPr lang="en-US" sz="1013" dirty="0"/>
          </a:p>
        </p:txBody>
      </p:sp>
      <p:sp>
        <p:nvSpPr>
          <p:cNvPr id="27" name="Shape 24"/>
          <p:cNvSpPr/>
          <p:nvPr/>
        </p:nvSpPr>
        <p:spPr>
          <a:xfrm>
            <a:off x="10039350" y="34290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039350" y="34290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FATURAMENTO</a:t>
            </a:r>
            <a:endParaRPr lang="en-US" sz="1013" dirty="0"/>
          </a:p>
        </p:txBody>
      </p:sp>
      <p:sp>
        <p:nvSpPr>
          <p:cNvPr id="29" name="Text 26"/>
          <p:cNvSpPr txBox="1"/>
          <p:nvPr/>
        </p:nvSpPr>
        <p:spPr>
          <a:xfrm>
            <a:off x="12249150" y="34861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receita por cliente na vigência da campanha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0039350" y="42291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039350" y="42291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MARGEM</a:t>
            </a:r>
            <a:endParaRPr lang="en-US" sz="1013" dirty="0"/>
          </a:p>
        </p:txBody>
      </p:sp>
      <p:sp>
        <p:nvSpPr>
          <p:cNvPr id="32" name="Text 29"/>
          <p:cNvSpPr txBox="1"/>
          <p:nvPr/>
        </p:nvSpPr>
        <p:spPr>
          <a:xfrm>
            <a:off x="12249150" y="42862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margem de contribuição por cliente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10039350" y="50292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0039350" y="50292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SORTIMENTO</a:t>
            </a:r>
            <a:endParaRPr lang="en-US" sz="1013" dirty="0"/>
          </a:p>
        </p:txBody>
      </p:sp>
      <p:sp>
        <p:nvSpPr>
          <p:cNvPr id="35" name="Text 32"/>
          <p:cNvSpPr txBox="1"/>
          <p:nvPr/>
        </p:nvSpPr>
        <p:spPr>
          <a:xfrm>
            <a:off x="12249150" y="50863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SKUs distintos pedidos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10039350" y="58293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039350" y="58293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FREQUÊNCIA</a:t>
            </a:r>
            <a:endParaRPr lang="en-US" sz="1013" dirty="0"/>
          </a:p>
        </p:txBody>
      </p:sp>
      <p:sp>
        <p:nvSpPr>
          <p:cNvPr id="38" name="Text 35"/>
          <p:cNvSpPr txBox="1"/>
          <p:nvPr/>
        </p:nvSpPr>
        <p:spPr>
          <a:xfrm>
            <a:off x="12249150" y="58864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 distintos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0039350" y="66294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039350" y="66294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CONVERSÃO</a:t>
            </a:r>
            <a:endParaRPr lang="en-US" sz="1013" dirty="0"/>
          </a:p>
        </p:txBody>
      </p:sp>
      <p:sp>
        <p:nvSpPr>
          <p:cNvPr id="41" name="Text 38"/>
          <p:cNvSpPr txBox="1"/>
          <p:nvPr/>
        </p:nvSpPr>
        <p:spPr>
          <a:xfrm>
            <a:off x="12249150" y="66865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compra do item ou combo ofertado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571625" y="7905750"/>
            <a:ext cx="16049625" cy="1428750"/>
          </a:xfrm>
          <a:prstGeom prst="roundRect">
            <a:avLst>
              <a:gd name="adj" fmla="val 6667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857375" y="80962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DEPENDÊNCIA DA 3C</a:t>
            </a:r>
            <a:endParaRPr lang="en-US" sz="1013" dirty="0"/>
          </a:p>
        </p:txBody>
      </p:sp>
      <p:sp>
        <p:nvSpPr>
          <p:cNvPr id="44" name="Text 41"/>
          <p:cNvSpPr txBox="1"/>
          <p:nvPr/>
        </p:nvSpPr>
        <p:spPr>
          <a:xfrm>
            <a:off x="1857375" y="8343900"/>
            <a:ext cx="157876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Registrar quem recebeu a oferta no Sírius, no B2B e no Salesforce. Enquanto a carga de vendas for semanal, o painel de resultado também atualiza toda semana.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Dados e Segurança: Acesso Rigoroso e Retenção Curta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Detalhe na aba 5 do diagrama de arquitetura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FICA ONDE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guarda, AWS calcula</a:t>
            </a:r>
            <a:endParaRPr lang="en-US" sz="187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Snowflake: dados, histórico, grupos e medição, sem prazo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AWS: arquivos de entrada e saída por 30 dias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Métricas, versões de modelo e logs sem dado pessoal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56483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483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721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59721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SAI DO SNOWFLAKE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59721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Só o necessário para recomendar</a:t>
            </a:r>
            <a:endParaRPr lang="en-US" sz="1875" dirty="0"/>
          </a:p>
        </p:txBody>
      </p:sp>
      <p:sp>
        <p:nvSpPr>
          <p:cNvPr id="20" name="Text 17"/>
          <p:cNvSpPr txBox="1"/>
          <p:nvPr/>
        </p:nvSpPr>
        <p:spPr>
          <a:xfrm>
            <a:off x="59721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Código do cliente do SAP no lugar do CNPJ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Histórico de compras, itens e estoque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Só por visões de exportação, com papel próprio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97250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7250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488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00488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QUEM ACESSA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00488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Acesso nominal e registrado</a:t>
            </a:r>
            <a:endParaRPr lang="en-US" sz="1875" dirty="0"/>
          </a:p>
        </p:txBody>
      </p:sp>
      <p:sp>
        <p:nvSpPr>
          <p:cNvPr id="26" name="Text 23"/>
          <p:cNvSpPr txBox="1"/>
          <p:nvPr/>
        </p:nvSpPr>
        <p:spPr>
          <a:xfrm>
            <a:off x="100488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Papéis por função, sem usuário compartilhado e com verificação em duas etapas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A3Data como operadora, sob contrato de operador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Revisão trimestral de acessos pela 3C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38017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38017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41255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141255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PROTEGEMOS</a:t>
            </a:r>
            <a:endParaRPr lang="en-US" sz="1013" dirty="0"/>
          </a:p>
        </p:txBody>
      </p:sp>
      <p:sp>
        <p:nvSpPr>
          <p:cNvPr id="31" name="Text 28"/>
          <p:cNvSpPr txBox="1"/>
          <p:nvPr/>
        </p:nvSpPr>
        <p:spPr>
          <a:xfrm>
            <a:off x="141255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Chaves e trilha da 3C</a:t>
            </a:r>
            <a:endParaRPr lang="en-US" sz="1875" dirty="0"/>
          </a:p>
        </p:txBody>
      </p:sp>
      <p:sp>
        <p:nvSpPr>
          <p:cNvPr id="32" name="Text 29"/>
          <p:cNvSpPr txBox="1"/>
          <p:nvPr/>
        </p:nvSpPr>
        <p:spPr>
          <a:xfrm>
            <a:off x="141255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Chave de criptografia administrada pela 3C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Armazenamento fechado para a internet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Auditoria de acessos e alerta de gasto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1571625" y="7524750"/>
            <a:ext cx="16049625" cy="1619250"/>
          </a:xfrm>
          <a:prstGeom prst="roundRect">
            <a:avLst>
              <a:gd name="adj" fmla="val 5882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857375" y="77152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REGIÃO E LGPD</a:t>
            </a:r>
            <a:endParaRPr lang="en-US" sz="1013" dirty="0"/>
          </a:p>
        </p:txBody>
      </p:sp>
      <p:sp>
        <p:nvSpPr>
          <p:cNvPr id="35" name="Text 32"/>
          <p:cNvSpPr txBox="1"/>
          <p:nvPr/>
        </p:nvSpPr>
        <p:spPr>
          <a:xfrm>
            <a:off x="1857375" y="7962900"/>
            <a:ext cx="15787688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Toda a AWS fica em N. Virgínia (us-east-1), porque o Amazon Personalize não existe em São Paulo. A posição do jurídico e do encarregado de dados da 3C é confirmada antes de qualquer dado real sair do Snowflake.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POC: Prova de Valor em Escala Menor Antes da Produção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Escopo e prazo são proposta, a validar com a 3C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5095875" cy="4191000"/>
          </a:xfrm>
          <a:prstGeom prst="roundRect">
            <a:avLst>
              <a:gd name="adj" fmla="val 318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5095875" cy="414337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ESCOPO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Um recorte da operação</a:t>
            </a:r>
            <a:endParaRPr lang="en-US" sz="202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45371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filial e 1 a 2 famílias de produto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meses de histórico por cliente e item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Disparo à mão, sem depender do Airflow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48500" y="2762250"/>
            <a:ext cx="5095875" cy="4191000"/>
          </a:xfrm>
          <a:prstGeom prst="roundRect">
            <a:avLst>
              <a:gd name="adj" fmla="val 318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8500" y="2809875"/>
            <a:ext cx="5095875" cy="414337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72350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7372350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MEDIMOS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7372350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Contra um piso simples</a:t>
            </a:r>
            <a:endParaRPr lang="en-US" sz="2025" dirty="0"/>
          </a:p>
        </p:txBody>
      </p:sp>
      <p:sp>
        <p:nvSpPr>
          <p:cNvPr id="20" name="Text 17"/>
          <p:cNvSpPr txBox="1"/>
          <p:nvPr/>
        </p:nvSpPr>
        <p:spPr>
          <a:xfrm>
            <a:off x="7372350" y="4667250"/>
            <a:ext cx="45371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Acerto nos 10 primeiros itens e cobertura do catálogo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Ganho sobre popularidade e cesta em SQL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Critério combinado antes dos resultados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2525375" y="2762250"/>
            <a:ext cx="5095875" cy="4191000"/>
          </a:xfrm>
          <a:prstGeom prst="roundRect">
            <a:avLst>
              <a:gd name="adj" fmla="val 318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2525375" y="2809875"/>
            <a:ext cx="5095875" cy="414337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28492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284922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ENTREGAMOS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284922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Recomendação e decisão</a:t>
            </a:r>
            <a:endParaRPr lang="en-US" sz="2025" dirty="0"/>
          </a:p>
        </p:txBody>
      </p:sp>
      <p:sp>
        <p:nvSpPr>
          <p:cNvPr id="26" name="Text 23"/>
          <p:cNvSpPr txBox="1"/>
          <p:nvPr/>
        </p:nvSpPr>
        <p:spPr>
          <a:xfrm>
            <a:off x="12849225" y="4667250"/>
            <a:ext cx="45371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Recomendações e regras de cesta nas tabelas do Snowflake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Relatório de comparação por mecânica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Recomendação sobre seguir ao teste A/B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3962400" y="281940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62400" y="2819400"/>
            <a:ext cx="2428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4 SEMANAS · W0 A W3</a:t>
            </a:r>
            <a:endParaRPr lang="en-US" sz="1013" dirty="0"/>
          </a:p>
        </p:txBody>
      </p:sp>
      <p:sp>
        <p:nvSpPr>
          <p:cNvPr id="29" name="Shape 26"/>
          <p:cNvSpPr/>
          <p:nvPr/>
        </p:nvSpPr>
        <p:spPr>
          <a:xfrm>
            <a:off x="1571625" y="7286625"/>
            <a:ext cx="16049625" cy="2143125"/>
          </a:xfrm>
          <a:prstGeom prst="roundRect">
            <a:avLst>
              <a:gd name="adj" fmla="val 622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895475" y="7534275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POR QUE UMA POC</a:t>
            </a:r>
            <a:endParaRPr lang="en-US" sz="1013" dirty="0"/>
          </a:p>
        </p:txBody>
      </p:sp>
      <p:sp>
        <p:nvSpPr>
          <p:cNvPr id="31" name="Text 28"/>
          <p:cNvSpPr txBox="1"/>
          <p:nvPr/>
        </p:nvSpPr>
        <p:spPr>
          <a:xfrm>
            <a:off x="1895475" y="7781925"/>
            <a:ext cx="417766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Evidência antes de escalar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6334125" y="7534275"/>
            <a:ext cx="23812" cy="1647825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15125" y="75342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Menor risco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6715125" y="8029575"/>
            <a:ext cx="341014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dados reais em 1 filial e 1 a 2 famílias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287000" y="75342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Piso claro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10287000" y="8029575"/>
            <a:ext cx="341014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comparação com popularidade e cesta em SQL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3858875" y="75342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Decisão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13858875" y="8029575"/>
            <a:ext cx="341014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seguir para a produção com teste A/B ou ajustar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Cronograma: Sete Semanas, da W0 à W6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Cronograma proposto, a validar com a 3C · semana de 5 dias úteis · W0 = alinhamentos e acessos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1571625" y="2667000"/>
            <a:ext cx="16049625" cy="68580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682357" y="3333750"/>
            <a:ext cx="938893" cy="57150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667500" y="2781300"/>
            <a:ext cx="6202136" cy="266700"/>
          </a:xfrm>
          <a:prstGeom prst="roundRect">
            <a:avLst>
              <a:gd name="adj" fmla="val 50000"/>
            </a:avLst>
          </a:prstGeom>
          <a:solidFill>
            <a:srgbClr val="0018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67500" y="2781300"/>
            <a:ext cx="6326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FASE 1 · CONSTRUÇÃO · W0 A W3</a:t>
            </a:r>
            <a:endParaRPr lang="en-US" sz="1013" dirty="0"/>
          </a:p>
        </p:txBody>
      </p:sp>
      <p:sp>
        <p:nvSpPr>
          <p:cNvPr id="12" name="Shape 9"/>
          <p:cNvSpPr/>
          <p:nvPr/>
        </p:nvSpPr>
        <p:spPr>
          <a:xfrm>
            <a:off x="12926786" y="2781300"/>
            <a:ext cx="4694464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926786" y="2781300"/>
            <a:ext cx="47883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FASE 2 · CAMPANHAS E RESULTADO · W4 A W6</a:t>
            </a:r>
            <a:endParaRPr lang="en-US" sz="1013" dirty="0"/>
          </a:p>
        </p:txBody>
      </p:sp>
      <p:sp>
        <p:nvSpPr>
          <p:cNvPr id="14" name="Text 11"/>
          <p:cNvSpPr txBox="1"/>
          <p:nvPr/>
        </p:nvSpPr>
        <p:spPr>
          <a:xfrm>
            <a:off x="6667500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32321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797143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361964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2926786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4491607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056429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62738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7559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3" name="Shape 20"/>
          <p:cNvSpPr/>
          <p:nvPr/>
        </p:nvSpPr>
        <p:spPr>
          <a:xfrm>
            <a:off x="9792380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4" name="Shape 21"/>
          <p:cNvSpPr/>
          <p:nvPr/>
        </p:nvSpPr>
        <p:spPr>
          <a:xfrm>
            <a:off x="11357202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5" name="Shape 22"/>
          <p:cNvSpPr/>
          <p:nvPr/>
        </p:nvSpPr>
        <p:spPr>
          <a:xfrm>
            <a:off x="12917261" y="3333750"/>
            <a:ext cx="19050" cy="571500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6" name="Shape 23"/>
          <p:cNvSpPr/>
          <p:nvPr/>
        </p:nvSpPr>
        <p:spPr>
          <a:xfrm>
            <a:off x="14486845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7" name="Shape 24"/>
          <p:cNvSpPr/>
          <p:nvPr/>
        </p:nvSpPr>
        <p:spPr>
          <a:xfrm>
            <a:off x="16051666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8" name="Shape 25"/>
          <p:cNvSpPr/>
          <p:nvPr/>
        </p:nvSpPr>
        <p:spPr>
          <a:xfrm>
            <a:off x="17616488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895475" y="33909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Alinhamentos, liberação de acessos e contrato de operador</a:t>
            </a:r>
            <a:endParaRPr lang="en-US" sz="1125" dirty="0"/>
          </a:p>
        </p:txBody>
      </p:sp>
      <p:sp>
        <p:nvSpPr>
          <p:cNvPr id="30" name="Text 27"/>
          <p:cNvSpPr txBox="1"/>
          <p:nvPr/>
        </p:nvSpPr>
        <p:spPr>
          <a:xfrm>
            <a:off x="1895475" y="37338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Testes de aceite do NBO e do MBA no Personalize</a:t>
            </a:r>
            <a:endParaRPr lang="en-US" sz="1125" dirty="0"/>
          </a:p>
        </p:txBody>
      </p:sp>
      <p:sp>
        <p:nvSpPr>
          <p:cNvPr id="31" name="Text 28"/>
          <p:cNvSpPr txBox="1"/>
          <p:nvPr/>
        </p:nvSpPr>
        <p:spPr>
          <a:xfrm>
            <a:off x="1895475" y="40767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e preparação no Snowflake</a:t>
            </a:r>
            <a:endParaRPr lang="en-US" sz="1125" dirty="0"/>
          </a:p>
        </p:txBody>
      </p:sp>
      <p:sp>
        <p:nvSpPr>
          <p:cNvPr id="32" name="Text 29"/>
          <p:cNvSpPr txBox="1"/>
          <p:nvPr/>
        </p:nvSpPr>
        <p:spPr>
          <a:xfrm>
            <a:off x="1895475" y="44196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Pipeline AWS: Glue, Personalize e Step Functions</a:t>
            </a:r>
            <a:endParaRPr lang="en-US" sz="1125" dirty="0"/>
          </a:p>
        </p:txBody>
      </p:sp>
      <p:sp>
        <p:nvSpPr>
          <p:cNvPr id="33" name="Text 30"/>
          <p:cNvSpPr txBox="1"/>
          <p:nvPr/>
        </p:nvSpPr>
        <p:spPr>
          <a:xfrm>
            <a:off x="1895475" y="47625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Primeira rodada semanal completa</a:t>
            </a:r>
            <a:endParaRPr lang="en-US" sz="1125" dirty="0"/>
          </a:p>
        </p:txBody>
      </p:sp>
      <p:sp>
        <p:nvSpPr>
          <p:cNvPr id="34" name="Text 31"/>
          <p:cNvSpPr txBox="1"/>
          <p:nvPr/>
        </p:nvSpPr>
        <p:spPr>
          <a:xfrm>
            <a:off x="1895475" y="51054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Grupos do teste A/B e registro de exposição</a:t>
            </a:r>
            <a:endParaRPr lang="en-US" sz="1125" dirty="0"/>
          </a:p>
        </p:txBody>
      </p:sp>
      <p:sp>
        <p:nvSpPr>
          <p:cNvPr id="35" name="Text 32"/>
          <p:cNvSpPr txBox="1"/>
          <p:nvPr/>
        </p:nvSpPr>
        <p:spPr>
          <a:xfrm>
            <a:off x="1895475" y="54483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diário no BI da 3C</a:t>
            </a:r>
            <a:endParaRPr lang="en-US" sz="1125" dirty="0"/>
          </a:p>
        </p:txBody>
      </p:sp>
      <p:sp>
        <p:nvSpPr>
          <p:cNvPr id="36" name="Text 33"/>
          <p:cNvSpPr txBox="1"/>
          <p:nvPr/>
        </p:nvSpPr>
        <p:spPr>
          <a:xfrm>
            <a:off x="1895475" y="57912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Campanhas com teste A/B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895475" y="61341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Ajuste dos modelos e desafiante de NBO</a:t>
            </a:r>
            <a:endParaRPr lang="en-US" sz="1125" dirty="0"/>
          </a:p>
        </p:txBody>
      </p:sp>
      <p:sp>
        <p:nvSpPr>
          <p:cNvPr id="38" name="Text 35"/>
          <p:cNvSpPr txBox="1"/>
          <p:nvPr/>
        </p:nvSpPr>
        <p:spPr>
          <a:xfrm>
            <a:off x="1895475" y="64770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Resultado e transferência de conhecimento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6667500" y="34480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67500" y="34480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41" name="Shape 38"/>
          <p:cNvSpPr/>
          <p:nvPr/>
        </p:nvSpPr>
        <p:spPr>
          <a:xfrm>
            <a:off x="8232321" y="37909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32321" y="37909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43" name="Shape 40"/>
          <p:cNvSpPr/>
          <p:nvPr/>
        </p:nvSpPr>
        <p:spPr>
          <a:xfrm>
            <a:off x="8232321" y="41338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32321" y="41338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semanas</a:t>
            </a:r>
            <a:endParaRPr lang="en-US" sz="1013" dirty="0"/>
          </a:p>
        </p:txBody>
      </p:sp>
      <p:sp>
        <p:nvSpPr>
          <p:cNvPr id="45" name="Shape 42"/>
          <p:cNvSpPr/>
          <p:nvPr/>
        </p:nvSpPr>
        <p:spPr>
          <a:xfrm>
            <a:off x="8232321" y="44767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32321" y="44767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semanas</a:t>
            </a:r>
            <a:endParaRPr lang="en-US" sz="1013" dirty="0"/>
          </a:p>
        </p:txBody>
      </p:sp>
      <p:sp>
        <p:nvSpPr>
          <p:cNvPr id="47" name="Shape 44"/>
          <p:cNvSpPr/>
          <p:nvPr/>
        </p:nvSpPr>
        <p:spPr>
          <a:xfrm>
            <a:off x="11361964" y="48196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1361964" y="48196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49" name="Shape 46"/>
          <p:cNvSpPr/>
          <p:nvPr/>
        </p:nvSpPr>
        <p:spPr>
          <a:xfrm>
            <a:off x="11361964" y="51625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1361964" y="51625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51" name="Shape 48"/>
          <p:cNvSpPr/>
          <p:nvPr/>
        </p:nvSpPr>
        <p:spPr>
          <a:xfrm>
            <a:off x="11361964" y="55054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361964" y="55054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53" name="Shape 50"/>
          <p:cNvSpPr/>
          <p:nvPr/>
        </p:nvSpPr>
        <p:spPr>
          <a:xfrm>
            <a:off x="12926786" y="58483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2926786" y="58483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semanas</a:t>
            </a:r>
            <a:endParaRPr lang="en-US" sz="1013" dirty="0"/>
          </a:p>
        </p:txBody>
      </p:sp>
      <p:sp>
        <p:nvSpPr>
          <p:cNvPr id="55" name="Shape 52"/>
          <p:cNvSpPr/>
          <p:nvPr/>
        </p:nvSpPr>
        <p:spPr>
          <a:xfrm>
            <a:off x="12926786" y="61912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E6EBFF"/>
          </a:solidFill>
          <a:ln w="19050">
            <a:solidFill>
              <a:srgbClr val="0033FF"/>
            </a:solidFill>
            <a:prstDash val="dash"/>
          </a:ln>
        </p:spPr>
      </p:sp>
      <p:sp>
        <p:nvSpPr>
          <p:cNvPr id="56" name="Text 53"/>
          <p:cNvSpPr txBox="1"/>
          <p:nvPr/>
        </p:nvSpPr>
        <p:spPr>
          <a:xfrm>
            <a:off x="12926786" y="61912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57" name="Shape 54"/>
          <p:cNvSpPr/>
          <p:nvPr/>
        </p:nvSpPr>
        <p:spPr>
          <a:xfrm>
            <a:off x="16056429" y="6534150"/>
            <a:ext cx="625929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6056429" y="6534150"/>
            <a:ext cx="638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dias</a:t>
            </a:r>
            <a:endParaRPr lang="en-US" sz="1013" dirty="0"/>
          </a:p>
        </p:txBody>
      </p:sp>
      <p:sp>
        <p:nvSpPr>
          <p:cNvPr id="59" name="Text 56"/>
          <p:cNvSpPr txBox="1"/>
          <p:nvPr/>
        </p:nvSpPr>
        <p:spPr>
          <a:xfrm>
            <a:off x="1895475" y="6858000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EQUIPE E DEDICAÇÃO</a:t>
            </a:r>
            <a:endParaRPr lang="en-US" sz="1013" dirty="0"/>
          </a:p>
        </p:txBody>
      </p:sp>
      <p:sp>
        <p:nvSpPr>
          <p:cNvPr id="60" name="Text 57"/>
          <p:cNvSpPr txBox="1"/>
          <p:nvPr/>
        </p:nvSpPr>
        <p:spPr>
          <a:xfrm>
            <a:off x="1895475" y="70866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Arquiteto de soluções</a:t>
            </a:r>
            <a:endParaRPr lang="en-US" sz="1125" dirty="0"/>
          </a:p>
        </p:txBody>
      </p:sp>
      <p:sp>
        <p:nvSpPr>
          <p:cNvPr id="61" name="Text 58"/>
          <p:cNvSpPr txBox="1"/>
          <p:nvPr/>
        </p:nvSpPr>
        <p:spPr>
          <a:xfrm>
            <a:off x="1895475" y="74295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Engenheiro de ML: engenharia de dados e parte do Personalize</a:t>
            </a:r>
            <a:endParaRPr lang="en-US" sz="1125" dirty="0"/>
          </a:p>
        </p:txBody>
      </p:sp>
      <p:sp>
        <p:nvSpPr>
          <p:cNvPr id="62" name="Text 59"/>
          <p:cNvSpPr txBox="1"/>
          <p:nvPr/>
        </p:nvSpPr>
        <p:spPr>
          <a:xfrm>
            <a:off x="1895475" y="77724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Cientista de dados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1895475" y="81153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CLP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6667500" y="71437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6667500" y="71437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Arquiteto · 2 semanas</a:t>
            </a:r>
            <a:endParaRPr lang="en-US" sz="1013" dirty="0"/>
          </a:p>
        </p:txBody>
      </p:sp>
      <p:sp>
        <p:nvSpPr>
          <p:cNvPr id="66" name="Shape 63"/>
          <p:cNvSpPr/>
          <p:nvPr/>
        </p:nvSpPr>
        <p:spPr>
          <a:xfrm>
            <a:off x="8232321" y="7486650"/>
            <a:ext cx="6259286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8232321" y="7486650"/>
            <a:ext cx="63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Engenheiro de ML · 1 mês</a:t>
            </a:r>
            <a:endParaRPr lang="en-US" sz="1013" dirty="0"/>
          </a:p>
        </p:txBody>
      </p:sp>
      <p:sp>
        <p:nvSpPr>
          <p:cNvPr id="68" name="Shape 65"/>
          <p:cNvSpPr/>
          <p:nvPr/>
        </p:nvSpPr>
        <p:spPr>
          <a:xfrm>
            <a:off x="11987893" y="7829550"/>
            <a:ext cx="4694464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1987893" y="7829550"/>
            <a:ext cx="4788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Cientista de dados · 3 semanas</a:t>
            </a:r>
            <a:endParaRPr lang="en-US" sz="1013" dirty="0"/>
          </a:p>
        </p:txBody>
      </p:sp>
      <p:sp>
        <p:nvSpPr>
          <p:cNvPr id="70" name="Shape 67"/>
          <p:cNvSpPr/>
          <p:nvPr/>
        </p:nvSpPr>
        <p:spPr>
          <a:xfrm>
            <a:off x="6667500" y="8172450"/>
            <a:ext cx="10014857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667500" y="8172450"/>
            <a:ext cx="1021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CLP · do início ao fim do projeto</a:t>
            </a:r>
            <a:endParaRPr lang="en-US" sz="1013" dirty="0"/>
          </a:p>
        </p:txBody>
      </p:sp>
      <p:sp>
        <p:nvSpPr>
          <p:cNvPr id="72" name="Text 69"/>
          <p:cNvSpPr txBox="1"/>
          <p:nvPr/>
        </p:nvSpPr>
        <p:spPr>
          <a:xfrm>
            <a:off x="1895475" y="8553450"/>
            <a:ext cx="2914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Marcos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663793" y="8534400"/>
            <a:ext cx="266700" cy="266700"/>
          </a:xfrm>
          <a:prstGeom prst="diamond">
            <a:avLst/>
          </a:prstGeom>
          <a:solidFill>
            <a:srgbClr val="1A1A1A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8749393" y="883920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Testes de aceite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2793436" y="8534400"/>
            <a:ext cx="266700" cy="266700"/>
          </a:xfrm>
          <a:prstGeom prst="diamond">
            <a:avLst/>
          </a:prstGeom>
          <a:solidFill>
            <a:srgbClr val="1A1A1A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11879036" y="883920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1ª campanha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16549007" y="8534400"/>
            <a:ext cx="266700" cy="266700"/>
          </a:xfrm>
          <a:prstGeom prst="diamond">
            <a:avLst/>
          </a:prstGeom>
          <a:solidFill>
            <a:srgbClr val="1A1A1A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15634607" y="883920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Resultado do teste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16682357" y="3448050"/>
            <a:ext cx="9576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8A8A8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FOLGA</a:t>
            </a:r>
            <a:endParaRPr lang="en-US" sz="1013" dirty="0"/>
          </a:p>
        </p:txBody>
      </p:sp>
      <p:sp>
        <p:nvSpPr>
          <p:cNvPr id="80" name="Text 77"/>
          <p:cNvSpPr txBox="1"/>
          <p:nvPr/>
        </p:nvSpPr>
        <p:spPr>
          <a:xfrm>
            <a:off x="16682357" y="3638550"/>
            <a:ext cx="9576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8A8A8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0,6 sem.</a:t>
            </a:r>
            <a:endParaRPr lang="en-US" sz="1013" dirty="0"/>
          </a:p>
        </p:txBody>
      </p:sp>
      <p:sp>
        <p:nvSpPr>
          <p:cNvPr id="81" name="Shape 78"/>
          <p:cNvSpPr/>
          <p:nvPr/>
        </p:nvSpPr>
        <p:spPr>
          <a:xfrm>
            <a:off x="1895475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2362200" y="9163050"/>
            <a:ext cx="17487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Execução A3Data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286250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4752975" y="9163050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Depende da 3C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6572250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E6EBFF"/>
          </a:solidFill>
          <a:ln w="19050">
            <a:solidFill>
              <a:srgbClr val="0033FF"/>
            </a:solidFill>
            <a:prstDash val="dash"/>
          </a:ln>
        </p:spPr>
      </p:sp>
      <p:sp>
        <p:nvSpPr>
          <p:cNvPr id="86" name="Text 83"/>
          <p:cNvSpPr txBox="1"/>
          <p:nvPr/>
        </p:nvSpPr>
        <p:spPr>
          <a:xfrm>
            <a:off x="7038975" y="9163050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Trilha paralela</a:t>
            </a:r>
            <a:endParaRPr lang="en-US" sz="1050" dirty="0"/>
          </a:p>
        </p:txBody>
      </p:sp>
      <p:sp>
        <p:nvSpPr>
          <p:cNvPr id="87" name="Shape 84"/>
          <p:cNvSpPr/>
          <p:nvPr/>
        </p:nvSpPr>
        <p:spPr>
          <a:xfrm>
            <a:off x="8858250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001863"/>
          </a:solidFill>
          <a:ln w="19050">
            <a:solidFill>
              <a:srgbClr val="001863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324975" y="9163050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Equipe A3Data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Responsabilidades: O Que Precisamos da 3C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Responsáveis sugeridos, a confirmar com a 3C</a:t>
            </a:r>
            <a:endParaRPr lang="en-US" sz="1013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71625" y="2762250"/>
          <a:ext cx="16049625" cy="914400"/>
        </p:xfrm>
        <a:graphic>
          <a:graphicData uri="http://schemas.openxmlformats.org/drawingml/2006/table">
            <a:tbl>
              <a:tblPr/>
              <a:tblGrid>
                <a:gridCol w="8572500"/>
                <a:gridCol w="4953000"/>
                <a:gridCol w="252412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precisamos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Responsável sugerido na 3C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Quando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Aceite por escrito de que o motor roda na AWS, ainda que a especificação cite Snowflake e Airflow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Produto de dados e Inteligência Comercial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contrato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Contrato de operador entre 3C e A3Data, e posição do jurídico e do encarregado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Jurídico e encarregado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Integração de armazenamento do Snowflake com o S3 e conta AWS da 3C com regiões liberadas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Engenharia de dados e infraestrutura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Resposta: o Sírius aceita SKU diferente por cliente na mesma campanha?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Dono do Sírius e Inteligência Comercial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contrato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Registro de quem recebeu a oferta (Sírius, B2B e Salesforce) no Snowflake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CRM e engenharia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Carga diária de vendas no Snowflake (hoje semanal)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Engenharia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[A CONFIRMAR]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Painel diário do teste A/B no BI da 3C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CRM e time de BI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Aprovação de preço e ativação das campanhas, toda semana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Inteligência Comercial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 partir da W4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Riscos: O Que Pode Mudar o Desenho e Como Tratamos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Níveis: avaliação da A3Data</a:t>
            </a:r>
            <a:endParaRPr lang="en-US" sz="1013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71625" y="2762250"/>
          <a:ext cx="16049625" cy="914400"/>
        </p:xfrm>
        <a:graphic>
          <a:graphicData uri="http://schemas.openxmlformats.org/drawingml/2006/table">
            <a:tbl>
              <a:tblPr/>
              <a:tblGrid>
                <a:gridCol w="5334000"/>
                <a:gridCol w="1238250"/>
                <a:gridCol w="6572250"/>
                <a:gridCol w="290512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Risco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Nível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fazemos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Quando decidimos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motor roda na AWS e a especificação cita Snowflake e Airflow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Aceite por escrito da 3C; plano alternativo com o motor no Snowflake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contrato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Os filtros do Personalize não cobrem "já comprado no mês"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Filtro final no Glue e conferência de estoque no Snowflake antes de publicar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W2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 carga de vendas semanal limita o painel diário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Painel semanal até a carga diária; basta trocar um parâmetro depois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Dados de clientes saem do país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Código do cliente no lugar do CNPJ, acesso nominal e posição do jurídico antes do primeiro dado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primeiro dado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Sírius ainda não registra quem recebeu a oferta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Carga feita pela 3C; sem ela, a medição perde precisão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NBO e regras de cesta ainda não confirmados no Personalize com os pedidos da 3C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Testes de aceite com pedidos reais na W1; se a cesta falhar, regras em SQL (piso) e nova decisão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W1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571625" y="7620000"/>
            <a:ext cx="16049625" cy="1809750"/>
          </a:xfrm>
          <a:prstGeom prst="roundRect">
            <a:avLst>
              <a:gd name="adj" fmla="val 736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895475" y="786765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ALTERNATIVAS</a:t>
            </a:r>
            <a:endParaRPr lang="en-US" sz="1013" dirty="0"/>
          </a:p>
        </p:txBody>
      </p:sp>
      <p:sp>
        <p:nvSpPr>
          <p:cNvPr id="11" name="Text 7"/>
          <p:cNvSpPr txBox="1"/>
          <p:nvPr/>
        </p:nvSpPr>
        <p:spPr>
          <a:xfrm>
            <a:off x="1895475" y="8115300"/>
            <a:ext cx="4177665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Se o motor não puder sair do Snowflake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6334125" y="7867650"/>
            <a:ext cx="23812" cy="131445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1512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No Snowflake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71512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motor em Python e Snowpark, com tabelas no próprio Snowflake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287000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Controle na AWS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10287000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Desenho 2: sorteio, medição e painel também na AWS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385887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Fim da W1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1385887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decisão com base nos testes de aceite, no piso e no desempenho offline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Próximos Passos: Do Alinhamento à Primeira Rodada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Datas e responsáveis a confirmar com a 3C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ALINHAR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Alinhamento na W0</a:t>
            </a:r>
            <a:endParaRPr lang="en-US" sz="187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Aceite sobre onde roda o motor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Contrato de operador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Posição do jurídico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895475" y="58674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95475" y="5867400"/>
            <a:ext cx="18459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3C E A3DATA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574357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4357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674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60674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LIBERAR</a:t>
            </a:r>
            <a:endParaRPr lang="en-US" sz="1013" dirty="0"/>
          </a:p>
        </p:txBody>
      </p:sp>
      <p:sp>
        <p:nvSpPr>
          <p:cNvPr id="21" name="Text 18"/>
          <p:cNvSpPr txBox="1"/>
          <p:nvPr/>
        </p:nvSpPr>
        <p:spPr>
          <a:xfrm>
            <a:off x="60674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Acessos e conta</a:t>
            </a:r>
            <a:endParaRPr lang="en-US" sz="1875" dirty="0"/>
          </a:p>
        </p:txBody>
      </p:sp>
      <p:sp>
        <p:nvSpPr>
          <p:cNvPr id="22" name="Text 19"/>
          <p:cNvSpPr txBox="1"/>
          <p:nvPr/>
        </p:nvSpPr>
        <p:spPr>
          <a:xfrm>
            <a:off x="606742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 AWS da 3C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Integração do Snowflake com o S3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Papéis nominais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6067425" y="58674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67425" y="5867400"/>
            <a:ext cx="1165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3C</a:t>
            </a:r>
            <a:endParaRPr lang="en-US" sz="1013" dirty="0"/>
          </a:p>
        </p:txBody>
      </p:sp>
      <p:sp>
        <p:nvSpPr>
          <p:cNvPr id="25" name="Shape 22"/>
          <p:cNvSpPr/>
          <p:nvPr/>
        </p:nvSpPr>
        <p:spPr>
          <a:xfrm>
            <a:off x="991552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1552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2393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102393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PROVAR</a:t>
            </a:r>
            <a:endParaRPr lang="en-US" sz="1013" dirty="0"/>
          </a:p>
        </p:txBody>
      </p:sp>
      <p:sp>
        <p:nvSpPr>
          <p:cNvPr id="29" name="Text 26"/>
          <p:cNvSpPr txBox="1"/>
          <p:nvPr/>
        </p:nvSpPr>
        <p:spPr>
          <a:xfrm>
            <a:off x="102393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Testes de aceite e POC</a:t>
            </a:r>
            <a:endParaRPr lang="en-US" sz="1875" dirty="0"/>
          </a:p>
        </p:txBody>
      </p:sp>
      <p:sp>
        <p:nvSpPr>
          <p:cNvPr id="30" name="Text 27"/>
          <p:cNvSpPr txBox="1"/>
          <p:nvPr/>
        </p:nvSpPr>
        <p:spPr>
          <a:xfrm>
            <a:off x="1023937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Testes do NBO e do MBA na W1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filial e 1 a 2 famílias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Comparação com o piso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10239375" y="58674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239375" y="5867400"/>
            <a:ext cx="1165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</a:t>
            </a:r>
            <a:endParaRPr lang="en-US" sz="1013" dirty="0"/>
          </a:p>
        </p:txBody>
      </p:sp>
      <p:sp>
        <p:nvSpPr>
          <p:cNvPr id="33" name="Shape 30"/>
          <p:cNvSpPr/>
          <p:nvPr/>
        </p:nvSpPr>
        <p:spPr>
          <a:xfrm>
            <a:off x="1408747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408747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44113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700" dirty="0"/>
          </a:p>
        </p:txBody>
      </p:sp>
      <p:sp>
        <p:nvSpPr>
          <p:cNvPr id="36" name="Text 33"/>
          <p:cNvSpPr txBox="1"/>
          <p:nvPr/>
        </p:nvSpPr>
        <p:spPr>
          <a:xfrm>
            <a:off x="144113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DECIDIR</a:t>
            </a:r>
            <a:endParaRPr lang="en-US" sz="1013" dirty="0"/>
          </a:p>
        </p:txBody>
      </p:sp>
      <p:sp>
        <p:nvSpPr>
          <p:cNvPr id="37" name="Text 34"/>
          <p:cNvSpPr txBox="1"/>
          <p:nvPr/>
        </p:nvSpPr>
        <p:spPr>
          <a:xfrm>
            <a:off x="144113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Produção com teste A/B</a:t>
            </a:r>
            <a:endParaRPr lang="en-US" sz="1875" dirty="0"/>
          </a:p>
        </p:txBody>
      </p:sp>
      <p:sp>
        <p:nvSpPr>
          <p:cNvPr id="38" name="Text 35"/>
          <p:cNvSpPr txBox="1"/>
          <p:nvPr/>
        </p:nvSpPr>
        <p:spPr>
          <a:xfrm>
            <a:off x="1441132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Primeira campanha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de resultado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Plano de continuidade</a:t>
            </a:r>
            <a:endParaRPr lang="en-US" sz="1275" dirty="0"/>
          </a:p>
        </p:txBody>
      </p:sp>
      <p:sp>
        <p:nvSpPr>
          <p:cNvPr id="39" name="Shape 36"/>
          <p:cNvSpPr/>
          <p:nvPr/>
        </p:nvSpPr>
        <p:spPr>
          <a:xfrm>
            <a:off x="14411325" y="58674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4411325" y="5867400"/>
            <a:ext cx="18459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3C E A3DATA</a:t>
            </a:r>
            <a:endParaRPr lang="en-US" sz="1013" dirty="0"/>
          </a:p>
        </p:txBody>
      </p:sp>
      <p:sp>
        <p:nvSpPr>
          <p:cNvPr id="41" name="Shape 38"/>
          <p:cNvSpPr/>
          <p:nvPr/>
        </p:nvSpPr>
        <p:spPr>
          <a:xfrm>
            <a:off x="5248275" y="4381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42" name="Shape 39"/>
          <p:cNvSpPr/>
          <p:nvPr/>
        </p:nvSpPr>
        <p:spPr>
          <a:xfrm>
            <a:off x="9420225" y="4381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43" name="Shape 40"/>
          <p:cNvSpPr/>
          <p:nvPr/>
        </p:nvSpPr>
        <p:spPr>
          <a:xfrm>
            <a:off x="13592175" y="4381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44" name="Shape 41"/>
          <p:cNvSpPr/>
          <p:nvPr/>
        </p:nvSpPr>
        <p:spPr>
          <a:xfrm>
            <a:off x="1571625" y="7048500"/>
            <a:ext cx="16049625" cy="2381250"/>
          </a:xfrm>
          <a:prstGeom prst="roundRect">
            <a:avLst>
              <a:gd name="adj" fmla="val 56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1895475" y="729615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OBRIGADO</a:t>
            </a:r>
            <a:endParaRPr lang="en-US" sz="1013" dirty="0"/>
          </a:p>
        </p:txBody>
      </p:sp>
      <p:sp>
        <p:nvSpPr>
          <p:cNvPr id="46" name="Text 43"/>
          <p:cNvSpPr txBox="1"/>
          <p:nvPr/>
        </p:nvSpPr>
        <p:spPr>
          <a:xfrm>
            <a:off x="1895475" y="7543800"/>
            <a:ext cx="4177665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 A3Data agradece a confiança da 3 Corações</a:t>
            </a:r>
            <a:endParaRPr lang="en-US" sz="1950" dirty="0"/>
          </a:p>
        </p:txBody>
      </p:sp>
      <p:sp>
        <p:nvSpPr>
          <p:cNvPr id="47" name="Shape 44"/>
          <p:cNvSpPr/>
          <p:nvPr/>
        </p:nvSpPr>
        <p:spPr>
          <a:xfrm>
            <a:off x="6334125" y="7296150"/>
            <a:ext cx="23812" cy="188595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715125" y="7296150"/>
            <a:ext cx="52317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[NOME]</a:t>
            </a:r>
            <a:endParaRPr lang="en-US" sz="2400" dirty="0"/>
          </a:p>
        </p:txBody>
      </p:sp>
      <p:sp>
        <p:nvSpPr>
          <p:cNvPr id="49" name="Text 46"/>
          <p:cNvSpPr txBox="1"/>
          <p:nvPr/>
        </p:nvSpPr>
        <p:spPr>
          <a:xfrm>
            <a:off x="6715125" y="7791450"/>
            <a:ext cx="5231797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responsável da A3Data pela proposta [A CONFIRMAR]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2072938" y="7296150"/>
            <a:ext cx="52317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[E-MAIL]</a:t>
            </a:r>
            <a:endParaRPr lang="en-US" sz="2400" dirty="0"/>
          </a:p>
        </p:txBody>
      </p:sp>
      <p:sp>
        <p:nvSpPr>
          <p:cNvPr id="51" name="Text 48"/>
          <p:cNvSpPr txBox="1"/>
          <p:nvPr/>
        </p:nvSpPr>
        <p:spPr>
          <a:xfrm>
            <a:off x="12072938" y="7791450"/>
            <a:ext cx="5231797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contato para dúvidas e próximos passos [A CONFIRMAR]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2026-10-28T15:37:32Z</dcterms:created>
  <dcterms:modified xsi:type="dcterms:W3CDTF">2026-10-28T15:37:32Z</dcterms:modified>
</cp:coreProperties>
</file>