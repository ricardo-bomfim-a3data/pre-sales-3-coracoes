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a 3C quer trocar a escolha manual de SKUs por recomendação algorítmica por cliente, nas três mecânicas que já usa, e quer medir o ganho com um teste A/B.
Pontos a confirmar: se o Sírius aceita SKU diferente por cliente dentro da mesma campanha.
[Sources] Especificação técnica da 3C: pedido (seções 1 e 2), requisitos de execução 4.4.1 a 4.4.3 e dashboard RNF02.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a rodada tem quatro etapas. Três acontecem no ambiente da 3C (Snowflake, Airflow e BI); só o cálculo da recomendação acontece na AWS.
Pontos a confirmar: aceite da 3C para o motor rodar na AWS, já que a especificação cita Snowflake e Airflow.
[Sources] Arquitetura proposta v4, aba 2 e aba 3 (docs/01-arquitetura).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os dados e a decisão ficam no Snowflake da 3C; a AWS (N. Virgínia) só calcula as recomendações e devolve arquivos.
Pontos a confirmar: região do Snowflake da 3C; se a organização AWS da 3C bloqueia regiões fora do Brasil; integração de armazenamento do Snowflake com o S3.
[Sources] Arquitetura proposta v4 (docs/01-arquitetura), ADR-003; disponibilidade do Personalize por região (documentação AWS, consultada em 26/10/2026).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a rodada semanal começa no Snowflake, passa pela AWS para o cálculo e volta ao Snowflake, onde a Inteligência Comercial decide e o teste A/B é medido.
Pontos a confirmar: quem cria a integração de armazenamento do Snowflake com o S3 (3C); onde roda o Airflow e se ele consegue listar o stage do Snowflake.
[Sources] Arquitetura proposta v4, aba 3 (Desenho 1, passos 1 a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cada mecânica usa o método que responde à sua pergunta. O Personalize cobre as três: desconto, mais por menos e a cesta de compras (combos). Na cesta, cada pedido entra como um "usuário" no Personalize (receita SIMS), que devolve os itens mais associados a cada item; o Glue calcula suporte, confiança e lift desses pares, por canal e região, com a mesma tabela de pedidos. Direção do Ricardo em 28/10/2026, com base em uma POC anterior de um cientista de dados da A3 para a mesma 3C, na qual as métricas de suporte, confiança e lift saíram do próprio Personalize, com a unidade sendo o pedido. O desenho oficial usa só o Personalize como motor.
Pontos a confirmar: o recurso do Personalize que gera as regras de cesta não está na documentação pública consultada em 27/10/2026 e o projeto da POC anterior foi apagado; por isso os testes de aceite do NBO e do MBA com pedidos reais rodam já na W1, antes de fixar o desenho; se a cesta não for confirmada, o plano é o piso em SQL e nova decisão com a 3C. O lote da SIMS devolve só a lista de itens, sem pontuação; por isso as três métricas são calculadas no Glue, e não lidas do Personalize. Também confirmar se o Personalize usa o cadastro de clientes (canal, região, área) e a janela de histórico (uma só).
[Sources] Documentação AWS: Personalize (receitas, filtros, lote, afinidade com item), consultada em 26 e 27/10/2026; relato verbal do cientista de dados da A3 (sem evidência anexada).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 teste A/B 50/50 é a prova de que a recomendação melhora faturamento e margem em relação ao processo atual.
Pontos a confirmar: definição de margem (com ou sem frete e comissão); se o Sírius registra a exposição; quando a carga diária de vendas estará disponível.
[Sources] Especificação técnica da 3C (KPIs da seção 6, dashboard RNF02); arquitetura proposta v4, aba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os dados reais ficam no Snowflake; para a AWS vai só o necessário, com o código do cliente no lugar do CNPJ, acesso nominal e retenção de 30 dias.
Pontos a confirmar: posição do jurídico e do encarregado de dados; contrato de operador; se MEI e empresa individual podem ficar nas cópias.
[Sources] ADR-003 e arquitetura proposta v4 (docs/02-adrs, docs/01-arquitetura); documentação AWS de disponibilidade regional do Personalize (26/10/2026).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antes de escalar, uma POC pequena mostra se a recomendação supera um piso simples, com critério combinado antes dos resultados.
Pontos a confirmar: filial e famílias do recorte; prazo; critério de aceite offline.
[Sources] Arquitetura proposta v4, seção 4.8 e aba 7 do diagrama.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 projeto cabe em sete semanas, da W0 à W6, dentro dos dois meses, com folga de 0,6 semana. A W0 é a semana de alinhamentos, liberação de acessos e contrato de operador. Os testes de aceite do NBO e do MBA no Personalize rodam já na W1, com uma amostra de pedidos reais, em paralelo à carga no Snowflake e ao pipeline AWS (ambos de 2 semanas, W1 e W2). A primeira rodada, o painel e os grupos do teste correm juntos na W3; as campanhas ocupam a W4 e a W5, com o ajuste dos modelos na W4; o resultado e a transferência de conhecimento levam 2 dias no início da W6.
Equipe: arquiteto na W0 e na W1 (apoia os testes de aceite e o desenho do pipeline); engenheiro de ML por 1 mês, de W1 a W4 (engenharia de dados e parte do trabalho do Personalize); cientista de dados por 3 semanas, do meio da W3 ao fim; CLP do início ao fim.
Pontos a confirmar: acessos e uma amostra de pedidos liberados até o fim da W0; congelamento de mudanças de TI; registro de exposição pela 3C; data da carga diária de vendas; significado e custo do perfil CLP. O engenheiro de ML concentra testes, carga e pipeline na W1: o arquiteto cobre essa semana.
[Sources] Durações, equipe e W0 definidas pela A3Data (Ricardo, 28/10/2026); arquitetura proposta v4.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a rodada só roda se a 3C entregar acessos, registros e decisões nos prazos; a lista mostra o que precisamos e de quem.
Pontos a confirmar: nomes dos responsáveis (a lista usa áreas); data da carga diária.
[Sources] Listas de questionamentos e lacunas (docs/04-listas): ARQ-Q43 a ARQ-Q50, ESP-Q01 a ESP-Q09.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os dois riscos altos têm tratamento definido, e há um plano alternativo se o motor não puder sair do Snowflake.
Pontos a confirmar: aceite da 3C; posição do jurídico; se o Sírius registra a exposição.
[Sources] Arquitetura proposta v4 (seções 4.7, 4.8 e 11), revisão do especialista (docs/08, seção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quatro passos levam do alinhamento à primeira rodada com teste A/B.
Pontos a confirmar: datas, responsáveis e contatos.
[Sources] Arquitetura proposta v4, aba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Contexto: Da Escolha Manual à Recomendação por Cliente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Fonte: especificação técnica da 3 Corações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5095875" cy="4476750"/>
          </a:xfrm>
          <a:prstGeom prst="roundRect">
            <a:avLst>
              <a:gd name="adj" fmla="val 2979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5095875" cy="4429125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PEDIDO</a:t>
            </a:r>
            <a:endParaRPr lang="en-US" sz="1013" dirty="0"/>
          </a:p>
        </p:txBody>
      </p:sp>
      <p:sp>
        <p:nvSpPr>
          <p:cNvPr id="13" name="Text 10"/>
          <p:cNvSpPr txBox="1"/>
          <p:nvPr/>
        </p:nvSpPr>
        <p:spPr>
          <a:xfrm>
            <a:off x="1895475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Recomendar o SKU certo para cada cliente B2B</a:t>
            </a:r>
            <a:endParaRPr lang="en-US" sz="2025" dirty="0"/>
          </a:p>
        </p:txBody>
      </p:sp>
      <p:sp>
        <p:nvSpPr>
          <p:cNvPr id="14" name="Text 11"/>
          <p:cNvSpPr txBox="1"/>
          <p:nvPr/>
        </p:nvSpPr>
        <p:spPr>
          <a:xfrm>
            <a:off x="1895475" y="4667250"/>
            <a:ext cx="4537139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Substituir a escolha manual de SKUs nas campanhas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Recomendação por cliente (próxima melhor oferta) e por combinações de itens (cesta de compras)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Três mecânicas: combos, mais por menos e desconto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048500" y="2762250"/>
            <a:ext cx="5095875" cy="4476750"/>
          </a:xfrm>
          <a:prstGeom prst="roundRect">
            <a:avLst>
              <a:gd name="adj" fmla="val 2979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048500" y="2809875"/>
            <a:ext cx="5095875" cy="4429125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72350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7372350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COMO É HOJE</a:t>
            </a:r>
            <a:endParaRPr lang="en-US" sz="1013" dirty="0"/>
          </a:p>
        </p:txBody>
      </p:sp>
      <p:sp>
        <p:nvSpPr>
          <p:cNvPr id="19" name="Text 16"/>
          <p:cNvSpPr txBox="1"/>
          <p:nvPr/>
        </p:nvSpPr>
        <p:spPr>
          <a:xfrm>
            <a:off x="7372350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Decisão manual, da diretoria e das filiais</a:t>
            </a:r>
            <a:endParaRPr lang="en-US" sz="2025" dirty="0"/>
          </a:p>
        </p:txBody>
      </p:sp>
      <p:sp>
        <p:nvSpPr>
          <p:cNvPr id="20" name="Text 17"/>
          <p:cNvSpPr txBox="1"/>
          <p:nvPr/>
        </p:nvSpPr>
        <p:spPr>
          <a:xfrm>
            <a:off x="7372350" y="4667250"/>
            <a:ext cx="4537139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Inteligência Comercial escolhe itens e público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 preço passa por aprovação antes da campanha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Sírius e B2B executam as campanhas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12525375" y="2762250"/>
            <a:ext cx="5095875" cy="4476750"/>
          </a:xfrm>
          <a:prstGeom prst="roundRect">
            <a:avLst>
              <a:gd name="adj" fmla="val 2979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12525375" y="2809875"/>
            <a:ext cx="5095875" cy="4429125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28492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12849225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A 3C ESPERA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12849225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Solução na stack e na rotina do cliente</a:t>
            </a:r>
            <a:endParaRPr lang="en-US" sz="2025" dirty="0"/>
          </a:p>
        </p:txBody>
      </p:sp>
      <p:sp>
        <p:nvSpPr>
          <p:cNvPr id="26" name="Text 23"/>
          <p:cNvSpPr txBox="1"/>
          <p:nvPr/>
        </p:nvSpPr>
        <p:spPr>
          <a:xfrm>
            <a:off x="12849225" y="4667250"/>
            <a:ext cx="4537139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Dados no Snowflake e rotina semanal no Airflow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Execução manual a qualquer momento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Teste A/B com painel de resultado diário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1571625" y="7620000"/>
            <a:ext cx="16049625" cy="1809750"/>
          </a:xfrm>
          <a:prstGeom prst="roundRect">
            <a:avLst>
              <a:gd name="adj" fmla="val 736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1895475" y="7867650"/>
            <a:ext cx="4080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ESTÁ EM JOGO</a:t>
            </a:r>
            <a:endParaRPr lang="en-US" sz="1013" dirty="0"/>
          </a:p>
        </p:txBody>
      </p:sp>
      <p:sp>
        <p:nvSpPr>
          <p:cNvPr id="29" name="Text 26"/>
          <p:cNvSpPr txBox="1"/>
          <p:nvPr/>
        </p:nvSpPr>
        <p:spPr>
          <a:xfrm>
            <a:off x="1895475" y="8115300"/>
            <a:ext cx="4177665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Provar ganho, não só recomendar</a:t>
            </a:r>
            <a:endParaRPr lang="en-US" sz="1950" dirty="0"/>
          </a:p>
        </p:txBody>
      </p:sp>
      <p:sp>
        <p:nvSpPr>
          <p:cNvPr id="30" name="Shape 27"/>
          <p:cNvSpPr/>
          <p:nvPr/>
        </p:nvSpPr>
        <p:spPr>
          <a:xfrm>
            <a:off x="6334125" y="7867650"/>
            <a:ext cx="23812" cy="131445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715125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3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715125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mecânicas já ativas no Sírius e no B2B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0287000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50/50</a:t>
            </a:r>
            <a:endParaRPr lang="en-US" sz="2400" dirty="0"/>
          </a:p>
        </p:txBody>
      </p:sp>
      <p:sp>
        <p:nvSpPr>
          <p:cNvPr id="34" name="Text 31"/>
          <p:cNvSpPr txBox="1"/>
          <p:nvPr/>
        </p:nvSpPr>
        <p:spPr>
          <a:xfrm>
            <a:off x="10287000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teste A/B contra o processo atual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13858875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1x por semana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13858875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rodada de recomendação, com execução manual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Visão Geral: Uma Rodada Semanal em Quatro Etapas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Etapas 01 e 03 a 04 ficam na 3C; a etapa 02 roda na AWS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3524250" cy="4286250"/>
          </a:xfrm>
          <a:prstGeom prst="roundRect">
            <a:avLst>
              <a:gd name="adj" fmla="val 3784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3524250" cy="423862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PREPARAR · SNOWFLAKE DA 3C</a:t>
            </a:r>
            <a:endParaRPr lang="en-US" sz="1013" dirty="0"/>
          </a:p>
        </p:txBody>
      </p:sp>
      <p:sp>
        <p:nvSpPr>
          <p:cNvPr id="13" name="Text 10"/>
          <p:cNvSpPr txBox="1"/>
          <p:nvPr/>
        </p:nvSpPr>
        <p:spPr>
          <a:xfrm>
            <a:off x="189547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Preparação da rodada</a:t>
            </a:r>
            <a:endParaRPr lang="en-US" sz="1875" dirty="0"/>
          </a:p>
        </p:txBody>
      </p:sp>
      <p:sp>
        <p:nvSpPr>
          <p:cNvPr id="14" name="Text 11"/>
          <p:cNvSpPr txBox="1"/>
          <p:nvPr/>
        </p:nvSpPr>
        <p:spPr>
          <a:xfrm>
            <a:off x="1895475" y="4667250"/>
            <a:ext cx="2934081" cy="2152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Lê vendas, clientes, produtos e estoque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Filtra itens sem estoque e já comprados no mês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Gera relatório de qualidade e foto versionada</a:t>
            </a:r>
            <a:endParaRPr lang="en-US" sz="1275" dirty="0"/>
          </a:p>
        </p:txBody>
      </p:sp>
      <p:sp>
        <p:nvSpPr>
          <p:cNvPr id="15" name="Shape 12"/>
          <p:cNvSpPr/>
          <p:nvPr/>
        </p:nvSpPr>
        <p:spPr>
          <a:xfrm>
            <a:off x="5743575" y="2762250"/>
            <a:ext cx="3524250" cy="4286250"/>
          </a:xfrm>
          <a:prstGeom prst="roundRect">
            <a:avLst>
              <a:gd name="adj" fmla="val 3784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43575" y="2809875"/>
            <a:ext cx="3524250" cy="423862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0674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606742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RECOMENDAR · AWS</a:t>
            </a:r>
            <a:endParaRPr lang="en-US" sz="1013" dirty="0"/>
          </a:p>
        </p:txBody>
      </p:sp>
      <p:sp>
        <p:nvSpPr>
          <p:cNvPr id="19" name="Text 16"/>
          <p:cNvSpPr txBox="1"/>
          <p:nvPr/>
        </p:nvSpPr>
        <p:spPr>
          <a:xfrm>
            <a:off x="606742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Motor de recomendação</a:t>
            </a:r>
            <a:endParaRPr lang="en-US" sz="1875" dirty="0"/>
          </a:p>
        </p:txBody>
      </p:sp>
      <p:sp>
        <p:nvSpPr>
          <p:cNvPr id="20" name="Text 17"/>
          <p:cNvSpPr txBox="1"/>
          <p:nvPr/>
        </p:nvSpPr>
        <p:spPr>
          <a:xfrm>
            <a:off x="6067425" y="4667250"/>
            <a:ext cx="2934081" cy="2152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Personalize: próxima melhor oferta e mais por menos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Personalize e Glue: regras de cesta para os combos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Glue prepara e formata os dados</a:t>
            </a:r>
            <a:endParaRPr lang="en-US" sz="1275" dirty="0"/>
          </a:p>
        </p:txBody>
      </p:sp>
      <p:sp>
        <p:nvSpPr>
          <p:cNvPr id="21" name="Shape 18"/>
          <p:cNvSpPr/>
          <p:nvPr/>
        </p:nvSpPr>
        <p:spPr>
          <a:xfrm>
            <a:off x="9915525" y="2762250"/>
            <a:ext cx="3524250" cy="4286250"/>
          </a:xfrm>
          <a:prstGeom prst="roundRect">
            <a:avLst>
              <a:gd name="adj" fmla="val 3784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915525" y="2809875"/>
            <a:ext cx="3524250" cy="423862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2393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1023937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ENTREGAR · SNOWFLAKE DA 3C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1023937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Tabelas de recomendação</a:t>
            </a:r>
            <a:endParaRPr lang="en-US" sz="1875" dirty="0"/>
          </a:p>
        </p:txBody>
      </p:sp>
      <p:sp>
        <p:nvSpPr>
          <p:cNvPr id="26" name="Text 23"/>
          <p:cNvSpPr txBox="1"/>
          <p:nvPr/>
        </p:nvSpPr>
        <p:spPr>
          <a:xfrm>
            <a:off x="10239375" y="4667250"/>
            <a:ext cx="2934081" cy="2152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Recomendação da semana por cliente, item e mecânica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Histórico de todas as semanas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Visões de leitura para a Inteligência Comercial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14087475" y="2762250"/>
            <a:ext cx="3524250" cy="4286250"/>
          </a:xfrm>
          <a:prstGeom prst="roundRect">
            <a:avLst>
              <a:gd name="adj" fmla="val 3784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14087475" y="2809875"/>
            <a:ext cx="3524250" cy="423862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44113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04</a:t>
            </a:r>
            <a:endParaRPr lang="en-US" sz="2700" dirty="0"/>
          </a:p>
        </p:txBody>
      </p:sp>
      <p:sp>
        <p:nvSpPr>
          <p:cNvPr id="30" name="Text 27"/>
          <p:cNvSpPr txBox="1"/>
          <p:nvPr/>
        </p:nvSpPr>
        <p:spPr>
          <a:xfrm>
            <a:off x="1441132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MEDIR · SNOWFLAKE E BI DA 3C</a:t>
            </a:r>
            <a:endParaRPr lang="en-US" sz="1013" dirty="0"/>
          </a:p>
        </p:txBody>
      </p:sp>
      <p:sp>
        <p:nvSpPr>
          <p:cNvPr id="31" name="Text 28"/>
          <p:cNvSpPr txBox="1"/>
          <p:nvPr/>
        </p:nvSpPr>
        <p:spPr>
          <a:xfrm>
            <a:off x="1441132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Teste A/B e painel</a:t>
            </a:r>
            <a:endParaRPr lang="en-US" sz="1875" dirty="0"/>
          </a:p>
        </p:txBody>
      </p:sp>
      <p:sp>
        <p:nvSpPr>
          <p:cNvPr id="32" name="Text 29"/>
          <p:cNvSpPr txBox="1"/>
          <p:nvPr/>
        </p:nvSpPr>
        <p:spPr>
          <a:xfrm>
            <a:off x="14411325" y="4667250"/>
            <a:ext cx="2934081" cy="2152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Grupos fixos: recebe a recomendação ou segue o processo atual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Registro de quem recebeu a oferta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Painel de faturamento, margem e conversão</a:t>
            </a:r>
            <a:endParaRPr lang="en-US" sz="1275" dirty="0"/>
          </a:p>
        </p:txBody>
      </p:sp>
      <p:sp>
        <p:nvSpPr>
          <p:cNvPr id="33" name="Shape 30"/>
          <p:cNvSpPr/>
          <p:nvPr/>
        </p:nvSpPr>
        <p:spPr>
          <a:xfrm>
            <a:off x="5248275" y="4762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34" name="Shape 31"/>
          <p:cNvSpPr/>
          <p:nvPr/>
        </p:nvSpPr>
        <p:spPr>
          <a:xfrm>
            <a:off x="9420225" y="4762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35" name="Shape 32"/>
          <p:cNvSpPr/>
          <p:nvPr/>
        </p:nvSpPr>
        <p:spPr>
          <a:xfrm>
            <a:off x="13592175" y="4762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36" name="Shape 33"/>
          <p:cNvSpPr/>
          <p:nvPr/>
        </p:nvSpPr>
        <p:spPr>
          <a:xfrm>
            <a:off x="1571625" y="7524750"/>
            <a:ext cx="16049625" cy="1238250"/>
          </a:xfrm>
          <a:prstGeom prst="roundRect">
            <a:avLst>
              <a:gd name="adj" fmla="val 7692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857375" y="771525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POR QUÊ</a:t>
            </a:r>
            <a:endParaRPr lang="en-US" sz="1013" dirty="0"/>
          </a:p>
        </p:txBody>
      </p:sp>
      <p:sp>
        <p:nvSpPr>
          <p:cNvPr id="38" name="Text 35"/>
          <p:cNvSpPr txBox="1"/>
          <p:nvPr/>
        </p:nvSpPr>
        <p:spPr>
          <a:xfrm>
            <a:off x="1857375" y="7962900"/>
            <a:ext cx="1578768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8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Os dados e a decisão ficam com a 3C. A AWS só calcula as recomendações e devolve as tabelas.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Arquitetura: Dados no Snowflake, Cálculo na AWS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Região AWS: N. Virgínia (us-east-1), na conta da 3C</a:t>
            </a:r>
            <a:endParaRPr lang="en-US" sz="1013" dirty="0"/>
          </a:p>
        </p:txBody>
      </p:sp>
      <p:sp>
        <p:nvSpPr>
          <p:cNvPr id="8" name="Shape 5"/>
          <p:cNvSpPr/>
          <p:nvPr/>
        </p:nvSpPr>
        <p:spPr>
          <a:xfrm>
            <a:off x="1571625" y="2714625"/>
            <a:ext cx="2981325" cy="4095750"/>
          </a:xfrm>
          <a:prstGeom prst="roundRect">
            <a:avLst>
              <a:gd name="adj" fmla="val 4473"/>
            </a:avLst>
          </a:prstGeom>
          <a:solidFill>
            <a:srgbClr val="8A8A8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571625" y="2762250"/>
            <a:ext cx="2981325" cy="4048125"/>
          </a:xfrm>
          <a:prstGeom prst="roundRect">
            <a:avLst>
              <a:gd name="adj" fmla="val 4473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781175" y="2905125"/>
            <a:ext cx="26231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ORIGEM NA 3C</a:t>
            </a:r>
            <a:endParaRPr lang="en-US" sz="1013" dirty="0"/>
          </a:p>
        </p:txBody>
      </p:sp>
      <p:sp>
        <p:nvSpPr>
          <p:cNvPr id="11" name="Shape 8"/>
          <p:cNvSpPr/>
          <p:nvPr/>
        </p:nvSpPr>
        <p:spPr>
          <a:xfrm>
            <a:off x="1724025" y="32385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57375" y="33242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SAP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857375" y="35337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Pedidos, faturamento, clientes e produtos.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1724025" y="41338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857375" y="42195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Feature Store de Clientes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857375" y="44291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Visão 360° do cliente, no Snowflake.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1724025" y="50292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857375" y="51149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Produtos e estoque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857375" y="53244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Cadastros e saldo por filial.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1724025" y="59245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857375" y="60102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Canais e regiões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857375" y="62198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Hierarquias comerciais para as aberturas.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838700" y="2714625"/>
            <a:ext cx="2981325" cy="4095750"/>
          </a:xfrm>
          <a:prstGeom prst="roundRect">
            <a:avLst>
              <a:gd name="adj" fmla="val 4473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38700" y="2762250"/>
            <a:ext cx="2981325" cy="4048125"/>
          </a:xfrm>
          <a:prstGeom prst="roundRect">
            <a:avLst>
              <a:gd name="adj" fmla="val 4473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48250" y="2905125"/>
            <a:ext cx="26231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SNOWFLAKE DA 3C</a:t>
            </a:r>
            <a:endParaRPr lang="en-US" sz="1013" dirty="0"/>
          </a:p>
        </p:txBody>
      </p:sp>
      <p:sp>
        <p:nvSpPr>
          <p:cNvPr id="26" name="Shape 23"/>
          <p:cNvSpPr/>
          <p:nvPr/>
        </p:nvSpPr>
        <p:spPr>
          <a:xfrm>
            <a:off x="4991100" y="32385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124450" y="33242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Preparação da rodada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124450" y="35337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Filtros, relatório de qualidade e foto versionada.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991100" y="41338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124450" y="42195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Tabelas de recomendação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124450" y="44291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Semana, histórico e regras de cesta.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991100" y="50292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24450" y="51149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Grupos do teste A/B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124450" y="53244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Fixos por campanha.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991100" y="59245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24450" y="60102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Medição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5124450" y="62198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Faturamento, margem, sortimento e frequência por grupo.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105775" y="2714625"/>
            <a:ext cx="2981325" cy="4095750"/>
          </a:xfrm>
          <a:prstGeom prst="roundRect">
            <a:avLst>
              <a:gd name="adj" fmla="val 4473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105775" y="2762250"/>
            <a:ext cx="2981325" cy="4048125"/>
          </a:xfrm>
          <a:prstGeom prst="roundRect">
            <a:avLst>
              <a:gd name="adj" fmla="val 4473"/>
            </a:avLst>
          </a:prstGeom>
          <a:solidFill>
            <a:srgbClr val="FFFF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315325" y="2905125"/>
            <a:ext cx="26231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ORQUESTRAÇÃO</a:t>
            </a:r>
            <a:endParaRPr lang="en-US" sz="1013" dirty="0"/>
          </a:p>
        </p:txBody>
      </p:sp>
      <p:sp>
        <p:nvSpPr>
          <p:cNvPr id="41" name="Shape 38"/>
          <p:cNvSpPr/>
          <p:nvPr/>
        </p:nvSpPr>
        <p:spPr>
          <a:xfrm>
            <a:off x="8258175" y="32385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391525" y="33242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Airflow da 3C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391525" y="35337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Agenda a rodada, carrega as tabelas e roda à mão.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8258175" y="41338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391525" y="42195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Manifesto no S3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391525" y="44291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exportação avisa que há dados novos.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8258175" y="50292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391525" y="51149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Step Functions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391525" y="53244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Orquestra a AWS, com tentativas e alertas.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8258175" y="59245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391525" y="60102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Arquivo de sucesso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8391525" y="62198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Libera a carga no Snowflake.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11372850" y="2714625"/>
            <a:ext cx="2981325" cy="4095750"/>
          </a:xfrm>
          <a:prstGeom prst="roundRect">
            <a:avLst>
              <a:gd name="adj" fmla="val 4473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11372850" y="2762250"/>
            <a:ext cx="2981325" cy="4048125"/>
          </a:xfrm>
          <a:prstGeom prst="roundRect">
            <a:avLst>
              <a:gd name="adj" fmla="val 4473"/>
            </a:avLst>
          </a:prstGeom>
          <a:solidFill>
            <a:srgbClr val="FFFFF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11582400" y="2905125"/>
            <a:ext cx="26231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AWS · MOTOR</a:t>
            </a:r>
            <a:endParaRPr lang="en-US" sz="1013" dirty="0"/>
          </a:p>
        </p:txBody>
      </p:sp>
      <p:sp>
        <p:nvSpPr>
          <p:cNvPr id="56" name="Shape 53"/>
          <p:cNvSpPr/>
          <p:nvPr/>
        </p:nvSpPr>
        <p:spPr>
          <a:xfrm>
            <a:off x="11525250" y="32385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pic>
        <p:nvPicPr>
          <p:cNvPr id="57" name="Image 1" descr="assets/icons/s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0500" y="3429000"/>
            <a:ext cx="419100" cy="419100"/>
          </a:xfrm>
          <a:prstGeom prst="rect">
            <a:avLst/>
          </a:prstGeom>
        </p:spPr>
      </p:pic>
      <p:sp>
        <p:nvSpPr>
          <p:cNvPr id="58" name="Text 54"/>
          <p:cNvSpPr txBox="1"/>
          <p:nvPr/>
        </p:nvSpPr>
        <p:spPr>
          <a:xfrm>
            <a:off x="12115800" y="3324225"/>
            <a:ext cx="19916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S3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12115800" y="3533775"/>
            <a:ext cx="199167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Entrada e saída, apagadas em 30 dias.</a:t>
            </a:r>
            <a:endParaRPr lang="en-US" sz="1050" dirty="0"/>
          </a:p>
        </p:txBody>
      </p:sp>
      <p:sp>
        <p:nvSpPr>
          <p:cNvPr id="60" name="Shape 56"/>
          <p:cNvSpPr/>
          <p:nvPr/>
        </p:nvSpPr>
        <p:spPr>
          <a:xfrm>
            <a:off x="11525250" y="41338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pic>
        <p:nvPicPr>
          <p:cNvPr id="61" name="Image 2" descr="assets/icons/g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0500" y="4324350"/>
            <a:ext cx="419100" cy="419100"/>
          </a:xfrm>
          <a:prstGeom prst="rect">
            <a:avLst/>
          </a:prstGeom>
        </p:spPr>
      </p:pic>
      <p:sp>
        <p:nvSpPr>
          <p:cNvPr id="62" name="Text 57"/>
          <p:cNvSpPr txBox="1"/>
          <p:nvPr/>
        </p:nvSpPr>
        <p:spPr>
          <a:xfrm>
            <a:off x="12115800" y="4219575"/>
            <a:ext cx="19916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Glue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12115800" y="4429125"/>
            <a:ext cx="199167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Prepara, mede a cesta e formata as saídas.</a:t>
            </a:r>
            <a:endParaRPr lang="en-US" sz="1050" dirty="0"/>
          </a:p>
        </p:txBody>
      </p:sp>
      <p:sp>
        <p:nvSpPr>
          <p:cNvPr id="64" name="Shape 59"/>
          <p:cNvSpPr/>
          <p:nvPr/>
        </p:nvSpPr>
        <p:spPr>
          <a:xfrm>
            <a:off x="11525250" y="50292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pic>
        <p:nvPicPr>
          <p:cNvPr id="65" name="Image 3" descr="assets/icons/personaliz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20500" y="5219700"/>
            <a:ext cx="419100" cy="419100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12115800" y="5114925"/>
            <a:ext cx="19916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Personalize</a:t>
            </a:r>
            <a:endParaRPr lang="en-US" sz="1200" dirty="0"/>
          </a:p>
        </p:txBody>
      </p:sp>
      <p:sp>
        <p:nvSpPr>
          <p:cNvPr id="67" name="Text 61"/>
          <p:cNvSpPr txBox="1"/>
          <p:nvPr/>
        </p:nvSpPr>
        <p:spPr>
          <a:xfrm>
            <a:off x="12115800" y="5324475"/>
            <a:ext cx="199167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Melhor oferta, mais por menos e cesta.</a:t>
            </a:r>
            <a:endParaRPr lang="en-US" sz="1050" dirty="0"/>
          </a:p>
        </p:txBody>
      </p:sp>
      <p:sp>
        <p:nvSpPr>
          <p:cNvPr id="68" name="Shape 62"/>
          <p:cNvSpPr/>
          <p:nvPr/>
        </p:nvSpPr>
        <p:spPr>
          <a:xfrm>
            <a:off x="11525250" y="59245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pic>
        <p:nvPicPr>
          <p:cNvPr id="69" name="Image 4" descr="assets/icons/cloudtrai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0500" y="6115050"/>
            <a:ext cx="419100" cy="419100"/>
          </a:xfrm>
          <a:prstGeom prst="rect">
            <a:avLst/>
          </a:prstGeom>
        </p:spPr>
      </p:pic>
      <p:sp>
        <p:nvSpPr>
          <p:cNvPr id="70" name="Text 63"/>
          <p:cNvSpPr txBox="1"/>
          <p:nvPr/>
        </p:nvSpPr>
        <p:spPr>
          <a:xfrm>
            <a:off x="12115800" y="6010275"/>
            <a:ext cx="19916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CloudTrail</a:t>
            </a:r>
            <a:endParaRPr lang="en-US" sz="1200" dirty="0"/>
          </a:p>
        </p:txBody>
      </p:sp>
      <p:sp>
        <p:nvSpPr>
          <p:cNvPr id="71" name="Text 64"/>
          <p:cNvSpPr txBox="1"/>
          <p:nvPr/>
        </p:nvSpPr>
        <p:spPr>
          <a:xfrm>
            <a:off x="12115800" y="6219825"/>
            <a:ext cx="199167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Registra quem acessou os dados.</a:t>
            </a:r>
            <a:endParaRPr lang="en-US" sz="1050" dirty="0"/>
          </a:p>
        </p:txBody>
      </p:sp>
      <p:sp>
        <p:nvSpPr>
          <p:cNvPr id="72" name="Shape 65"/>
          <p:cNvSpPr/>
          <p:nvPr/>
        </p:nvSpPr>
        <p:spPr>
          <a:xfrm>
            <a:off x="14639925" y="2714625"/>
            <a:ext cx="2981325" cy="4095750"/>
          </a:xfrm>
          <a:prstGeom prst="roundRect">
            <a:avLst>
              <a:gd name="adj" fmla="val 4473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73" name="Shape 66"/>
          <p:cNvSpPr/>
          <p:nvPr/>
        </p:nvSpPr>
        <p:spPr>
          <a:xfrm>
            <a:off x="14639925" y="2762250"/>
            <a:ext cx="2981325" cy="4048125"/>
          </a:xfrm>
          <a:prstGeom prst="roundRect">
            <a:avLst>
              <a:gd name="adj" fmla="val 4473"/>
            </a:avLst>
          </a:prstGeom>
          <a:solidFill>
            <a:srgbClr val="FFFFFF"/>
          </a:solidFill>
          <a:ln/>
        </p:spPr>
      </p:sp>
      <p:sp>
        <p:nvSpPr>
          <p:cNvPr id="74" name="Text 67"/>
          <p:cNvSpPr txBox="1"/>
          <p:nvPr/>
        </p:nvSpPr>
        <p:spPr>
          <a:xfrm>
            <a:off x="14849475" y="2905125"/>
            <a:ext cx="262318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USO NA 3C</a:t>
            </a:r>
            <a:endParaRPr lang="en-US" sz="1013" dirty="0"/>
          </a:p>
        </p:txBody>
      </p:sp>
      <p:sp>
        <p:nvSpPr>
          <p:cNvPr id="75" name="Shape 68"/>
          <p:cNvSpPr/>
          <p:nvPr/>
        </p:nvSpPr>
        <p:spPr>
          <a:xfrm>
            <a:off x="14792325" y="32385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6" name="Text 69"/>
          <p:cNvSpPr txBox="1"/>
          <p:nvPr/>
        </p:nvSpPr>
        <p:spPr>
          <a:xfrm>
            <a:off x="14925675" y="33242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Inteligência Comercial</a:t>
            </a:r>
            <a:endParaRPr lang="en-US" sz="1200" dirty="0"/>
          </a:p>
        </p:txBody>
      </p:sp>
      <p:sp>
        <p:nvSpPr>
          <p:cNvPr id="77" name="Text 70"/>
          <p:cNvSpPr txBox="1"/>
          <p:nvPr/>
        </p:nvSpPr>
        <p:spPr>
          <a:xfrm>
            <a:off x="14925675" y="35337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Consulta a recomendação e aprova o preço.</a:t>
            </a:r>
            <a:endParaRPr lang="en-US" sz="1050" dirty="0"/>
          </a:p>
        </p:txBody>
      </p:sp>
      <p:sp>
        <p:nvSpPr>
          <p:cNvPr id="78" name="Shape 71"/>
          <p:cNvSpPr/>
          <p:nvPr/>
        </p:nvSpPr>
        <p:spPr>
          <a:xfrm>
            <a:off x="14792325" y="41338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9" name="Text 72"/>
          <p:cNvSpPr txBox="1"/>
          <p:nvPr/>
        </p:nvSpPr>
        <p:spPr>
          <a:xfrm>
            <a:off x="14925675" y="42195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Sírius e B2B</a:t>
            </a:r>
            <a:endParaRPr lang="en-US" sz="1200" dirty="0"/>
          </a:p>
        </p:txBody>
      </p:sp>
      <p:sp>
        <p:nvSpPr>
          <p:cNvPr id="80" name="Text 73"/>
          <p:cNvSpPr txBox="1"/>
          <p:nvPr/>
        </p:nvSpPr>
        <p:spPr>
          <a:xfrm>
            <a:off x="14925675" y="44291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Ativam combos, mais por menos e desconto.</a:t>
            </a:r>
            <a:endParaRPr lang="en-US" sz="1050" dirty="0"/>
          </a:p>
        </p:txBody>
      </p:sp>
      <p:sp>
        <p:nvSpPr>
          <p:cNvPr id="81" name="Shape 74"/>
          <p:cNvSpPr/>
          <p:nvPr/>
        </p:nvSpPr>
        <p:spPr>
          <a:xfrm>
            <a:off x="14792325" y="502920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2" name="Text 75"/>
          <p:cNvSpPr txBox="1"/>
          <p:nvPr/>
        </p:nvSpPr>
        <p:spPr>
          <a:xfrm>
            <a:off x="14925675" y="511492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Salesforce</a:t>
            </a:r>
            <a:endParaRPr lang="en-US" sz="1200" dirty="0"/>
          </a:p>
        </p:txBody>
      </p:sp>
      <p:sp>
        <p:nvSpPr>
          <p:cNvPr id="83" name="Text 76"/>
          <p:cNvSpPr txBox="1"/>
          <p:nvPr/>
        </p:nvSpPr>
        <p:spPr>
          <a:xfrm>
            <a:off x="14925675" y="532447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Registro das campanhas.</a:t>
            </a:r>
            <a:endParaRPr lang="en-US" sz="1050" dirty="0"/>
          </a:p>
        </p:txBody>
      </p:sp>
      <p:sp>
        <p:nvSpPr>
          <p:cNvPr id="84" name="Shape 77"/>
          <p:cNvSpPr/>
          <p:nvPr/>
        </p:nvSpPr>
        <p:spPr>
          <a:xfrm>
            <a:off x="14792325" y="5924550"/>
            <a:ext cx="2676525" cy="800100"/>
          </a:xfrm>
          <a:prstGeom prst="roundRect">
            <a:avLst>
              <a:gd name="adj" fmla="val 9524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5" name="Text 78"/>
          <p:cNvSpPr txBox="1"/>
          <p:nvPr/>
        </p:nvSpPr>
        <p:spPr>
          <a:xfrm>
            <a:off x="14925675" y="6010275"/>
            <a:ext cx="24580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BI da 3C</a:t>
            </a:r>
            <a:endParaRPr lang="en-US" sz="1200" dirty="0"/>
          </a:p>
        </p:txBody>
      </p:sp>
      <p:sp>
        <p:nvSpPr>
          <p:cNvPr id="86" name="Text 79"/>
          <p:cNvSpPr txBox="1"/>
          <p:nvPr/>
        </p:nvSpPr>
        <p:spPr>
          <a:xfrm>
            <a:off x="14925675" y="6219825"/>
            <a:ext cx="2458022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Painel do teste A/B.</a:t>
            </a:r>
            <a:endParaRPr lang="en-US" sz="1050" dirty="0"/>
          </a:p>
        </p:txBody>
      </p:sp>
      <p:sp>
        <p:nvSpPr>
          <p:cNvPr id="87" name="Shape 80"/>
          <p:cNvSpPr/>
          <p:nvPr/>
        </p:nvSpPr>
        <p:spPr>
          <a:xfrm>
            <a:off x="4581525" y="4600575"/>
            <a:ext cx="2286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88" name="Shape 81"/>
          <p:cNvSpPr/>
          <p:nvPr/>
        </p:nvSpPr>
        <p:spPr>
          <a:xfrm>
            <a:off x="7848600" y="4600575"/>
            <a:ext cx="2286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89" name="Shape 82"/>
          <p:cNvSpPr/>
          <p:nvPr/>
        </p:nvSpPr>
        <p:spPr>
          <a:xfrm>
            <a:off x="11115675" y="4600575"/>
            <a:ext cx="2286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90" name="Shape 83"/>
          <p:cNvSpPr/>
          <p:nvPr/>
        </p:nvSpPr>
        <p:spPr>
          <a:xfrm>
            <a:off x="14382750" y="4600575"/>
            <a:ext cx="2286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91" name="Shape 84"/>
          <p:cNvSpPr/>
          <p:nvPr/>
        </p:nvSpPr>
        <p:spPr>
          <a:xfrm>
            <a:off x="1571625" y="7096125"/>
            <a:ext cx="16049625" cy="2333625"/>
          </a:xfrm>
          <a:prstGeom prst="roundRect">
            <a:avLst>
              <a:gd name="adj" fmla="val 5714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92" name="Text 85"/>
          <p:cNvSpPr txBox="1"/>
          <p:nvPr/>
        </p:nvSpPr>
        <p:spPr>
          <a:xfrm>
            <a:off x="1895475" y="7343775"/>
            <a:ext cx="4080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GOVERNANÇA</a:t>
            </a:r>
            <a:endParaRPr lang="en-US" sz="1013" dirty="0"/>
          </a:p>
        </p:txBody>
      </p:sp>
      <p:sp>
        <p:nvSpPr>
          <p:cNvPr id="93" name="Text 86"/>
          <p:cNvSpPr txBox="1"/>
          <p:nvPr/>
        </p:nvSpPr>
        <p:spPr>
          <a:xfrm>
            <a:off x="1895475" y="7591425"/>
            <a:ext cx="4177665" cy="1647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Seguro por padrão e sob controle da 3C</a:t>
            </a:r>
            <a:endParaRPr lang="en-US" sz="1950" dirty="0"/>
          </a:p>
        </p:txBody>
      </p:sp>
      <p:sp>
        <p:nvSpPr>
          <p:cNvPr id="94" name="Shape 87"/>
          <p:cNvSpPr/>
          <p:nvPr/>
        </p:nvSpPr>
        <p:spPr>
          <a:xfrm>
            <a:off x="6334125" y="7343775"/>
            <a:ext cx="23812" cy="1838325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95" name="Text 88"/>
          <p:cNvSpPr txBox="1"/>
          <p:nvPr/>
        </p:nvSpPr>
        <p:spPr>
          <a:xfrm>
            <a:off x="6715125" y="73437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30 dias</a:t>
            </a:r>
            <a:endParaRPr lang="en-US" sz="2400" dirty="0"/>
          </a:p>
        </p:txBody>
      </p:sp>
      <p:sp>
        <p:nvSpPr>
          <p:cNvPr id="96" name="Text 89"/>
          <p:cNvSpPr txBox="1"/>
          <p:nvPr/>
        </p:nvSpPr>
        <p:spPr>
          <a:xfrm>
            <a:off x="6715125" y="7839075"/>
            <a:ext cx="3410140" cy="1419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retenção dos arquivos na AWS; o histórico fica no Snowflake</a:t>
            </a:r>
            <a:endParaRPr lang="en-US" sz="1200" dirty="0"/>
          </a:p>
        </p:txBody>
      </p:sp>
      <p:sp>
        <p:nvSpPr>
          <p:cNvPr id="97" name="Text 90"/>
          <p:cNvSpPr txBox="1"/>
          <p:nvPr/>
        </p:nvSpPr>
        <p:spPr>
          <a:xfrm>
            <a:off x="10287000" y="73437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Código do cliente</a:t>
            </a:r>
            <a:endParaRPr lang="en-US" sz="2400" dirty="0"/>
          </a:p>
        </p:txBody>
      </p:sp>
      <p:sp>
        <p:nvSpPr>
          <p:cNvPr id="98" name="Text 91"/>
          <p:cNvSpPr txBox="1"/>
          <p:nvPr/>
        </p:nvSpPr>
        <p:spPr>
          <a:xfrm>
            <a:off x="10287000" y="7839075"/>
            <a:ext cx="3410140" cy="1419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no lugar do CNPJ nas cópias para a AWS</a:t>
            </a:r>
            <a:endParaRPr lang="en-US" sz="1200" dirty="0"/>
          </a:p>
        </p:txBody>
      </p:sp>
      <p:sp>
        <p:nvSpPr>
          <p:cNvPr id="99" name="Text 92"/>
          <p:cNvSpPr txBox="1"/>
          <p:nvPr/>
        </p:nvSpPr>
        <p:spPr>
          <a:xfrm>
            <a:off x="13858875" y="73437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Chave da 3C</a:t>
            </a:r>
            <a:endParaRPr lang="en-US" sz="2400" dirty="0"/>
          </a:p>
        </p:txBody>
      </p:sp>
      <p:sp>
        <p:nvSpPr>
          <p:cNvPr id="100" name="Text 93"/>
          <p:cNvSpPr txBox="1"/>
          <p:nvPr/>
        </p:nvSpPr>
        <p:spPr>
          <a:xfrm>
            <a:off x="13858875" y="7839075"/>
            <a:ext cx="3410140" cy="1419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criptografia administrada pela 3C; acesso nominal e registrado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Fluxo: Da Carga do SAP ao Painel do Teste A/B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Numeração igual à do diagrama de arquitetura (passos 1 a 14)</a:t>
            </a:r>
            <a:endParaRPr lang="en-US" sz="1013" dirty="0"/>
          </a:p>
        </p:txBody>
      </p:sp>
      <p:sp>
        <p:nvSpPr>
          <p:cNvPr id="8" name="Shape 5"/>
          <p:cNvSpPr/>
          <p:nvPr/>
        </p:nvSpPr>
        <p:spPr>
          <a:xfrm>
            <a:off x="1571625" y="2714625"/>
            <a:ext cx="16049625" cy="2047875"/>
          </a:xfrm>
          <a:prstGeom prst="roundRect">
            <a:avLst>
              <a:gd name="adj" fmla="val 6512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571625" y="2762250"/>
            <a:ext cx="16049625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800225" y="3000375"/>
            <a:ext cx="13601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NA 3C</a:t>
            </a:r>
            <a:endParaRPr lang="en-US" sz="1013" dirty="0"/>
          </a:p>
        </p:txBody>
      </p:sp>
      <p:sp>
        <p:nvSpPr>
          <p:cNvPr id="11" name="Text 8"/>
          <p:cNvSpPr txBox="1"/>
          <p:nvPr/>
        </p:nvSpPr>
        <p:spPr>
          <a:xfrm>
            <a:off x="1800225" y="3228975"/>
            <a:ext cx="136017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Snowflake e Airflow</a:t>
            </a:r>
            <a:endParaRPr lang="en-US" sz="1575" dirty="0"/>
          </a:p>
        </p:txBody>
      </p:sp>
      <p:sp>
        <p:nvSpPr>
          <p:cNvPr id="12" name="Shape 9"/>
          <p:cNvSpPr/>
          <p:nvPr/>
        </p:nvSpPr>
        <p:spPr>
          <a:xfrm>
            <a:off x="1571625" y="5095875"/>
            <a:ext cx="16049625" cy="2047875"/>
          </a:xfrm>
          <a:prstGeom prst="roundRect">
            <a:avLst>
              <a:gd name="adj" fmla="val 6512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571625" y="5143500"/>
            <a:ext cx="16049625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800225" y="5381625"/>
            <a:ext cx="13601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NA AWS</a:t>
            </a:r>
            <a:endParaRPr lang="en-US" sz="1013" dirty="0"/>
          </a:p>
        </p:txBody>
      </p:sp>
      <p:sp>
        <p:nvSpPr>
          <p:cNvPr id="15" name="Text 12"/>
          <p:cNvSpPr txBox="1"/>
          <p:nvPr/>
        </p:nvSpPr>
        <p:spPr>
          <a:xfrm>
            <a:off x="1800225" y="5610225"/>
            <a:ext cx="136017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Motor de recomendação</a:t>
            </a:r>
            <a:endParaRPr lang="en-US" sz="1575" dirty="0"/>
          </a:p>
        </p:txBody>
      </p:sp>
      <p:sp>
        <p:nvSpPr>
          <p:cNvPr id="16" name="Shape 13"/>
          <p:cNvSpPr/>
          <p:nvPr/>
        </p:nvSpPr>
        <p:spPr>
          <a:xfrm>
            <a:off x="1571625" y="7477125"/>
            <a:ext cx="16049625" cy="2047875"/>
          </a:xfrm>
          <a:prstGeom prst="roundRect">
            <a:avLst>
              <a:gd name="adj" fmla="val 6512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1571625" y="7524750"/>
            <a:ext cx="16049625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800225" y="7762875"/>
            <a:ext cx="13601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NA 3C</a:t>
            </a:r>
            <a:endParaRPr lang="en-US" sz="1013" dirty="0"/>
          </a:p>
        </p:txBody>
      </p:sp>
      <p:sp>
        <p:nvSpPr>
          <p:cNvPr id="19" name="Text 16"/>
          <p:cNvSpPr txBox="1"/>
          <p:nvPr/>
        </p:nvSpPr>
        <p:spPr>
          <a:xfrm>
            <a:off x="1800225" y="7991475"/>
            <a:ext cx="136017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Snowflake e canais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6886575" y="30003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000875" y="30003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22" name="Shape 19"/>
          <p:cNvSpPr/>
          <p:nvPr/>
        </p:nvSpPr>
        <p:spPr>
          <a:xfrm>
            <a:off x="7038975" y="315277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038975" y="315277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1013" dirty="0"/>
          </a:p>
        </p:txBody>
      </p:sp>
      <p:sp>
        <p:nvSpPr>
          <p:cNvPr id="24" name="Text 21"/>
          <p:cNvSpPr txBox="1"/>
          <p:nvPr/>
        </p:nvSpPr>
        <p:spPr>
          <a:xfrm>
            <a:off x="7038975" y="34956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Carga do SAP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038975" y="37814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Pedidos e cadastros chegam ao Snowflake: semanal hoje, diária quando a 3C entregar a nova carga.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10582275" y="30003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696575" y="30003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28" name="Shape 25"/>
          <p:cNvSpPr/>
          <p:nvPr/>
        </p:nvSpPr>
        <p:spPr>
          <a:xfrm>
            <a:off x="10734675" y="3152775"/>
            <a:ext cx="8001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734675" y="3152775"/>
            <a:ext cx="81610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02·03</a:t>
            </a:r>
            <a:endParaRPr lang="en-US" sz="1013" dirty="0"/>
          </a:p>
        </p:txBody>
      </p:sp>
      <p:sp>
        <p:nvSpPr>
          <p:cNvPr id="30" name="Text 27"/>
          <p:cNvSpPr txBox="1"/>
          <p:nvPr/>
        </p:nvSpPr>
        <p:spPr>
          <a:xfrm>
            <a:off x="10734675" y="34956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Rodada e preparo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10734675" y="37814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 Airflow dispara; o Snowflake lê e prepara os dados da semana.</a:t>
            </a:r>
            <a:endParaRPr lang="en-US" sz="1125" dirty="0"/>
          </a:p>
        </p:txBody>
      </p:sp>
      <p:sp>
        <p:nvSpPr>
          <p:cNvPr id="32" name="Shape 29"/>
          <p:cNvSpPr/>
          <p:nvPr/>
        </p:nvSpPr>
        <p:spPr>
          <a:xfrm>
            <a:off x="14277975" y="30003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4392275" y="30003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34" name="Shape 31"/>
          <p:cNvSpPr/>
          <p:nvPr/>
        </p:nvSpPr>
        <p:spPr>
          <a:xfrm>
            <a:off x="14430375" y="315277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4430375" y="315277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04</a:t>
            </a:r>
            <a:endParaRPr lang="en-US" sz="1013" dirty="0"/>
          </a:p>
        </p:txBody>
      </p:sp>
      <p:sp>
        <p:nvSpPr>
          <p:cNvPr id="36" name="Text 33"/>
          <p:cNvSpPr txBox="1"/>
          <p:nvPr/>
        </p:nvSpPr>
        <p:spPr>
          <a:xfrm>
            <a:off x="14430375" y="34956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Exporta para o S3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14430375" y="37814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Visões de exportação e manifesto vão ao S3 na conta da 3C.</a:t>
            </a:r>
            <a:endParaRPr lang="en-US" sz="1125" dirty="0"/>
          </a:p>
        </p:txBody>
      </p:sp>
      <p:sp>
        <p:nvSpPr>
          <p:cNvPr id="38" name="Shape 35"/>
          <p:cNvSpPr/>
          <p:nvPr/>
        </p:nvSpPr>
        <p:spPr>
          <a:xfrm>
            <a:off x="14277975" y="538162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4392275" y="5381625"/>
            <a:ext cx="2914650" cy="47625"/>
          </a:xfrm>
          <a:prstGeom prst="rect">
            <a:avLst/>
          </a:prstGeom>
          <a:solidFill>
            <a:srgbClr val="0033FF"/>
          </a:solidFill>
          <a:ln/>
        </p:spPr>
      </p:sp>
      <p:sp>
        <p:nvSpPr>
          <p:cNvPr id="40" name="Shape 37"/>
          <p:cNvSpPr/>
          <p:nvPr/>
        </p:nvSpPr>
        <p:spPr>
          <a:xfrm>
            <a:off x="14430375" y="553402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4430375" y="553402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05</a:t>
            </a:r>
            <a:endParaRPr lang="en-US" sz="1013" dirty="0"/>
          </a:p>
        </p:txBody>
      </p:sp>
      <p:sp>
        <p:nvSpPr>
          <p:cNvPr id="42" name="Text 39"/>
          <p:cNvSpPr txBox="1"/>
          <p:nvPr/>
        </p:nvSpPr>
        <p:spPr>
          <a:xfrm>
            <a:off x="14430375" y="587692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Manifesto aciona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14430375" y="616267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 manifesto dispara o Step Functions; o Glue prepara os arquivos.</a:t>
            </a:r>
            <a:endParaRPr lang="en-US" sz="1125" dirty="0"/>
          </a:p>
        </p:txBody>
      </p:sp>
      <p:sp>
        <p:nvSpPr>
          <p:cNvPr id="44" name="Shape 41"/>
          <p:cNvSpPr/>
          <p:nvPr/>
        </p:nvSpPr>
        <p:spPr>
          <a:xfrm>
            <a:off x="10582275" y="538162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10696575" y="5381625"/>
            <a:ext cx="2914650" cy="47625"/>
          </a:xfrm>
          <a:prstGeom prst="rect">
            <a:avLst/>
          </a:prstGeom>
          <a:solidFill>
            <a:srgbClr val="0033F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734675" y="553402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0734675" y="553402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06</a:t>
            </a:r>
            <a:endParaRPr lang="en-US" sz="1013" dirty="0"/>
          </a:p>
        </p:txBody>
      </p:sp>
      <p:sp>
        <p:nvSpPr>
          <p:cNvPr id="48" name="Text 45"/>
          <p:cNvSpPr txBox="1"/>
          <p:nvPr/>
        </p:nvSpPr>
        <p:spPr>
          <a:xfrm>
            <a:off x="10734675" y="587692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Personalize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10734675" y="616267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Próxima melhor oferta e mais por menos, em lote.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6886575" y="538162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000875" y="5381625"/>
            <a:ext cx="2914650" cy="47625"/>
          </a:xfrm>
          <a:prstGeom prst="rect">
            <a:avLst/>
          </a:prstGeom>
          <a:solidFill>
            <a:srgbClr val="0033FF"/>
          </a:solidFill>
          <a:ln/>
        </p:spPr>
      </p:sp>
      <p:sp>
        <p:nvSpPr>
          <p:cNvPr id="52" name="Shape 49"/>
          <p:cNvSpPr/>
          <p:nvPr/>
        </p:nvSpPr>
        <p:spPr>
          <a:xfrm>
            <a:off x="7038975" y="553402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038975" y="553402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07</a:t>
            </a:r>
            <a:endParaRPr lang="en-US" sz="1013" dirty="0"/>
          </a:p>
        </p:txBody>
      </p:sp>
      <p:sp>
        <p:nvSpPr>
          <p:cNvPr id="54" name="Text 51"/>
          <p:cNvSpPr txBox="1"/>
          <p:nvPr/>
        </p:nvSpPr>
        <p:spPr>
          <a:xfrm>
            <a:off x="7038975" y="587692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Personalize · cesta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7038975" y="616267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Pares do mesmo pedido (SIMS); o Glue calcula suporte, confiança e lift.</a:t>
            </a:r>
            <a:endParaRPr lang="en-US" sz="1125" dirty="0"/>
          </a:p>
        </p:txBody>
      </p:sp>
      <p:sp>
        <p:nvSpPr>
          <p:cNvPr id="56" name="Shape 53"/>
          <p:cNvSpPr/>
          <p:nvPr/>
        </p:nvSpPr>
        <p:spPr>
          <a:xfrm>
            <a:off x="3190875" y="538162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305175" y="5381625"/>
            <a:ext cx="2914650" cy="47625"/>
          </a:xfrm>
          <a:prstGeom prst="rect">
            <a:avLst/>
          </a:prstGeom>
          <a:solidFill>
            <a:srgbClr val="0033FF"/>
          </a:solidFill>
          <a:ln/>
        </p:spPr>
      </p:sp>
      <p:sp>
        <p:nvSpPr>
          <p:cNvPr id="58" name="Shape 55"/>
          <p:cNvSpPr/>
          <p:nvPr/>
        </p:nvSpPr>
        <p:spPr>
          <a:xfrm>
            <a:off x="3343275" y="5534025"/>
            <a:ext cx="8001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3343275" y="5534025"/>
            <a:ext cx="81610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08·09</a:t>
            </a:r>
            <a:endParaRPr lang="en-US" sz="1013" dirty="0"/>
          </a:p>
        </p:txBody>
      </p:sp>
      <p:sp>
        <p:nvSpPr>
          <p:cNvPr id="60" name="Text 57"/>
          <p:cNvSpPr txBox="1"/>
          <p:nvPr/>
        </p:nvSpPr>
        <p:spPr>
          <a:xfrm>
            <a:off x="3343275" y="587692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Glue grava a saída</a:t>
            </a:r>
            <a:endParaRPr lang="en-US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3343275" y="616267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Junta as saídas, aplica o filtro final e grava o arquivo de sucesso.</a:t>
            </a:r>
            <a:endParaRPr lang="en-US" sz="1125" dirty="0"/>
          </a:p>
        </p:txBody>
      </p:sp>
      <p:sp>
        <p:nvSpPr>
          <p:cNvPr id="62" name="Shape 59"/>
          <p:cNvSpPr/>
          <p:nvPr/>
        </p:nvSpPr>
        <p:spPr>
          <a:xfrm>
            <a:off x="3190875" y="77628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3305175" y="77628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64" name="Shape 61"/>
          <p:cNvSpPr/>
          <p:nvPr/>
        </p:nvSpPr>
        <p:spPr>
          <a:xfrm>
            <a:off x="3343275" y="791527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3343275" y="791527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10</a:t>
            </a:r>
            <a:endParaRPr lang="en-US" sz="1013" dirty="0"/>
          </a:p>
        </p:txBody>
      </p:sp>
      <p:sp>
        <p:nvSpPr>
          <p:cNvPr id="66" name="Text 63"/>
          <p:cNvSpPr txBox="1"/>
          <p:nvPr/>
        </p:nvSpPr>
        <p:spPr>
          <a:xfrm>
            <a:off x="3343275" y="82581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Carga no Snowflake</a:t>
            </a:r>
            <a:endParaRPr lang="en-US" sz="1500" dirty="0"/>
          </a:p>
        </p:txBody>
      </p:sp>
      <p:sp>
        <p:nvSpPr>
          <p:cNvPr id="67" name="Text 64"/>
          <p:cNvSpPr txBox="1"/>
          <p:nvPr/>
        </p:nvSpPr>
        <p:spPr>
          <a:xfrm>
            <a:off x="3343275" y="85439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 Airflow vê o arquivo de sucesso e carrega as tabelas.</a:t>
            </a:r>
            <a:endParaRPr lang="en-US" sz="1125" dirty="0"/>
          </a:p>
        </p:txBody>
      </p:sp>
      <p:sp>
        <p:nvSpPr>
          <p:cNvPr id="68" name="Shape 65"/>
          <p:cNvSpPr/>
          <p:nvPr/>
        </p:nvSpPr>
        <p:spPr>
          <a:xfrm>
            <a:off x="6886575" y="77628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7000875" y="77628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70" name="Shape 67"/>
          <p:cNvSpPr/>
          <p:nvPr/>
        </p:nvSpPr>
        <p:spPr>
          <a:xfrm>
            <a:off x="7038975" y="791527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7038975" y="791527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11</a:t>
            </a:r>
            <a:endParaRPr lang="en-US" sz="1013" dirty="0"/>
          </a:p>
        </p:txBody>
      </p:sp>
      <p:sp>
        <p:nvSpPr>
          <p:cNvPr id="72" name="Text 69"/>
          <p:cNvSpPr txBox="1"/>
          <p:nvPr/>
        </p:nvSpPr>
        <p:spPr>
          <a:xfrm>
            <a:off x="7038975" y="82581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Consulta e aprova</a:t>
            </a:r>
            <a:endParaRPr lang="en-US" sz="1500" dirty="0"/>
          </a:p>
        </p:txBody>
      </p:sp>
      <p:sp>
        <p:nvSpPr>
          <p:cNvPr id="73" name="Text 70"/>
          <p:cNvSpPr txBox="1"/>
          <p:nvPr/>
        </p:nvSpPr>
        <p:spPr>
          <a:xfrm>
            <a:off x="7038975" y="85439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 Inteligência Comercial consulta, escolhe e aprova o preço.</a:t>
            </a:r>
            <a:endParaRPr lang="en-US" sz="1125" dirty="0"/>
          </a:p>
        </p:txBody>
      </p:sp>
      <p:sp>
        <p:nvSpPr>
          <p:cNvPr id="74" name="Shape 71"/>
          <p:cNvSpPr/>
          <p:nvPr/>
        </p:nvSpPr>
        <p:spPr>
          <a:xfrm>
            <a:off x="10582275" y="77628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10696575" y="77628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76" name="Shape 73"/>
          <p:cNvSpPr/>
          <p:nvPr/>
        </p:nvSpPr>
        <p:spPr>
          <a:xfrm>
            <a:off x="10734675" y="7915275"/>
            <a:ext cx="8001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10734675" y="7915275"/>
            <a:ext cx="81610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12·13</a:t>
            </a:r>
            <a:endParaRPr lang="en-US" sz="1013" dirty="0"/>
          </a:p>
        </p:txBody>
      </p:sp>
      <p:sp>
        <p:nvSpPr>
          <p:cNvPr id="78" name="Text 75"/>
          <p:cNvSpPr txBox="1"/>
          <p:nvPr/>
        </p:nvSpPr>
        <p:spPr>
          <a:xfrm>
            <a:off x="10734675" y="82581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Campanha e exposição</a:t>
            </a:r>
            <a:endParaRPr lang="en-US" sz="1500" dirty="0"/>
          </a:p>
        </p:txBody>
      </p:sp>
      <p:sp>
        <p:nvSpPr>
          <p:cNvPr id="79" name="Text 76"/>
          <p:cNvSpPr txBox="1"/>
          <p:nvPr/>
        </p:nvSpPr>
        <p:spPr>
          <a:xfrm>
            <a:off x="10734675" y="85439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Os canais ativam a oferta e registram quem a recebeu.</a:t>
            </a:r>
            <a:endParaRPr lang="en-US" sz="1125" dirty="0"/>
          </a:p>
        </p:txBody>
      </p:sp>
      <p:sp>
        <p:nvSpPr>
          <p:cNvPr id="80" name="Shape 77"/>
          <p:cNvSpPr/>
          <p:nvPr/>
        </p:nvSpPr>
        <p:spPr>
          <a:xfrm>
            <a:off x="14277975" y="7762875"/>
            <a:ext cx="3143250" cy="1476375"/>
          </a:xfrm>
          <a:prstGeom prst="roundRect">
            <a:avLst>
              <a:gd name="adj" fmla="val 6452"/>
            </a:avLst>
          </a:prstGeom>
          <a:solidFill>
            <a:srgbClr val="F7F7F7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14392275" y="7762875"/>
            <a:ext cx="2914650" cy="47625"/>
          </a:xfrm>
          <a:prstGeom prst="rect">
            <a:avLst/>
          </a:prstGeom>
          <a:solidFill>
            <a:srgbClr val="001863"/>
          </a:solidFill>
          <a:ln/>
        </p:spPr>
      </p:sp>
      <p:sp>
        <p:nvSpPr>
          <p:cNvPr id="82" name="Shape 79"/>
          <p:cNvSpPr/>
          <p:nvPr/>
        </p:nvSpPr>
        <p:spPr>
          <a:xfrm>
            <a:off x="14430375" y="7915275"/>
            <a:ext cx="533400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14430375" y="7915275"/>
            <a:ext cx="5440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14</a:t>
            </a:r>
            <a:endParaRPr lang="en-US" sz="1013" dirty="0"/>
          </a:p>
        </p:txBody>
      </p:sp>
      <p:sp>
        <p:nvSpPr>
          <p:cNvPr id="84" name="Text 81"/>
          <p:cNvSpPr txBox="1"/>
          <p:nvPr/>
        </p:nvSpPr>
        <p:spPr>
          <a:xfrm>
            <a:off x="14430375" y="8258175"/>
            <a:ext cx="289521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Medição e painel</a:t>
            </a:r>
            <a:endParaRPr lang="en-US" sz="1500" dirty="0"/>
          </a:p>
        </p:txBody>
      </p:sp>
      <p:sp>
        <p:nvSpPr>
          <p:cNvPr id="85" name="Text 82"/>
          <p:cNvSpPr txBox="1"/>
          <p:nvPr/>
        </p:nvSpPr>
        <p:spPr>
          <a:xfrm>
            <a:off x="14430375" y="8543925"/>
            <a:ext cx="289521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 teste A/B é medido e vai ao painel do BI da 3C.</a:t>
            </a:r>
            <a:endParaRPr lang="en-US" sz="1125" dirty="0"/>
          </a:p>
        </p:txBody>
      </p:sp>
      <p:sp>
        <p:nvSpPr>
          <p:cNvPr id="86" name="Shape 83"/>
          <p:cNvSpPr/>
          <p:nvPr/>
        </p:nvSpPr>
        <p:spPr>
          <a:xfrm>
            <a:off x="10134600" y="3590925"/>
            <a:ext cx="3429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87" name="Shape 84"/>
          <p:cNvSpPr/>
          <p:nvPr/>
        </p:nvSpPr>
        <p:spPr>
          <a:xfrm>
            <a:off x="13830300" y="3590925"/>
            <a:ext cx="3429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88" name="Shape 85"/>
          <p:cNvSpPr/>
          <p:nvPr/>
        </p:nvSpPr>
        <p:spPr>
          <a:xfrm>
            <a:off x="13830300" y="5972175"/>
            <a:ext cx="342900" cy="266700"/>
          </a:xfrm>
          <a:prstGeom prst="leftArrow">
            <a:avLst/>
          </a:prstGeom>
          <a:solidFill>
            <a:srgbClr val="0033FF"/>
          </a:solidFill>
          <a:ln/>
        </p:spPr>
      </p:sp>
      <p:sp>
        <p:nvSpPr>
          <p:cNvPr id="89" name="Shape 86"/>
          <p:cNvSpPr/>
          <p:nvPr/>
        </p:nvSpPr>
        <p:spPr>
          <a:xfrm>
            <a:off x="10134600" y="5972175"/>
            <a:ext cx="342900" cy="266700"/>
          </a:xfrm>
          <a:prstGeom prst="leftArrow">
            <a:avLst/>
          </a:prstGeom>
          <a:solidFill>
            <a:srgbClr val="0033FF"/>
          </a:solidFill>
          <a:ln/>
        </p:spPr>
      </p:sp>
      <p:sp>
        <p:nvSpPr>
          <p:cNvPr id="90" name="Shape 87"/>
          <p:cNvSpPr/>
          <p:nvPr/>
        </p:nvSpPr>
        <p:spPr>
          <a:xfrm>
            <a:off x="6438900" y="5972175"/>
            <a:ext cx="342900" cy="266700"/>
          </a:xfrm>
          <a:prstGeom prst="leftArrow">
            <a:avLst/>
          </a:prstGeom>
          <a:solidFill>
            <a:srgbClr val="0033FF"/>
          </a:solidFill>
          <a:ln/>
        </p:spPr>
      </p:sp>
      <p:sp>
        <p:nvSpPr>
          <p:cNvPr id="91" name="Shape 88"/>
          <p:cNvSpPr/>
          <p:nvPr/>
        </p:nvSpPr>
        <p:spPr>
          <a:xfrm>
            <a:off x="6438900" y="8353425"/>
            <a:ext cx="3429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92" name="Shape 89"/>
          <p:cNvSpPr/>
          <p:nvPr/>
        </p:nvSpPr>
        <p:spPr>
          <a:xfrm>
            <a:off x="10134600" y="8353425"/>
            <a:ext cx="3429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93" name="Shape 90"/>
          <p:cNvSpPr/>
          <p:nvPr/>
        </p:nvSpPr>
        <p:spPr>
          <a:xfrm>
            <a:off x="13830300" y="8353425"/>
            <a:ext cx="342900" cy="26670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94" name="Shape 91"/>
          <p:cNvSpPr/>
          <p:nvPr/>
        </p:nvSpPr>
        <p:spPr>
          <a:xfrm>
            <a:off x="15687675" y="4781550"/>
            <a:ext cx="323850" cy="295275"/>
          </a:xfrm>
          <a:prstGeom prst="downArrow">
            <a:avLst/>
          </a:prstGeom>
          <a:solidFill>
            <a:srgbClr val="0033FF"/>
          </a:solidFill>
          <a:ln/>
        </p:spPr>
      </p:sp>
      <p:sp>
        <p:nvSpPr>
          <p:cNvPr id="95" name="Shape 92"/>
          <p:cNvSpPr/>
          <p:nvPr/>
        </p:nvSpPr>
        <p:spPr>
          <a:xfrm>
            <a:off x="4600575" y="7162800"/>
            <a:ext cx="323850" cy="295275"/>
          </a:xfrm>
          <a:prstGeom prst="downArrow">
            <a:avLst/>
          </a:prstGeom>
          <a:solidFill>
            <a:srgbClr val="0033F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Motor de Recomendação: Cada Mecânica Tem Seu Método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Preços e limites dos serviços conferidos na documentação AWS em 27/10/2026</a:t>
            </a:r>
            <a:endParaRPr lang="en-US" sz="1013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71625" y="2762250"/>
          <a:ext cx="16049625" cy="914400"/>
        </p:xfrm>
        <a:graphic>
          <a:graphicData uri="http://schemas.openxmlformats.org/drawingml/2006/table">
            <a:tbl>
              <a:tblPr/>
              <a:tblGrid>
                <a:gridCol w="2381250"/>
                <a:gridCol w="3810000"/>
                <a:gridCol w="4191000"/>
                <a:gridCol w="2667000"/>
                <a:gridCol w="300037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Mecânica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Pergunta que responde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Como calculamos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Serviço AWS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que entra na tabela semanal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Desconto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Qual item oferecer a cada cliente?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Próxima melhor oferta: nota por cliente e item, separando itens novos e recompra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Amazon Personalize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Itens ranqueados por cliente, com nota e motivo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Mais por menos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Quais clientes devem receber a oferta de um item?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Afinidade com o item: clientes mais propensos ao SKU em oferta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Amazon Personalize (afinidade com item)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Clientes ranqueados por item em oferta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Combos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Quais itens comprados juntos formam um combo?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Pares de itens do mesmo pedido, ranqueados pelo Personalize; suporte, confiança e lift por canal e região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Amazon Personalize (SIMS) e AWS Glue (métricas)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Pares e trios de itens com as métricas da regra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As três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que vale para todas?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Filtros de estoque, de itens já comprados no mês, de canal e de região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AWS Glue (apoio)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5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Tabela única com a mecânica, o grupo do teste e a vigência</a:t>
                      </a:r>
                      <a:endParaRPr lang="en-US" sz="1275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1571625" y="8096250"/>
            <a:ext cx="16049625" cy="1143000"/>
          </a:xfrm>
          <a:prstGeom prst="roundRect">
            <a:avLst>
              <a:gd name="adj" fmla="val 8333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857375" y="828675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REGRA DE NEGÓCIO</a:t>
            </a:r>
            <a:endParaRPr lang="en-US" sz="1013" dirty="0"/>
          </a:p>
        </p:txBody>
      </p:sp>
      <p:sp>
        <p:nvSpPr>
          <p:cNvPr id="11" name="Text 7"/>
          <p:cNvSpPr txBox="1"/>
          <p:nvPr/>
        </p:nvSpPr>
        <p:spPr>
          <a:xfrm>
            <a:off x="1857375" y="8534400"/>
            <a:ext cx="1578768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8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Estoque e itens já comprados no mês são filtrados na preparação e conferidos de novo na saída, antes de publicar.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Teste A/B: Prova do Ganho em Faturamento e Margem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Fonte: especificação técnica da 3 Corações (KPIs e dashboard)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7905750" cy="4762500"/>
          </a:xfrm>
          <a:prstGeom prst="roundRect">
            <a:avLst>
              <a:gd name="adj" fmla="val 2800"/>
            </a:avLst>
          </a:prstGeom>
          <a:solidFill>
            <a:srgbClr val="001863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7905750" cy="4714875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0990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COMO O TESTE FUNCIONA</a:t>
            </a:r>
            <a:endParaRPr lang="en-US" sz="1013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390900"/>
            <a:ext cx="6800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2667000" y="3409950"/>
            <a:ext cx="66065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Grupos fixos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2667000" y="3714750"/>
            <a:ext cx="66065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Cada cliente fica em "recebe a recomendação" ou "segue o processo atual", por campanha.</a:t>
            </a:r>
            <a:endParaRPr lang="en-US" sz="1275" dirty="0"/>
          </a:p>
        </p:txBody>
      </p:sp>
      <p:sp>
        <p:nvSpPr>
          <p:cNvPr id="15" name="Text 12"/>
          <p:cNvSpPr txBox="1"/>
          <p:nvPr/>
        </p:nvSpPr>
        <p:spPr>
          <a:xfrm>
            <a:off x="1895475" y="4400550"/>
            <a:ext cx="6800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667000" y="4419600"/>
            <a:ext cx="66065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Oferta ativada</a:t>
            </a:r>
            <a:endParaRPr 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2667000" y="4724400"/>
            <a:ext cx="66065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Sírius e B2B ativam a campanha para o grupo de teste, depois da aprovação de preço.</a:t>
            </a:r>
            <a:endParaRPr lang="en-US" sz="1275" dirty="0"/>
          </a:p>
        </p:txBody>
      </p:sp>
      <p:sp>
        <p:nvSpPr>
          <p:cNvPr id="18" name="Text 15"/>
          <p:cNvSpPr txBox="1"/>
          <p:nvPr/>
        </p:nvSpPr>
        <p:spPr>
          <a:xfrm>
            <a:off x="1895475" y="5410200"/>
            <a:ext cx="6800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2667000" y="5429250"/>
            <a:ext cx="66065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Exposição registrada</a:t>
            </a:r>
            <a:endParaRPr lang="en-US" sz="1650" dirty="0"/>
          </a:p>
        </p:txBody>
      </p:sp>
      <p:sp>
        <p:nvSpPr>
          <p:cNvPr id="20" name="Text 17"/>
          <p:cNvSpPr txBox="1"/>
          <p:nvPr/>
        </p:nvSpPr>
        <p:spPr>
          <a:xfrm>
            <a:off x="2667000" y="5734050"/>
            <a:ext cx="66065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Fica gravado quem recebeu qual oferta, por cliente, item, canal e data.</a:t>
            </a:r>
            <a:endParaRPr lang="en-US" sz="1275" dirty="0"/>
          </a:p>
        </p:txBody>
      </p:sp>
      <p:sp>
        <p:nvSpPr>
          <p:cNvPr id="21" name="Text 18"/>
          <p:cNvSpPr txBox="1"/>
          <p:nvPr/>
        </p:nvSpPr>
        <p:spPr>
          <a:xfrm>
            <a:off x="1895475" y="6419850"/>
            <a:ext cx="68008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2667000" y="6438900"/>
            <a:ext cx="66065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Medição por grupo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2667000" y="6743700"/>
            <a:ext cx="660654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Vendas, grupos e exposição se cruzam e alimentam o painel.</a:t>
            </a:r>
            <a:endParaRPr lang="en-US" sz="1275" dirty="0"/>
          </a:p>
        </p:txBody>
      </p:sp>
      <p:sp>
        <p:nvSpPr>
          <p:cNvPr id="24" name="Shape 21"/>
          <p:cNvSpPr/>
          <p:nvPr/>
        </p:nvSpPr>
        <p:spPr>
          <a:xfrm>
            <a:off x="9715500" y="2762250"/>
            <a:ext cx="7905750" cy="4762500"/>
          </a:xfrm>
          <a:prstGeom prst="roundRect">
            <a:avLst>
              <a:gd name="adj" fmla="val 2800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715500" y="2809875"/>
            <a:ext cx="7905750" cy="4714875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039350" y="300990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MEDIMOS EM CADA GRUPO</a:t>
            </a:r>
            <a:endParaRPr lang="en-US" sz="1013" dirty="0"/>
          </a:p>
        </p:txBody>
      </p:sp>
      <p:sp>
        <p:nvSpPr>
          <p:cNvPr id="27" name="Shape 24"/>
          <p:cNvSpPr/>
          <p:nvPr/>
        </p:nvSpPr>
        <p:spPr>
          <a:xfrm>
            <a:off x="10039350" y="3429000"/>
            <a:ext cx="2000250" cy="3810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039350" y="3429000"/>
            <a:ext cx="204025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FATURAMENTO</a:t>
            </a:r>
            <a:endParaRPr lang="en-US" sz="1013" dirty="0"/>
          </a:p>
        </p:txBody>
      </p:sp>
      <p:sp>
        <p:nvSpPr>
          <p:cNvPr id="29" name="Text 26"/>
          <p:cNvSpPr txBox="1"/>
          <p:nvPr/>
        </p:nvSpPr>
        <p:spPr>
          <a:xfrm>
            <a:off x="12249150" y="3486150"/>
            <a:ext cx="52463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receita por cliente na vigência da campanha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10039350" y="4229100"/>
            <a:ext cx="2000250" cy="3810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039350" y="4229100"/>
            <a:ext cx="204025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MARGEM</a:t>
            </a:r>
            <a:endParaRPr lang="en-US" sz="1013" dirty="0"/>
          </a:p>
        </p:txBody>
      </p:sp>
      <p:sp>
        <p:nvSpPr>
          <p:cNvPr id="32" name="Text 29"/>
          <p:cNvSpPr txBox="1"/>
          <p:nvPr/>
        </p:nvSpPr>
        <p:spPr>
          <a:xfrm>
            <a:off x="12249150" y="4286250"/>
            <a:ext cx="52463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margem de contribuição por cliente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10039350" y="5029200"/>
            <a:ext cx="2000250" cy="3810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039350" y="5029200"/>
            <a:ext cx="204025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SORTIMENTO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2249150" y="5086350"/>
            <a:ext cx="52463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SKUs distintos pedidos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10039350" y="5829300"/>
            <a:ext cx="2000250" cy="3810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0039350" y="5829300"/>
            <a:ext cx="204025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FREQUÊNCIA</a:t>
            </a:r>
            <a:endParaRPr lang="en-US" sz="1013" dirty="0"/>
          </a:p>
        </p:txBody>
      </p:sp>
      <p:sp>
        <p:nvSpPr>
          <p:cNvPr id="38" name="Text 35"/>
          <p:cNvSpPr txBox="1"/>
          <p:nvPr/>
        </p:nvSpPr>
        <p:spPr>
          <a:xfrm>
            <a:off x="12249150" y="5886450"/>
            <a:ext cx="52463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pedidos distintos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10039350" y="6629400"/>
            <a:ext cx="2000250" cy="3810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039350" y="6629400"/>
            <a:ext cx="204025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CONVERSÃO</a:t>
            </a:r>
            <a:endParaRPr lang="en-US" sz="1013" dirty="0"/>
          </a:p>
        </p:txBody>
      </p:sp>
      <p:sp>
        <p:nvSpPr>
          <p:cNvPr id="41" name="Text 38"/>
          <p:cNvSpPr txBox="1"/>
          <p:nvPr/>
        </p:nvSpPr>
        <p:spPr>
          <a:xfrm>
            <a:off x="12249150" y="6686550"/>
            <a:ext cx="52463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compra do item ou combo ofertado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1571625" y="7905750"/>
            <a:ext cx="16049625" cy="1428750"/>
          </a:xfrm>
          <a:prstGeom prst="roundRect">
            <a:avLst>
              <a:gd name="adj" fmla="val 6667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857375" y="809625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DEPENDÊNCIA DA 3C</a:t>
            </a:r>
            <a:endParaRPr lang="en-US" sz="1013" dirty="0"/>
          </a:p>
        </p:txBody>
      </p:sp>
      <p:sp>
        <p:nvSpPr>
          <p:cNvPr id="44" name="Text 41"/>
          <p:cNvSpPr txBox="1"/>
          <p:nvPr/>
        </p:nvSpPr>
        <p:spPr>
          <a:xfrm>
            <a:off x="1857375" y="8343900"/>
            <a:ext cx="1578768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8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Registrar quem recebeu a oferta no Sírius, no B2B e no Salesforce. Enquanto a carga de vendas for semanal, o painel de resultado também atualiza toda semana.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Dados e Segurança: Acesso Rigoroso e Retenção Curta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Detalhe na aba 3 do diagrama de arquitetura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3829050" cy="4476750"/>
          </a:xfrm>
          <a:prstGeom prst="roundRect">
            <a:avLst>
              <a:gd name="adj" fmla="val 3483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3829050" cy="4429125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581400"/>
            <a:ext cx="32449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FICA ONDE</a:t>
            </a:r>
            <a:endParaRPr lang="en-US" sz="1013" dirty="0"/>
          </a:p>
        </p:txBody>
      </p:sp>
      <p:sp>
        <p:nvSpPr>
          <p:cNvPr id="13" name="Text 10"/>
          <p:cNvSpPr txBox="1"/>
          <p:nvPr/>
        </p:nvSpPr>
        <p:spPr>
          <a:xfrm>
            <a:off x="1895475" y="3829050"/>
            <a:ext cx="3244977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Snowflake guarda, AWS calcula</a:t>
            </a:r>
            <a:endParaRPr lang="en-US" sz="1875" dirty="0"/>
          </a:p>
        </p:txBody>
      </p:sp>
      <p:sp>
        <p:nvSpPr>
          <p:cNvPr id="14" name="Text 11"/>
          <p:cNvSpPr txBox="1"/>
          <p:nvPr/>
        </p:nvSpPr>
        <p:spPr>
          <a:xfrm>
            <a:off x="1895475" y="4667250"/>
            <a:ext cx="3244977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Snowflake: dados, histórico, grupos e medição, sem prazo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AWS: arquivos de entrada e saída por 30 dias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Métricas, versões de modelo e logs sem dado pessoal</a:t>
            </a:r>
            <a:endParaRPr lang="en-US" sz="1275" dirty="0"/>
          </a:p>
        </p:txBody>
      </p:sp>
      <p:sp>
        <p:nvSpPr>
          <p:cNvPr id="15" name="Shape 12"/>
          <p:cNvSpPr/>
          <p:nvPr/>
        </p:nvSpPr>
        <p:spPr>
          <a:xfrm>
            <a:off x="5648325" y="2762250"/>
            <a:ext cx="3829050" cy="4476750"/>
          </a:xfrm>
          <a:prstGeom prst="roundRect">
            <a:avLst>
              <a:gd name="adj" fmla="val 3483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48325" y="2809875"/>
            <a:ext cx="3829050" cy="4429125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721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5972175" y="3581400"/>
            <a:ext cx="32449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SAI DO SNOWFLAKE</a:t>
            </a:r>
            <a:endParaRPr lang="en-US" sz="1013" dirty="0"/>
          </a:p>
        </p:txBody>
      </p:sp>
      <p:sp>
        <p:nvSpPr>
          <p:cNvPr id="19" name="Text 16"/>
          <p:cNvSpPr txBox="1"/>
          <p:nvPr/>
        </p:nvSpPr>
        <p:spPr>
          <a:xfrm>
            <a:off x="5972175" y="3829050"/>
            <a:ext cx="3244977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Só o necessário para recomendar</a:t>
            </a:r>
            <a:endParaRPr lang="en-US" sz="1875" dirty="0"/>
          </a:p>
        </p:txBody>
      </p:sp>
      <p:sp>
        <p:nvSpPr>
          <p:cNvPr id="20" name="Text 17"/>
          <p:cNvSpPr txBox="1"/>
          <p:nvPr/>
        </p:nvSpPr>
        <p:spPr>
          <a:xfrm>
            <a:off x="5972175" y="4667250"/>
            <a:ext cx="3244977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Código do cliente do SAP no lugar do CNPJ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Histórico de compras, itens e estoque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Só por visões de exportação, com papel próprio</a:t>
            </a:r>
            <a:endParaRPr lang="en-US" sz="1275" dirty="0"/>
          </a:p>
        </p:txBody>
      </p:sp>
      <p:sp>
        <p:nvSpPr>
          <p:cNvPr id="21" name="Shape 18"/>
          <p:cNvSpPr/>
          <p:nvPr/>
        </p:nvSpPr>
        <p:spPr>
          <a:xfrm>
            <a:off x="9725025" y="2762250"/>
            <a:ext cx="3829050" cy="4476750"/>
          </a:xfrm>
          <a:prstGeom prst="roundRect">
            <a:avLst>
              <a:gd name="adj" fmla="val 3483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9725025" y="2809875"/>
            <a:ext cx="3829050" cy="4429125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0488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10048875" y="3581400"/>
            <a:ext cx="32449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QUEM ACESSA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10048875" y="3829050"/>
            <a:ext cx="3244977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Acesso nominal e registrado</a:t>
            </a:r>
            <a:endParaRPr lang="en-US" sz="1875" dirty="0"/>
          </a:p>
        </p:txBody>
      </p:sp>
      <p:sp>
        <p:nvSpPr>
          <p:cNvPr id="26" name="Text 23"/>
          <p:cNvSpPr txBox="1"/>
          <p:nvPr/>
        </p:nvSpPr>
        <p:spPr>
          <a:xfrm>
            <a:off x="10048875" y="4667250"/>
            <a:ext cx="3244977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Papéis por função, sem usuário compartilhado e com verificação em duas etapas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A3Data como operadora, sob contrato de operador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Revisão trimestral de acessos pela 3C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13801725" y="2762250"/>
            <a:ext cx="3829050" cy="4476750"/>
          </a:xfrm>
          <a:prstGeom prst="roundRect">
            <a:avLst>
              <a:gd name="adj" fmla="val 3483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13801725" y="2809875"/>
            <a:ext cx="3829050" cy="4429125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41255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04</a:t>
            </a:r>
            <a:endParaRPr lang="en-US" sz="2700" dirty="0"/>
          </a:p>
        </p:txBody>
      </p:sp>
      <p:sp>
        <p:nvSpPr>
          <p:cNvPr id="30" name="Text 27"/>
          <p:cNvSpPr txBox="1"/>
          <p:nvPr/>
        </p:nvSpPr>
        <p:spPr>
          <a:xfrm>
            <a:off x="14125575" y="3581400"/>
            <a:ext cx="32449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COMO PROTEGEMOS</a:t>
            </a:r>
            <a:endParaRPr lang="en-US" sz="1013" dirty="0"/>
          </a:p>
        </p:txBody>
      </p:sp>
      <p:sp>
        <p:nvSpPr>
          <p:cNvPr id="31" name="Text 28"/>
          <p:cNvSpPr txBox="1"/>
          <p:nvPr/>
        </p:nvSpPr>
        <p:spPr>
          <a:xfrm>
            <a:off x="14125575" y="3829050"/>
            <a:ext cx="3244977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Chaves e trilha da 3C</a:t>
            </a:r>
            <a:endParaRPr lang="en-US" sz="1875" dirty="0"/>
          </a:p>
        </p:txBody>
      </p:sp>
      <p:sp>
        <p:nvSpPr>
          <p:cNvPr id="32" name="Text 29"/>
          <p:cNvSpPr txBox="1"/>
          <p:nvPr/>
        </p:nvSpPr>
        <p:spPr>
          <a:xfrm>
            <a:off x="14125575" y="4667250"/>
            <a:ext cx="3244977" cy="234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Chave de criptografia administrada pela 3C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Armazenamento fechado para a internet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Auditoria de acessos e alerta de gasto</a:t>
            </a:r>
            <a:endParaRPr lang="en-US" sz="1275" dirty="0"/>
          </a:p>
        </p:txBody>
      </p:sp>
      <p:sp>
        <p:nvSpPr>
          <p:cNvPr id="33" name="Shape 30"/>
          <p:cNvSpPr/>
          <p:nvPr/>
        </p:nvSpPr>
        <p:spPr>
          <a:xfrm>
            <a:off x="1571625" y="7524750"/>
            <a:ext cx="16049625" cy="1619250"/>
          </a:xfrm>
          <a:prstGeom prst="roundRect">
            <a:avLst>
              <a:gd name="adj" fmla="val 5882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857375" y="7715250"/>
            <a:ext cx="485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REGIÃO E LGPD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857375" y="7962900"/>
            <a:ext cx="15787688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863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Toda a AWS fica em N. Virgínia (us-east-1), porque o Amazon Personalize não existe em São Paulo. A posição do jurídico e do encarregado de dados da 3C é confirmada antes de qualquer dado real sair do Snowflake.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POC: Prova de Valor em Escala Menor Antes da Produção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Escopo e prazo são proposta, a validar com a 3C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5095875" cy="4191000"/>
          </a:xfrm>
          <a:prstGeom prst="roundRect">
            <a:avLst>
              <a:gd name="adj" fmla="val 3182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5095875" cy="4143375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ESCOPO</a:t>
            </a:r>
            <a:endParaRPr lang="en-US" sz="1013" dirty="0"/>
          </a:p>
        </p:txBody>
      </p:sp>
      <p:sp>
        <p:nvSpPr>
          <p:cNvPr id="13" name="Text 10"/>
          <p:cNvSpPr txBox="1"/>
          <p:nvPr/>
        </p:nvSpPr>
        <p:spPr>
          <a:xfrm>
            <a:off x="1895475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Um recorte da operação</a:t>
            </a:r>
            <a:endParaRPr lang="en-US" sz="2025" dirty="0"/>
          </a:p>
        </p:txBody>
      </p:sp>
      <p:sp>
        <p:nvSpPr>
          <p:cNvPr id="14" name="Text 11"/>
          <p:cNvSpPr txBox="1"/>
          <p:nvPr/>
        </p:nvSpPr>
        <p:spPr>
          <a:xfrm>
            <a:off x="1895475" y="4667250"/>
            <a:ext cx="4537139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filial e 1 a 2 famílias de produto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 meses de histórico por cliente e item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Disparo à mão, sem depender do Airflow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048500" y="2762250"/>
            <a:ext cx="5095875" cy="4191000"/>
          </a:xfrm>
          <a:prstGeom prst="roundRect">
            <a:avLst>
              <a:gd name="adj" fmla="val 3182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048500" y="2809875"/>
            <a:ext cx="5095875" cy="4143375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72350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700" dirty="0"/>
          </a:p>
        </p:txBody>
      </p:sp>
      <p:sp>
        <p:nvSpPr>
          <p:cNvPr id="18" name="Text 15"/>
          <p:cNvSpPr txBox="1"/>
          <p:nvPr/>
        </p:nvSpPr>
        <p:spPr>
          <a:xfrm>
            <a:off x="7372350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COMO MEDIMOS</a:t>
            </a:r>
            <a:endParaRPr lang="en-US" sz="1013" dirty="0"/>
          </a:p>
        </p:txBody>
      </p:sp>
      <p:sp>
        <p:nvSpPr>
          <p:cNvPr id="19" name="Text 16"/>
          <p:cNvSpPr txBox="1"/>
          <p:nvPr/>
        </p:nvSpPr>
        <p:spPr>
          <a:xfrm>
            <a:off x="7372350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Contra um piso simples</a:t>
            </a:r>
            <a:endParaRPr lang="en-US" sz="2025" dirty="0"/>
          </a:p>
        </p:txBody>
      </p:sp>
      <p:sp>
        <p:nvSpPr>
          <p:cNvPr id="20" name="Text 17"/>
          <p:cNvSpPr txBox="1"/>
          <p:nvPr/>
        </p:nvSpPr>
        <p:spPr>
          <a:xfrm>
            <a:off x="7372350" y="4667250"/>
            <a:ext cx="4537139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Acerto nos 10 primeiros itens e cobertura do catálogo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Ganho sobre popularidade e cesta em SQL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Critério combinado antes dos resultados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12525375" y="2762250"/>
            <a:ext cx="5095875" cy="4191000"/>
          </a:xfrm>
          <a:prstGeom prst="roundRect">
            <a:avLst>
              <a:gd name="adj" fmla="val 3182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12525375" y="2809875"/>
            <a:ext cx="5095875" cy="4143375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28492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700" dirty="0"/>
          </a:p>
        </p:txBody>
      </p:sp>
      <p:sp>
        <p:nvSpPr>
          <p:cNvPr id="24" name="Text 21"/>
          <p:cNvSpPr txBox="1"/>
          <p:nvPr/>
        </p:nvSpPr>
        <p:spPr>
          <a:xfrm>
            <a:off x="12849225" y="3581400"/>
            <a:ext cx="4537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 QUE ENTREGAMOS</a:t>
            </a:r>
            <a:endParaRPr lang="en-US" sz="1013" dirty="0"/>
          </a:p>
        </p:txBody>
      </p:sp>
      <p:sp>
        <p:nvSpPr>
          <p:cNvPr id="25" name="Text 22"/>
          <p:cNvSpPr txBox="1"/>
          <p:nvPr/>
        </p:nvSpPr>
        <p:spPr>
          <a:xfrm>
            <a:off x="12849225" y="3829050"/>
            <a:ext cx="4537139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2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Recomendação e decisão</a:t>
            </a:r>
            <a:endParaRPr lang="en-US" sz="2025" dirty="0"/>
          </a:p>
        </p:txBody>
      </p:sp>
      <p:sp>
        <p:nvSpPr>
          <p:cNvPr id="26" name="Text 23"/>
          <p:cNvSpPr txBox="1"/>
          <p:nvPr/>
        </p:nvSpPr>
        <p:spPr>
          <a:xfrm>
            <a:off x="12849225" y="4667250"/>
            <a:ext cx="4537139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Recomendações e regras de cesta nas tabelas do Snowflake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Relatório de comparação por mecânica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50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Recomendação sobre seguir ao teste A/B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3962400" y="2819400"/>
            <a:ext cx="2381250" cy="285750"/>
          </a:xfrm>
          <a:prstGeom prst="roundRect">
            <a:avLst>
              <a:gd name="adj" fmla="val 50000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962400" y="2819400"/>
            <a:ext cx="24288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4 SEMANAS · W0 A W3</a:t>
            </a:r>
            <a:endParaRPr lang="en-US" sz="1013" dirty="0"/>
          </a:p>
        </p:txBody>
      </p:sp>
      <p:sp>
        <p:nvSpPr>
          <p:cNvPr id="29" name="Shape 26"/>
          <p:cNvSpPr/>
          <p:nvPr/>
        </p:nvSpPr>
        <p:spPr>
          <a:xfrm>
            <a:off x="1571625" y="7286625"/>
            <a:ext cx="16049625" cy="2143125"/>
          </a:xfrm>
          <a:prstGeom prst="roundRect">
            <a:avLst>
              <a:gd name="adj" fmla="val 6222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1895475" y="7534275"/>
            <a:ext cx="4080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POR QUE UMA POC</a:t>
            </a:r>
            <a:endParaRPr lang="en-US" sz="1013" dirty="0"/>
          </a:p>
        </p:txBody>
      </p:sp>
      <p:sp>
        <p:nvSpPr>
          <p:cNvPr id="31" name="Text 28"/>
          <p:cNvSpPr txBox="1"/>
          <p:nvPr/>
        </p:nvSpPr>
        <p:spPr>
          <a:xfrm>
            <a:off x="1895475" y="7781925"/>
            <a:ext cx="4177665" cy="145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Evidência antes de escalar</a:t>
            </a:r>
            <a:endParaRPr lang="en-US" sz="1950" dirty="0"/>
          </a:p>
        </p:txBody>
      </p:sp>
      <p:sp>
        <p:nvSpPr>
          <p:cNvPr id="32" name="Shape 29"/>
          <p:cNvSpPr/>
          <p:nvPr/>
        </p:nvSpPr>
        <p:spPr>
          <a:xfrm>
            <a:off x="6334125" y="7534275"/>
            <a:ext cx="23812" cy="1647825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715125" y="75342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Menor risco</a:t>
            </a:r>
            <a:endParaRPr lang="en-US" sz="2400" dirty="0"/>
          </a:p>
        </p:txBody>
      </p:sp>
      <p:sp>
        <p:nvSpPr>
          <p:cNvPr id="34" name="Text 31"/>
          <p:cNvSpPr txBox="1"/>
          <p:nvPr/>
        </p:nvSpPr>
        <p:spPr>
          <a:xfrm>
            <a:off x="6715125" y="8029575"/>
            <a:ext cx="341014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dados reais em 1 filial e 1 a 2 famílias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10287000" y="75342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Piso claro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10287000" y="8029575"/>
            <a:ext cx="341014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comparação com popularidade e cesta em SQL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3858875" y="7534275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Decisão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13858875" y="8029575"/>
            <a:ext cx="341014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seguir para a produção com teste A/B ou ajustar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Cronograma: Sete Semanas, da W0 à W6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Cronograma proposto, a validar com a 3C · semana de 5 dias úteis · W0 = alinhamentos e acessos</a:t>
            </a:r>
            <a:endParaRPr lang="en-US" sz="1013" dirty="0"/>
          </a:p>
        </p:txBody>
      </p:sp>
      <p:sp>
        <p:nvSpPr>
          <p:cNvPr id="8" name="Shape 5"/>
          <p:cNvSpPr/>
          <p:nvPr/>
        </p:nvSpPr>
        <p:spPr>
          <a:xfrm>
            <a:off x="1571625" y="2667000"/>
            <a:ext cx="16049625" cy="685800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6682357" y="3333750"/>
            <a:ext cx="938893" cy="571500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Shape 7"/>
          <p:cNvSpPr/>
          <p:nvPr/>
        </p:nvSpPr>
        <p:spPr>
          <a:xfrm>
            <a:off x="6667500" y="2781300"/>
            <a:ext cx="6202136" cy="266700"/>
          </a:xfrm>
          <a:prstGeom prst="roundRect">
            <a:avLst>
              <a:gd name="adj" fmla="val 50000"/>
            </a:avLst>
          </a:prstGeom>
          <a:solidFill>
            <a:srgbClr val="00186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67500" y="2781300"/>
            <a:ext cx="632617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FASE 1 · CONSTRUÇÃO · W0 A W3</a:t>
            </a:r>
            <a:endParaRPr lang="en-US" sz="1013" dirty="0"/>
          </a:p>
        </p:txBody>
      </p:sp>
      <p:sp>
        <p:nvSpPr>
          <p:cNvPr id="12" name="Shape 9"/>
          <p:cNvSpPr/>
          <p:nvPr/>
        </p:nvSpPr>
        <p:spPr>
          <a:xfrm>
            <a:off x="12926786" y="2781300"/>
            <a:ext cx="4694464" cy="266700"/>
          </a:xfrm>
          <a:prstGeom prst="roundRect">
            <a:avLst>
              <a:gd name="adj" fmla="val 50000"/>
            </a:avLst>
          </a:prstGeom>
          <a:solidFill>
            <a:srgbClr val="0033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2926786" y="2781300"/>
            <a:ext cx="478835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FASE 2 · CAMPANHAS E RESULTADO · W4 A W6</a:t>
            </a:r>
            <a:endParaRPr lang="en-US" sz="1013" dirty="0"/>
          </a:p>
        </p:txBody>
      </p:sp>
      <p:sp>
        <p:nvSpPr>
          <p:cNvPr id="14" name="Text 11"/>
          <p:cNvSpPr txBox="1"/>
          <p:nvPr/>
        </p:nvSpPr>
        <p:spPr>
          <a:xfrm>
            <a:off x="6667500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232321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W1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797143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1361964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2926786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W4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4491607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W5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6056429" y="3105150"/>
            <a:ext cx="15961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W6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662738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2" name="Shape 19"/>
          <p:cNvSpPr/>
          <p:nvPr/>
        </p:nvSpPr>
        <p:spPr>
          <a:xfrm>
            <a:off x="8227559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3" name="Shape 20"/>
          <p:cNvSpPr/>
          <p:nvPr/>
        </p:nvSpPr>
        <p:spPr>
          <a:xfrm>
            <a:off x="9792380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57202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5" name="Shape 22"/>
          <p:cNvSpPr/>
          <p:nvPr/>
        </p:nvSpPr>
        <p:spPr>
          <a:xfrm>
            <a:off x="12917261" y="3333750"/>
            <a:ext cx="19050" cy="5715000"/>
          </a:xfrm>
          <a:prstGeom prst="rect">
            <a:avLst/>
          </a:prstGeom>
          <a:solidFill>
            <a:srgbClr val="C9C9C9"/>
          </a:solidFill>
          <a:ln/>
        </p:spPr>
      </p:sp>
      <p:sp>
        <p:nvSpPr>
          <p:cNvPr id="26" name="Shape 23"/>
          <p:cNvSpPr/>
          <p:nvPr/>
        </p:nvSpPr>
        <p:spPr>
          <a:xfrm>
            <a:off x="14486845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7" name="Shape 24"/>
          <p:cNvSpPr/>
          <p:nvPr/>
        </p:nvSpPr>
        <p:spPr>
          <a:xfrm>
            <a:off x="16051666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8" name="Shape 25"/>
          <p:cNvSpPr/>
          <p:nvPr/>
        </p:nvSpPr>
        <p:spPr>
          <a:xfrm>
            <a:off x="17616488" y="3333750"/>
            <a:ext cx="9525" cy="571500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895475" y="33909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Alinhamentos, liberação de acessos e contrato de operador</a:t>
            </a:r>
            <a:endParaRPr lang="en-US" sz="1125" dirty="0"/>
          </a:p>
        </p:txBody>
      </p:sp>
      <p:sp>
        <p:nvSpPr>
          <p:cNvPr id="30" name="Text 27"/>
          <p:cNvSpPr txBox="1"/>
          <p:nvPr/>
        </p:nvSpPr>
        <p:spPr>
          <a:xfrm>
            <a:off x="1895475" y="37338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Testes de aceite do NBO e do MBA no Personalize</a:t>
            </a:r>
            <a:endParaRPr lang="en-US" sz="1125" dirty="0"/>
          </a:p>
        </p:txBody>
      </p:sp>
      <p:sp>
        <p:nvSpPr>
          <p:cNvPr id="31" name="Text 28"/>
          <p:cNvSpPr txBox="1"/>
          <p:nvPr/>
        </p:nvSpPr>
        <p:spPr>
          <a:xfrm>
            <a:off x="1895475" y="40767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e preparação no Snowflake</a:t>
            </a:r>
            <a:endParaRPr lang="en-US" sz="1125" dirty="0"/>
          </a:p>
        </p:txBody>
      </p:sp>
      <p:sp>
        <p:nvSpPr>
          <p:cNvPr id="32" name="Text 29"/>
          <p:cNvSpPr txBox="1"/>
          <p:nvPr/>
        </p:nvSpPr>
        <p:spPr>
          <a:xfrm>
            <a:off x="1895475" y="44196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Pipeline AWS: Glue, Personalize e Step Functions</a:t>
            </a:r>
            <a:endParaRPr lang="en-US" sz="1125" dirty="0"/>
          </a:p>
        </p:txBody>
      </p:sp>
      <p:sp>
        <p:nvSpPr>
          <p:cNvPr id="33" name="Text 30"/>
          <p:cNvSpPr txBox="1"/>
          <p:nvPr/>
        </p:nvSpPr>
        <p:spPr>
          <a:xfrm>
            <a:off x="1895475" y="47625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Primeira rodada semanal completa</a:t>
            </a:r>
            <a:endParaRPr lang="en-US" sz="1125" dirty="0"/>
          </a:p>
        </p:txBody>
      </p:sp>
      <p:sp>
        <p:nvSpPr>
          <p:cNvPr id="34" name="Text 31"/>
          <p:cNvSpPr txBox="1"/>
          <p:nvPr/>
        </p:nvSpPr>
        <p:spPr>
          <a:xfrm>
            <a:off x="1895475" y="51054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Grupos do teste A/B e registro de exposição</a:t>
            </a:r>
            <a:endParaRPr lang="en-US" sz="1125" dirty="0"/>
          </a:p>
        </p:txBody>
      </p:sp>
      <p:sp>
        <p:nvSpPr>
          <p:cNvPr id="35" name="Text 32"/>
          <p:cNvSpPr txBox="1"/>
          <p:nvPr/>
        </p:nvSpPr>
        <p:spPr>
          <a:xfrm>
            <a:off x="1895475" y="54483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Painel diário no BI da 3C</a:t>
            </a:r>
            <a:endParaRPr lang="en-US" sz="1125" dirty="0"/>
          </a:p>
        </p:txBody>
      </p:sp>
      <p:sp>
        <p:nvSpPr>
          <p:cNvPr id="36" name="Text 33"/>
          <p:cNvSpPr txBox="1"/>
          <p:nvPr/>
        </p:nvSpPr>
        <p:spPr>
          <a:xfrm>
            <a:off x="1895475" y="57912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Campanhas com teste A/B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895475" y="61341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Ajuste dos modelos e desafiante de NBO</a:t>
            </a:r>
            <a:endParaRPr lang="en-US" sz="1125" dirty="0"/>
          </a:p>
        </p:txBody>
      </p:sp>
      <p:sp>
        <p:nvSpPr>
          <p:cNvPr id="38" name="Text 35"/>
          <p:cNvSpPr txBox="1"/>
          <p:nvPr/>
        </p:nvSpPr>
        <p:spPr>
          <a:xfrm>
            <a:off x="1895475" y="64770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Resultado e transferência de conhecimento</a:t>
            </a:r>
            <a:endParaRPr lang="en-US" sz="1125" dirty="0"/>
          </a:p>
        </p:txBody>
      </p:sp>
      <p:sp>
        <p:nvSpPr>
          <p:cNvPr id="39" name="Shape 36"/>
          <p:cNvSpPr/>
          <p:nvPr/>
        </p:nvSpPr>
        <p:spPr>
          <a:xfrm>
            <a:off x="6667500" y="34480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667500" y="34480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41" name="Shape 38"/>
          <p:cNvSpPr/>
          <p:nvPr/>
        </p:nvSpPr>
        <p:spPr>
          <a:xfrm>
            <a:off x="8232321" y="37909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32321" y="37909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43" name="Shape 40"/>
          <p:cNvSpPr/>
          <p:nvPr/>
        </p:nvSpPr>
        <p:spPr>
          <a:xfrm>
            <a:off x="8232321" y="4133850"/>
            <a:ext cx="3129643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32321" y="4133850"/>
            <a:ext cx="3192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2 semanas</a:t>
            </a:r>
            <a:endParaRPr lang="en-US" sz="1013" dirty="0"/>
          </a:p>
        </p:txBody>
      </p:sp>
      <p:sp>
        <p:nvSpPr>
          <p:cNvPr id="45" name="Shape 42"/>
          <p:cNvSpPr/>
          <p:nvPr/>
        </p:nvSpPr>
        <p:spPr>
          <a:xfrm>
            <a:off x="8232321" y="4476750"/>
            <a:ext cx="3129643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32321" y="4476750"/>
            <a:ext cx="3192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2 semanas</a:t>
            </a:r>
            <a:endParaRPr lang="en-US" sz="1013" dirty="0"/>
          </a:p>
        </p:txBody>
      </p:sp>
      <p:sp>
        <p:nvSpPr>
          <p:cNvPr id="47" name="Shape 44"/>
          <p:cNvSpPr/>
          <p:nvPr/>
        </p:nvSpPr>
        <p:spPr>
          <a:xfrm>
            <a:off x="11361964" y="48196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1361964" y="48196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49" name="Shape 46"/>
          <p:cNvSpPr/>
          <p:nvPr/>
        </p:nvSpPr>
        <p:spPr>
          <a:xfrm>
            <a:off x="11361964" y="51625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1361964" y="51625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51" name="Shape 48"/>
          <p:cNvSpPr/>
          <p:nvPr/>
        </p:nvSpPr>
        <p:spPr>
          <a:xfrm>
            <a:off x="11361964" y="55054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361964" y="55054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53" name="Shape 50"/>
          <p:cNvSpPr/>
          <p:nvPr/>
        </p:nvSpPr>
        <p:spPr>
          <a:xfrm>
            <a:off x="12926786" y="5848350"/>
            <a:ext cx="3129643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2926786" y="5848350"/>
            <a:ext cx="3192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2 semanas</a:t>
            </a:r>
            <a:endParaRPr lang="en-US" sz="1013" dirty="0"/>
          </a:p>
        </p:txBody>
      </p:sp>
      <p:sp>
        <p:nvSpPr>
          <p:cNvPr id="55" name="Shape 52"/>
          <p:cNvSpPr/>
          <p:nvPr/>
        </p:nvSpPr>
        <p:spPr>
          <a:xfrm>
            <a:off x="12926786" y="6191250"/>
            <a:ext cx="1564821" cy="228600"/>
          </a:xfrm>
          <a:prstGeom prst="roundRect">
            <a:avLst>
              <a:gd name="adj" fmla="val 25000"/>
            </a:avLst>
          </a:prstGeom>
          <a:solidFill>
            <a:srgbClr val="E6EBFF"/>
          </a:solidFill>
          <a:ln w="19050">
            <a:solidFill>
              <a:srgbClr val="0033FF"/>
            </a:solidFill>
            <a:prstDash val="dash"/>
          </a:ln>
        </p:spPr>
      </p:sp>
      <p:sp>
        <p:nvSpPr>
          <p:cNvPr id="56" name="Text 53"/>
          <p:cNvSpPr txBox="1"/>
          <p:nvPr/>
        </p:nvSpPr>
        <p:spPr>
          <a:xfrm>
            <a:off x="12926786" y="6191250"/>
            <a:ext cx="15961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1 semana</a:t>
            </a:r>
            <a:endParaRPr lang="en-US" sz="1013" dirty="0"/>
          </a:p>
        </p:txBody>
      </p:sp>
      <p:sp>
        <p:nvSpPr>
          <p:cNvPr id="57" name="Shape 54"/>
          <p:cNvSpPr/>
          <p:nvPr/>
        </p:nvSpPr>
        <p:spPr>
          <a:xfrm>
            <a:off x="16056429" y="6534150"/>
            <a:ext cx="625929" cy="228600"/>
          </a:xfrm>
          <a:prstGeom prst="roundRect">
            <a:avLst>
              <a:gd name="adj" fmla="val 25000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6056429" y="6534150"/>
            <a:ext cx="6384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2 dias</a:t>
            </a:r>
            <a:endParaRPr lang="en-US" sz="1013" dirty="0"/>
          </a:p>
        </p:txBody>
      </p:sp>
      <p:sp>
        <p:nvSpPr>
          <p:cNvPr id="59" name="Text 56"/>
          <p:cNvSpPr txBox="1"/>
          <p:nvPr/>
        </p:nvSpPr>
        <p:spPr>
          <a:xfrm>
            <a:off x="1895475" y="6858000"/>
            <a:ext cx="3886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EQUIPE E DEDICAÇÃO</a:t>
            </a:r>
            <a:endParaRPr lang="en-US" sz="1013" dirty="0"/>
          </a:p>
        </p:txBody>
      </p:sp>
      <p:sp>
        <p:nvSpPr>
          <p:cNvPr id="60" name="Text 57"/>
          <p:cNvSpPr txBox="1"/>
          <p:nvPr/>
        </p:nvSpPr>
        <p:spPr>
          <a:xfrm>
            <a:off x="1895475" y="70866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Arquiteto de soluções</a:t>
            </a:r>
            <a:endParaRPr lang="en-US" sz="1125" dirty="0"/>
          </a:p>
        </p:txBody>
      </p:sp>
      <p:sp>
        <p:nvSpPr>
          <p:cNvPr id="61" name="Text 58"/>
          <p:cNvSpPr txBox="1"/>
          <p:nvPr/>
        </p:nvSpPr>
        <p:spPr>
          <a:xfrm>
            <a:off x="1895475" y="74295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Engenheiro de ML: engenharia de dados e parte do Personalize</a:t>
            </a:r>
            <a:endParaRPr lang="en-US" sz="1125" dirty="0"/>
          </a:p>
        </p:txBody>
      </p:sp>
      <p:sp>
        <p:nvSpPr>
          <p:cNvPr id="62" name="Text 59"/>
          <p:cNvSpPr txBox="1"/>
          <p:nvPr/>
        </p:nvSpPr>
        <p:spPr>
          <a:xfrm>
            <a:off x="1895475" y="77724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Cientista de dados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1895475" y="8115300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CLP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6667500" y="7143750"/>
            <a:ext cx="3129643" cy="228600"/>
          </a:xfrm>
          <a:prstGeom prst="roundRect">
            <a:avLst>
              <a:gd name="adj" fmla="val 25000"/>
            </a:avLst>
          </a:prstGeom>
          <a:solidFill>
            <a:srgbClr val="001863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6667500" y="7143750"/>
            <a:ext cx="31922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Arquiteto · 2 semanas</a:t>
            </a:r>
            <a:endParaRPr lang="en-US" sz="1013" dirty="0"/>
          </a:p>
        </p:txBody>
      </p:sp>
      <p:sp>
        <p:nvSpPr>
          <p:cNvPr id="66" name="Shape 63"/>
          <p:cNvSpPr/>
          <p:nvPr/>
        </p:nvSpPr>
        <p:spPr>
          <a:xfrm>
            <a:off x="8232321" y="7486650"/>
            <a:ext cx="6259286" cy="228600"/>
          </a:xfrm>
          <a:prstGeom prst="roundRect">
            <a:avLst>
              <a:gd name="adj" fmla="val 25000"/>
            </a:avLst>
          </a:prstGeom>
          <a:solidFill>
            <a:srgbClr val="001863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8232321" y="7486650"/>
            <a:ext cx="63844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Engenheiro de ML · 1 mês</a:t>
            </a:r>
            <a:endParaRPr lang="en-US" sz="1013" dirty="0"/>
          </a:p>
        </p:txBody>
      </p:sp>
      <p:sp>
        <p:nvSpPr>
          <p:cNvPr id="68" name="Shape 65"/>
          <p:cNvSpPr/>
          <p:nvPr/>
        </p:nvSpPr>
        <p:spPr>
          <a:xfrm>
            <a:off x="11987893" y="7829550"/>
            <a:ext cx="4694464" cy="228600"/>
          </a:xfrm>
          <a:prstGeom prst="roundRect">
            <a:avLst>
              <a:gd name="adj" fmla="val 25000"/>
            </a:avLst>
          </a:prstGeom>
          <a:solidFill>
            <a:srgbClr val="001863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11987893" y="7829550"/>
            <a:ext cx="47883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Cientista de dados · 3 semanas</a:t>
            </a:r>
            <a:endParaRPr lang="en-US" sz="1013" dirty="0"/>
          </a:p>
        </p:txBody>
      </p:sp>
      <p:sp>
        <p:nvSpPr>
          <p:cNvPr id="70" name="Shape 67"/>
          <p:cNvSpPr/>
          <p:nvPr/>
        </p:nvSpPr>
        <p:spPr>
          <a:xfrm>
            <a:off x="6667500" y="8172450"/>
            <a:ext cx="10014857" cy="228600"/>
          </a:xfrm>
          <a:prstGeom prst="roundRect">
            <a:avLst>
              <a:gd name="adj" fmla="val 25000"/>
            </a:avLst>
          </a:prstGeom>
          <a:solidFill>
            <a:srgbClr val="001863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667500" y="8172450"/>
            <a:ext cx="10215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CLP · do início ao fim do projeto</a:t>
            </a:r>
            <a:endParaRPr lang="en-US" sz="1013" dirty="0"/>
          </a:p>
        </p:txBody>
      </p:sp>
      <p:sp>
        <p:nvSpPr>
          <p:cNvPr id="72" name="Text 69"/>
          <p:cNvSpPr txBox="1"/>
          <p:nvPr/>
        </p:nvSpPr>
        <p:spPr>
          <a:xfrm>
            <a:off x="1895475" y="8553450"/>
            <a:ext cx="29146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75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Marcos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663793" y="8534400"/>
            <a:ext cx="266700" cy="266700"/>
          </a:xfrm>
          <a:prstGeom prst="diamond">
            <a:avLst/>
          </a:prstGeom>
          <a:solidFill>
            <a:srgbClr val="1A1A1A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8749393" y="8839200"/>
            <a:ext cx="21374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Testes de aceite</a:t>
            </a:r>
            <a:endParaRPr lang="en-US" sz="1050" dirty="0"/>
          </a:p>
        </p:txBody>
      </p:sp>
      <p:sp>
        <p:nvSpPr>
          <p:cNvPr id="75" name="Shape 72"/>
          <p:cNvSpPr/>
          <p:nvPr/>
        </p:nvSpPr>
        <p:spPr>
          <a:xfrm>
            <a:off x="12793436" y="8534400"/>
            <a:ext cx="266700" cy="266700"/>
          </a:xfrm>
          <a:prstGeom prst="diamond">
            <a:avLst/>
          </a:prstGeom>
          <a:solidFill>
            <a:srgbClr val="1A1A1A"/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11879036" y="8839200"/>
            <a:ext cx="21374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1ª campanha</a:t>
            </a:r>
            <a:endParaRPr lang="en-US" sz="1050" dirty="0"/>
          </a:p>
        </p:txBody>
      </p:sp>
      <p:sp>
        <p:nvSpPr>
          <p:cNvPr id="77" name="Shape 74"/>
          <p:cNvSpPr/>
          <p:nvPr/>
        </p:nvSpPr>
        <p:spPr>
          <a:xfrm>
            <a:off x="16549007" y="8534400"/>
            <a:ext cx="266700" cy="266700"/>
          </a:xfrm>
          <a:prstGeom prst="diamond">
            <a:avLst/>
          </a:prstGeom>
          <a:solidFill>
            <a:srgbClr val="1A1A1A"/>
          </a:solidFill>
          <a:ln/>
        </p:spPr>
      </p:sp>
      <p:sp>
        <p:nvSpPr>
          <p:cNvPr id="78" name="Text 75"/>
          <p:cNvSpPr txBox="1"/>
          <p:nvPr/>
        </p:nvSpPr>
        <p:spPr>
          <a:xfrm>
            <a:off x="15634607" y="8839200"/>
            <a:ext cx="213741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Resultado do teste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16682357" y="3448050"/>
            <a:ext cx="95767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13" dirty="0">
                <a:solidFill>
                  <a:srgbClr val="8A8A8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FOLGA</a:t>
            </a:r>
            <a:endParaRPr lang="en-US" sz="1013" dirty="0"/>
          </a:p>
        </p:txBody>
      </p:sp>
      <p:sp>
        <p:nvSpPr>
          <p:cNvPr id="80" name="Text 77"/>
          <p:cNvSpPr txBox="1"/>
          <p:nvPr/>
        </p:nvSpPr>
        <p:spPr>
          <a:xfrm>
            <a:off x="16682357" y="3638550"/>
            <a:ext cx="95767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13" dirty="0">
                <a:solidFill>
                  <a:srgbClr val="8A8A8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0,6 sem.</a:t>
            </a:r>
            <a:endParaRPr lang="en-US" sz="1013" dirty="0"/>
          </a:p>
        </p:txBody>
      </p:sp>
      <p:sp>
        <p:nvSpPr>
          <p:cNvPr id="81" name="Shape 78"/>
          <p:cNvSpPr/>
          <p:nvPr/>
        </p:nvSpPr>
        <p:spPr>
          <a:xfrm>
            <a:off x="1895475" y="9182100"/>
            <a:ext cx="381000" cy="171450"/>
          </a:xfrm>
          <a:prstGeom prst="roundRect">
            <a:avLst>
              <a:gd name="adj" fmla="val 22222"/>
            </a:avLst>
          </a:prstGeom>
          <a:solidFill>
            <a:srgbClr val="B9C4FF"/>
          </a:solidFill>
          <a:ln w="19050">
            <a:solidFill>
              <a:srgbClr val="0033FF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2362200" y="9163050"/>
            <a:ext cx="17487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Execução A3Data</a:t>
            </a:r>
            <a:endParaRPr lang="en-US" sz="1050" dirty="0"/>
          </a:p>
        </p:txBody>
      </p:sp>
      <p:sp>
        <p:nvSpPr>
          <p:cNvPr id="83" name="Shape 80"/>
          <p:cNvSpPr/>
          <p:nvPr/>
        </p:nvSpPr>
        <p:spPr>
          <a:xfrm>
            <a:off x="4286250" y="9182100"/>
            <a:ext cx="381000" cy="1714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4752975" y="9163050"/>
            <a:ext cx="15544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Depende da 3C</a:t>
            </a:r>
            <a:endParaRPr lang="en-US" sz="1050" dirty="0"/>
          </a:p>
        </p:txBody>
      </p:sp>
      <p:sp>
        <p:nvSpPr>
          <p:cNvPr id="85" name="Shape 82"/>
          <p:cNvSpPr/>
          <p:nvPr/>
        </p:nvSpPr>
        <p:spPr>
          <a:xfrm>
            <a:off x="6572250" y="9182100"/>
            <a:ext cx="381000" cy="171450"/>
          </a:xfrm>
          <a:prstGeom prst="roundRect">
            <a:avLst>
              <a:gd name="adj" fmla="val 22222"/>
            </a:avLst>
          </a:prstGeom>
          <a:solidFill>
            <a:srgbClr val="E6EBFF"/>
          </a:solidFill>
          <a:ln w="19050">
            <a:solidFill>
              <a:srgbClr val="0033FF"/>
            </a:solidFill>
            <a:prstDash val="dash"/>
          </a:ln>
        </p:spPr>
      </p:sp>
      <p:sp>
        <p:nvSpPr>
          <p:cNvPr id="86" name="Text 83"/>
          <p:cNvSpPr txBox="1"/>
          <p:nvPr/>
        </p:nvSpPr>
        <p:spPr>
          <a:xfrm>
            <a:off x="7038975" y="9163050"/>
            <a:ext cx="15544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Trilha paralela</a:t>
            </a:r>
            <a:endParaRPr lang="en-US" sz="1050" dirty="0"/>
          </a:p>
        </p:txBody>
      </p:sp>
      <p:sp>
        <p:nvSpPr>
          <p:cNvPr id="87" name="Shape 84"/>
          <p:cNvSpPr/>
          <p:nvPr/>
        </p:nvSpPr>
        <p:spPr>
          <a:xfrm>
            <a:off x="8858250" y="9182100"/>
            <a:ext cx="381000" cy="171450"/>
          </a:xfrm>
          <a:prstGeom prst="roundRect">
            <a:avLst>
              <a:gd name="adj" fmla="val 22222"/>
            </a:avLst>
          </a:prstGeom>
          <a:solidFill>
            <a:srgbClr val="001863"/>
          </a:solidFill>
          <a:ln w="19050">
            <a:solidFill>
              <a:srgbClr val="001863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324975" y="9163050"/>
            <a:ext cx="15544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Equipe A3Data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Responsabilidades: O Que Precisamos da 3C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Responsáveis sugeridos, a confirmar com a 3C</a:t>
            </a:r>
            <a:endParaRPr lang="en-US" sz="1013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71625" y="2762250"/>
          <a:ext cx="16049625" cy="914400"/>
        </p:xfrm>
        <a:graphic>
          <a:graphicData uri="http://schemas.openxmlformats.org/drawingml/2006/table">
            <a:tbl>
              <a:tblPr/>
              <a:tblGrid>
                <a:gridCol w="8572500"/>
                <a:gridCol w="4953000"/>
                <a:gridCol w="252412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que precisamos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Responsável sugerido na 3C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Quando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Aceite por escrito de que o motor roda na AWS, ainda que a especificação cite Snowflake e Airflow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Produto de dados e Inteligência Comercial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Antes do contrato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Contrato de operador entre 3C e A3Data, e posição do jurídico e do encarregado de dados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Jurídico e encarregado de dados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W0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Integração de armazenamento do Snowflake com o S3 e conta AWS da 3C com regiões liberadas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Engenharia de dados e infraestrutura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W0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Resposta: o Sírius aceita SKU diferente por cliente na mesma campanha?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Dono do Sírius e Inteligência Comercial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Antes do contrato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Registro de quem recebeu a oferta (Sírius, B2B e Salesforce) no Snowflake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CRM e engenharia de dados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W3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Carga diária de vendas no Snowflake (hoje semanal)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Engenharia de dados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[A CONFIRMAR]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Painel diário do teste A/B no BI da 3C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CRM e time de BI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W3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Aprovação de preço e ativação das campanhas, toda semana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Inteligência Comercial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 partir da W4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Riscos: O Que Pode Mudar o Desenho e Como Tratamos</a:t>
            </a:r>
            <a:endParaRPr lang="en-US" sz="3600" dirty="0"/>
          </a:p>
        </p:txBody>
      </p:sp>
      <p:pic>
        <p:nvPicPr>
          <p:cNvPr id="5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7" name="Text 4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Níveis: avaliação da A3Data</a:t>
            </a:r>
            <a:endParaRPr lang="en-US" sz="1013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71625" y="2762250"/>
          <a:ext cx="16049625" cy="914400"/>
        </p:xfrm>
        <a:graphic>
          <a:graphicData uri="http://schemas.openxmlformats.org/drawingml/2006/table">
            <a:tbl>
              <a:tblPr/>
              <a:tblGrid>
                <a:gridCol w="5334000"/>
                <a:gridCol w="1238250"/>
                <a:gridCol w="6572250"/>
                <a:gridCol w="290512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Risco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Nível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que fazemos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Quando decidimos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C4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motor roda na AWS e a especificação cita Snowflake e Airflow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ALTO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Aceite por escrito da 3C; plano alternativo com o motor no Snowflake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Antes do contrato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Os filtros do Personalize não cobrem "já comprado no mês"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ALTO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Filtro final no Glue e conferência de estoque no Snowflake antes de publicar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W2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 carga de vendas semanal limita o painel diário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MÉDIO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Painel semanal até a carga diária; basta trocar um parâmetro depois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W3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Dados de clientes saem do país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MÉDIO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Código do cliente no lugar do CNPJ, acesso nominal e posição do jurídico antes do primeiro dado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Antes do primeiro dado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O Sírius ainda não registra quem recebeu a oferta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MÉDIO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Carga feita pela 3C; sem ela, a medição perde precisão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W3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NBO e regras de cesta ainda não confirmados no Personalize com os pedidos da 3C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1863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MÉDIO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Testes de aceite com pedidos reais na W1; se a cesta falhar, regras em SQL (piso) e nova decisão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Lato" pitchFamily="34" charset="0"/>
                          <a:ea typeface="Lato" pitchFamily="34" charset="-122"/>
                          <a:cs typeface="Lato" pitchFamily="34" charset="-120"/>
                        </a:rPr>
                        <a:t>W1</a:t>
                      </a:r>
                      <a:endParaRPr lang="en-US" sz="1200" dirty="0">
                        <a:latin typeface="Lato" charset="0"/>
                        <a:ea typeface="Lato" charset="0"/>
                        <a:cs typeface="Lato" charset="0"/>
                      </a:endParaRPr>
                    </a:p>
                  </a:txBody>
                  <a:tcPr marL="152400" marR="152400" marT="76200" marB="76200" anchor="ctr"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1571625" y="7620000"/>
            <a:ext cx="16049625" cy="1809750"/>
          </a:xfrm>
          <a:prstGeom prst="roundRect">
            <a:avLst>
              <a:gd name="adj" fmla="val 7368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1895475" y="7867650"/>
            <a:ext cx="4080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ALTERNATIVAS</a:t>
            </a:r>
            <a:endParaRPr lang="en-US" sz="1013" dirty="0"/>
          </a:p>
        </p:txBody>
      </p:sp>
      <p:sp>
        <p:nvSpPr>
          <p:cNvPr id="11" name="Text 7"/>
          <p:cNvSpPr txBox="1"/>
          <p:nvPr/>
        </p:nvSpPr>
        <p:spPr>
          <a:xfrm>
            <a:off x="1895475" y="8115300"/>
            <a:ext cx="4177665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Se o motor não puder sair do Snowflake</a:t>
            </a:r>
            <a:endParaRPr lang="en-US" sz="1950" dirty="0"/>
          </a:p>
        </p:txBody>
      </p:sp>
      <p:sp>
        <p:nvSpPr>
          <p:cNvPr id="12" name="Shape 8"/>
          <p:cNvSpPr/>
          <p:nvPr/>
        </p:nvSpPr>
        <p:spPr>
          <a:xfrm>
            <a:off x="6334125" y="7867650"/>
            <a:ext cx="23812" cy="131445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715125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No Snowflake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6715125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motor em Python e Snowpark, com tabelas no próprio Snowflake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0287000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Piso em SQL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10287000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regras de cesta e popularidade no Snowflake, se o Personalize não confirmar a cesta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13858875" y="7867650"/>
            <a:ext cx="341014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Fim da W1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13858875" y="8362950"/>
            <a:ext cx="341014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decisão com base nos testes de aceite, no piso e no desempenho offline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10000"/>
            <a:ext cx="18288000" cy="3524250"/>
          </a:xfrm>
          <a:prstGeom prst="rect">
            <a:avLst/>
          </a:prstGeom>
          <a:solidFill>
            <a:srgbClr val="B9C4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571625" y="361950"/>
            <a:ext cx="8743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EMPOWERING PEOPLE THROUGH DATA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1571625" y="857250"/>
            <a:ext cx="1360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  •  3 CORAÇÕES  ·  RECOMENDAÇÃO DE SKU B2B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571625" y="1238250"/>
            <a:ext cx="165163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Próximos Passos: Do Alinhamento à Primeira Rodada</a:t>
            </a:r>
            <a:endParaRPr lang="en-US" sz="3600" dirty="0"/>
          </a:p>
        </p:txBody>
      </p:sp>
      <p:pic>
        <p:nvPicPr>
          <p:cNvPr id="6" name="Image 0" descr="assets/logo-a3da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050" y="9877425"/>
            <a:ext cx="838200" cy="1619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3525" y="9867900"/>
            <a:ext cx="7772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8" dirty="0">
                <a:solidFill>
                  <a:srgbClr val="343434"/>
                </a:solidFill>
                <a:latin typeface="Poppins Medium" pitchFamily="34" charset="0"/>
                <a:ea typeface="Poppins Medium" pitchFamily="34" charset="-122"/>
                <a:cs typeface="Poppins Medium" pitchFamily="34" charset="-120"/>
              </a:rPr>
              <a:t>LOUCOS POR DADOS APAIXONADOS POR GENTE</a:t>
            </a:r>
            <a:endParaRPr lang="en-US" sz="788" dirty="0"/>
          </a:p>
        </p:txBody>
      </p:sp>
      <p:sp>
        <p:nvSpPr>
          <p:cNvPr id="8" name="Text 5"/>
          <p:cNvSpPr txBox="1"/>
          <p:nvPr/>
        </p:nvSpPr>
        <p:spPr>
          <a:xfrm>
            <a:off x="8572500" y="9848850"/>
            <a:ext cx="92297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13" dirty="0">
                <a:solidFill>
                  <a:srgbClr val="4D4D4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Datas e responsáveis a confirmar com a 3C</a:t>
            </a:r>
            <a:endParaRPr lang="en-US" sz="1013" dirty="0"/>
          </a:p>
        </p:txBody>
      </p:sp>
      <p:sp>
        <p:nvSpPr>
          <p:cNvPr id="9" name="Shape 6"/>
          <p:cNvSpPr/>
          <p:nvPr/>
        </p:nvSpPr>
        <p:spPr>
          <a:xfrm>
            <a:off x="1571625" y="2762250"/>
            <a:ext cx="3524250" cy="3619500"/>
          </a:xfrm>
          <a:prstGeom prst="roundRect">
            <a:avLst>
              <a:gd name="adj" fmla="val 3784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571625" y="2809875"/>
            <a:ext cx="3524250" cy="357187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954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01</a:t>
            </a:r>
            <a:endParaRPr lang="en-US" sz="2700" dirty="0"/>
          </a:p>
        </p:txBody>
      </p:sp>
      <p:sp>
        <p:nvSpPr>
          <p:cNvPr id="12" name="Text 9"/>
          <p:cNvSpPr txBox="1"/>
          <p:nvPr/>
        </p:nvSpPr>
        <p:spPr>
          <a:xfrm>
            <a:off x="189547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ALINHAR</a:t>
            </a:r>
            <a:endParaRPr lang="en-US" sz="1013" dirty="0"/>
          </a:p>
        </p:txBody>
      </p:sp>
      <p:sp>
        <p:nvSpPr>
          <p:cNvPr id="13" name="Text 10"/>
          <p:cNvSpPr txBox="1"/>
          <p:nvPr/>
        </p:nvSpPr>
        <p:spPr>
          <a:xfrm>
            <a:off x="189547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Alinhamento na W0</a:t>
            </a:r>
            <a:endParaRPr lang="en-US" sz="1875" dirty="0"/>
          </a:p>
        </p:txBody>
      </p:sp>
      <p:sp>
        <p:nvSpPr>
          <p:cNvPr id="14" name="Text 11"/>
          <p:cNvSpPr txBox="1"/>
          <p:nvPr/>
        </p:nvSpPr>
        <p:spPr>
          <a:xfrm>
            <a:off x="1895475" y="4572000"/>
            <a:ext cx="2934081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Aceite sobre onde roda o motor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Contrato de operador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Posição do jurídico</a:t>
            </a:r>
            <a:endParaRPr lang="en-US" sz="1275" dirty="0"/>
          </a:p>
        </p:txBody>
      </p:sp>
      <p:sp>
        <p:nvSpPr>
          <p:cNvPr id="15" name="Shape 12"/>
          <p:cNvSpPr/>
          <p:nvPr/>
        </p:nvSpPr>
        <p:spPr>
          <a:xfrm>
            <a:off x="1895475" y="5867400"/>
            <a:ext cx="1809750" cy="285750"/>
          </a:xfrm>
          <a:prstGeom prst="roundRect">
            <a:avLst>
              <a:gd name="adj" fmla="val 50000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95475" y="5867400"/>
            <a:ext cx="184594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3C E A3DATA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5743575" y="2762250"/>
            <a:ext cx="3524250" cy="3619500"/>
          </a:xfrm>
          <a:prstGeom prst="roundRect">
            <a:avLst>
              <a:gd name="adj" fmla="val 3784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743575" y="2809875"/>
            <a:ext cx="3524250" cy="357187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0674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02</a:t>
            </a:r>
            <a:endParaRPr lang="en-US" sz="2700" dirty="0"/>
          </a:p>
        </p:txBody>
      </p:sp>
      <p:sp>
        <p:nvSpPr>
          <p:cNvPr id="20" name="Text 17"/>
          <p:cNvSpPr txBox="1"/>
          <p:nvPr/>
        </p:nvSpPr>
        <p:spPr>
          <a:xfrm>
            <a:off x="606742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LIBERAR</a:t>
            </a:r>
            <a:endParaRPr lang="en-US" sz="1013" dirty="0"/>
          </a:p>
        </p:txBody>
      </p:sp>
      <p:sp>
        <p:nvSpPr>
          <p:cNvPr id="21" name="Text 18"/>
          <p:cNvSpPr txBox="1"/>
          <p:nvPr/>
        </p:nvSpPr>
        <p:spPr>
          <a:xfrm>
            <a:off x="606742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Acessos e conta</a:t>
            </a:r>
            <a:endParaRPr lang="en-US" sz="1875" dirty="0"/>
          </a:p>
        </p:txBody>
      </p:sp>
      <p:sp>
        <p:nvSpPr>
          <p:cNvPr id="22" name="Text 19"/>
          <p:cNvSpPr txBox="1"/>
          <p:nvPr/>
        </p:nvSpPr>
        <p:spPr>
          <a:xfrm>
            <a:off x="6067425" y="4572000"/>
            <a:ext cx="2934081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Conta AWS da 3C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Integração do Snowflake com o S3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Papéis nominais</a:t>
            </a:r>
            <a:endParaRPr lang="en-US" sz="1275" dirty="0"/>
          </a:p>
        </p:txBody>
      </p:sp>
      <p:sp>
        <p:nvSpPr>
          <p:cNvPr id="23" name="Shape 20"/>
          <p:cNvSpPr/>
          <p:nvPr/>
        </p:nvSpPr>
        <p:spPr>
          <a:xfrm>
            <a:off x="6067425" y="5867400"/>
            <a:ext cx="1143000" cy="285750"/>
          </a:xfrm>
          <a:prstGeom prst="roundRect">
            <a:avLst>
              <a:gd name="adj" fmla="val 50000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067425" y="5867400"/>
            <a:ext cx="11658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3C</a:t>
            </a:r>
            <a:endParaRPr lang="en-US" sz="1013" dirty="0"/>
          </a:p>
        </p:txBody>
      </p:sp>
      <p:sp>
        <p:nvSpPr>
          <p:cNvPr id="25" name="Shape 22"/>
          <p:cNvSpPr/>
          <p:nvPr/>
        </p:nvSpPr>
        <p:spPr>
          <a:xfrm>
            <a:off x="9915525" y="2762250"/>
            <a:ext cx="3524250" cy="3619500"/>
          </a:xfrm>
          <a:prstGeom prst="roundRect">
            <a:avLst>
              <a:gd name="adj" fmla="val 3784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915525" y="2809875"/>
            <a:ext cx="3524250" cy="357187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23937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03</a:t>
            </a:r>
            <a:endParaRPr lang="en-US" sz="2700" dirty="0"/>
          </a:p>
        </p:txBody>
      </p:sp>
      <p:sp>
        <p:nvSpPr>
          <p:cNvPr id="28" name="Text 25"/>
          <p:cNvSpPr txBox="1"/>
          <p:nvPr/>
        </p:nvSpPr>
        <p:spPr>
          <a:xfrm>
            <a:off x="1023937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PROVAR</a:t>
            </a:r>
            <a:endParaRPr lang="en-US" sz="1013" dirty="0"/>
          </a:p>
        </p:txBody>
      </p:sp>
      <p:sp>
        <p:nvSpPr>
          <p:cNvPr id="29" name="Text 26"/>
          <p:cNvSpPr txBox="1"/>
          <p:nvPr/>
        </p:nvSpPr>
        <p:spPr>
          <a:xfrm>
            <a:off x="1023937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Testes de aceite e POC</a:t>
            </a:r>
            <a:endParaRPr lang="en-US" sz="1875" dirty="0"/>
          </a:p>
        </p:txBody>
      </p:sp>
      <p:sp>
        <p:nvSpPr>
          <p:cNvPr id="30" name="Text 27"/>
          <p:cNvSpPr txBox="1"/>
          <p:nvPr/>
        </p:nvSpPr>
        <p:spPr>
          <a:xfrm>
            <a:off x="10239375" y="4572000"/>
            <a:ext cx="2934081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Testes do NBO e do MBA na W1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filial e 1 a 2 famílias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Comparação com o piso</a:t>
            </a:r>
            <a:endParaRPr lang="en-US" sz="1275" dirty="0"/>
          </a:p>
        </p:txBody>
      </p:sp>
      <p:sp>
        <p:nvSpPr>
          <p:cNvPr id="31" name="Shape 28"/>
          <p:cNvSpPr/>
          <p:nvPr/>
        </p:nvSpPr>
        <p:spPr>
          <a:xfrm>
            <a:off x="10239375" y="5867400"/>
            <a:ext cx="1143000" cy="285750"/>
          </a:xfrm>
          <a:prstGeom prst="roundRect">
            <a:avLst>
              <a:gd name="adj" fmla="val 50000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9375" y="5867400"/>
            <a:ext cx="11658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A3DATA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14087475" y="2762250"/>
            <a:ext cx="3524250" cy="3619500"/>
          </a:xfrm>
          <a:prstGeom prst="roundRect">
            <a:avLst>
              <a:gd name="adj" fmla="val 3784"/>
            </a:avLst>
          </a:prstGeom>
          <a:solidFill>
            <a:srgbClr val="0033FF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14087475" y="2809875"/>
            <a:ext cx="3524250" cy="3571875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4411325" y="3048000"/>
            <a:ext cx="9715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0033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04</a:t>
            </a:r>
            <a:endParaRPr lang="en-US" sz="2700" dirty="0"/>
          </a:p>
        </p:txBody>
      </p:sp>
      <p:sp>
        <p:nvSpPr>
          <p:cNvPr id="36" name="Text 33"/>
          <p:cNvSpPr txBox="1"/>
          <p:nvPr/>
        </p:nvSpPr>
        <p:spPr>
          <a:xfrm>
            <a:off x="14411325" y="3581400"/>
            <a:ext cx="293408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DECIDIR</a:t>
            </a:r>
            <a:endParaRPr lang="en-US" sz="1013" dirty="0"/>
          </a:p>
        </p:txBody>
      </p:sp>
      <p:sp>
        <p:nvSpPr>
          <p:cNvPr id="37" name="Text 34"/>
          <p:cNvSpPr txBox="1"/>
          <p:nvPr/>
        </p:nvSpPr>
        <p:spPr>
          <a:xfrm>
            <a:off x="14411325" y="3829050"/>
            <a:ext cx="2934081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75" dirty="0">
                <a:solidFill>
                  <a:srgbClr val="1A1A1A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Produção com teste A/B</a:t>
            </a:r>
            <a:endParaRPr lang="en-US" sz="1875" dirty="0"/>
          </a:p>
        </p:txBody>
      </p:sp>
      <p:sp>
        <p:nvSpPr>
          <p:cNvPr id="38" name="Text 35"/>
          <p:cNvSpPr txBox="1"/>
          <p:nvPr/>
        </p:nvSpPr>
        <p:spPr>
          <a:xfrm>
            <a:off x="14411325" y="4572000"/>
            <a:ext cx="2934081" cy="158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Primeira campanha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Painel de resultado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600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 </a:t>
            </a:r>
            <a:endParaRPr lang="en-US" sz="1275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75" b="1" dirty="0">
                <a:solidFill>
                  <a:srgbClr val="0033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✓  </a:t>
            </a:r>
            <a:pPr indent="0" marL="0">
              <a:lnSpc>
                <a:spcPct val="128000"/>
              </a:lnSpc>
              <a:buNone/>
            </a:pPr>
            <a:r>
              <a:rPr lang="en-US" sz="1275" dirty="0">
                <a:solidFill>
                  <a:srgbClr val="1A1A1A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Plano de continuidade</a:t>
            </a:r>
            <a:endParaRPr lang="en-US" sz="1275" dirty="0"/>
          </a:p>
        </p:txBody>
      </p:sp>
      <p:sp>
        <p:nvSpPr>
          <p:cNvPr id="39" name="Shape 36"/>
          <p:cNvSpPr/>
          <p:nvPr/>
        </p:nvSpPr>
        <p:spPr>
          <a:xfrm>
            <a:off x="14411325" y="5867400"/>
            <a:ext cx="1809750" cy="285750"/>
          </a:xfrm>
          <a:prstGeom prst="roundRect">
            <a:avLst>
              <a:gd name="adj" fmla="val 50000"/>
            </a:avLst>
          </a:prstGeom>
          <a:solidFill>
            <a:srgbClr val="E6EBFF"/>
          </a:solidFill>
          <a:ln w="9525">
            <a:solidFill>
              <a:srgbClr val="C3CDF5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4411325" y="5867400"/>
            <a:ext cx="184594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3" spc="50" kern="0" dirty="0">
                <a:solidFill>
                  <a:srgbClr val="001863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3C E A3DATA</a:t>
            </a:r>
            <a:endParaRPr lang="en-US" sz="1013" dirty="0"/>
          </a:p>
        </p:txBody>
      </p:sp>
      <p:sp>
        <p:nvSpPr>
          <p:cNvPr id="41" name="Shape 38"/>
          <p:cNvSpPr/>
          <p:nvPr/>
        </p:nvSpPr>
        <p:spPr>
          <a:xfrm>
            <a:off x="5248275" y="4381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42" name="Shape 39"/>
          <p:cNvSpPr/>
          <p:nvPr/>
        </p:nvSpPr>
        <p:spPr>
          <a:xfrm>
            <a:off x="9420225" y="4381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43" name="Shape 40"/>
          <p:cNvSpPr/>
          <p:nvPr/>
        </p:nvSpPr>
        <p:spPr>
          <a:xfrm>
            <a:off x="13592175" y="4381500"/>
            <a:ext cx="342900" cy="285750"/>
          </a:xfrm>
          <a:prstGeom prst="rightArrow">
            <a:avLst/>
          </a:prstGeom>
          <a:solidFill>
            <a:srgbClr val="0033FF"/>
          </a:solidFill>
          <a:ln/>
        </p:spPr>
      </p:sp>
      <p:sp>
        <p:nvSpPr>
          <p:cNvPr id="44" name="Shape 41"/>
          <p:cNvSpPr/>
          <p:nvPr/>
        </p:nvSpPr>
        <p:spPr>
          <a:xfrm>
            <a:off x="1571625" y="7048500"/>
            <a:ext cx="16049625" cy="2381250"/>
          </a:xfrm>
          <a:prstGeom prst="roundRect">
            <a:avLst>
              <a:gd name="adj" fmla="val 5600"/>
            </a:avLst>
          </a:prstGeom>
          <a:solidFill>
            <a:srgbClr val="1A1A1A"/>
          </a:solidFill>
          <a:ln/>
          <a:effectLst>
            <a:outerShdw sx="100000" sy="100000" kx="0" ky="0" algn="bl" rotWithShape="0" blurRad="101600" dist="19050" dir="5400000">
              <a:srgbClr val="000000">
                <a:alpha val="12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1895475" y="7296150"/>
            <a:ext cx="40805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3" spc="110" kern="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OBRIGADO</a:t>
            </a:r>
            <a:endParaRPr lang="en-US" sz="1013" dirty="0"/>
          </a:p>
        </p:txBody>
      </p:sp>
      <p:sp>
        <p:nvSpPr>
          <p:cNvPr id="46" name="Text 43"/>
          <p:cNvSpPr txBox="1"/>
          <p:nvPr/>
        </p:nvSpPr>
        <p:spPr>
          <a:xfrm>
            <a:off x="1895475" y="7543800"/>
            <a:ext cx="4177665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A A3Data agradece a confiança da 3 Corações</a:t>
            </a:r>
            <a:endParaRPr lang="en-US" sz="1950" dirty="0"/>
          </a:p>
        </p:txBody>
      </p:sp>
      <p:sp>
        <p:nvSpPr>
          <p:cNvPr id="47" name="Shape 44"/>
          <p:cNvSpPr/>
          <p:nvPr/>
        </p:nvSpPr>
        <p:spPr>
          <a:xfrm>
            <a:off x="6334125" y="7296150"/>
            <a:ext cx="23812" cy="1885950"/>
          </a:xfrm>
          <a:prstGeom prst="rect">
            <a:avLst/>
          </a:prstGeom>
          <a:solidFill>
            <a:srgbClr val="4A4A4A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715125" y="7296150"/>
            <a:ext cx="523179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[NOME]</a:t>
            </a:r>
            <a:endParaRPr lang="en-US" sz="2400" dirty="0"/>
          </a:p>
        </p:txBody>
      </p:sp>
      <p:sp>
        <p:nvSpPr>
          <p:cNvPr id="49" name="Text 46"/>
          <p:cNvSpPr txBox="1"/>
          <p:nvPr/>
        </p:nvSpPr>
        <p:spPr>
          <a:xfrm>
            <a:off x="6715125" y="7791450"/>
            <a:ext cx="5231797" cy="146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responsável da A3Data pela proposta [A CONFIRMAR]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2072938" y="7296150"/>
            <a:ext cx="523179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C4FF"/>
                </a:solidFill>
                <a:latin typeface="Lato Black" pitchFamily="34" charset="0"/>
                <a:ea typeface="Lato Black" pitchFamily="34" charset="-122"/>
                <a:cs typeface="Lato Black" pitchFamily="34" charset="-120"/>
              </a:rPr>
              <a:t>[E-MAIL]</a:t>
            </a:r>
            <a:endParaRPr lang="en-US" sz="2400" dirty="0"/>
          </a:p>
        </p:txBody>
      </p:sp>
      <p:sp>
        <p:nvSpPr>
          <p:cNvPr id="51" name="Text 48"/>
          <p:cNvSpPr txBox="1"/>
          <p:nvPr/>
        </p:nvSpPr>
        <p:spPr>
          <a:xfrm>
            <a:off x="12072938" y="7791450"/>
            <a:ext cx="5231797" cy="146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D8D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contato para dúvidas e próximos passos [A CONFIRMAR]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2026-10-29T18:47:06Z</dcterms:created>
  <dcterms:modified xsi:type="dcterms:W3CDTF">2026-10-29T18:47:06Z</dcterms:modified>
</cp:coreProperties>
</file>